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607040" cy="1371600"/>
          </a:xfrm>
          <a:prstGeom prst="rect">
            <a:avLst/>
          </a:prstGeom>
          <a:noFill/>
        </p:spPr>
        <p:txBody>
          <a:bodyPr wrap="square" anchor="t" lIns="25400" rIns="25400" tIns="25400" bIns="25400">
            <a:spAutoFit/>
          </a:bodyPr>
          <a:lstStyle/>
          <a:p>
            <a:pPr algn="l">
              <a:lnSpc>
                <a:spcPct val="106000"/>
              </a:lnSpc>
            </a:pPr>
            <a:r>
              <a:rPr sz="5600" b="1">
                <a:solidFill>
                  <a:srgbClr val="FFFFFF"/>
                </a:solidFill>
                <a:latin typeface="Calibri"/>
              </a:rPr>
              <a:t>The Psychrometric Chart</a:t>
            </a:r>
          </a:p>
        </p:txBody>
      </p:sp>
      <p:sp>
        <p:nvSpPr>
          <p:cNvPr id="5" name="TextBox 4"/>
          <p:cNvSpPr txBox="1"/>
          <p:nvPr/>
        </p:nvSpPr>
        <p:spPr>
          <a:xfrm>
            <a:off x="822960" y="3063240"/>
            <a:ext cx="10607040" cy="914400"/>
          </a:xfrm>
          <a:prstGeom prst="rect">
            <a:avLst/>
          </a:prstGeom>
          <a:noFill/>
        </p:spPr>
        <p:txBody>
          <a:bodyPr wrap="square" anchor="t" lIns="25400" rIns="25400" tIns="25400" bIns="25400">
            <a:spAutoFit/>
          </a:bodyPr>
          <a:lstStyle/>
          <a:p>
            <a:pPr algn="l">
              <a:lnSpc>
                <a:spcPct val="120000"/>
              </a:lnSpc>
            </a:pPr>
            <a:r>
              <a:rPr sz="2400" b="0">
                <a:solidFill>
                  <a:srgbClr val="93C5FD"/>
                </a:solidFill>
                <a:latin typeface="Calibri"/>
              </a:rPr>
              <a:t>HVAC's master diagram — and the missing tool in most Building Management Systems</a:t>
            </a:r>
          </a:p>
        </p:txBody>
      </p:sp>
      <p:sp>
        <p:nvSpPr>
          <p:cNvPr id="6" name="TextBox 5"/>
          <p:cNvSpPr txBox="1"/>
          <p:nvPr/>
        </p:nvSpPr>
        <p:spPr>
          <a:xfrm>
            <a:off x="822960" y="4251960"/>
            <a:ext cx="10424160" cy="1097280"/>
          </a:xfrm>
          <a:prstGeom prst="rect">
            <a:avLst/>
          </a:prstGeom>
          <a:noFill/>
        </p:spPr>
        <p:txBody>
          <a:bodyPr wrap="square" anchor="t" lIns="25400" rIns="25400" tIns="25400" bIns="25400">
            <a:spAutoFit/>
          </a:bodyPr>
          <a:lstStyle/>
          <a:p>
            <a:pPr algn="l">
              <a:lnSpc>
                <a:spcPct val="125000"/>
              </a:lnSpc>
            </a:pPr>
            <a:r>
              <a:rPr sz="1600" b="0">
                <a:solidFill>
                  <a:srgbClr val="CBD5E1"/>
                </a:solidFill>
                <a:latin typeface="Calibri"/>
              </a:rPr>
              <a:t>Why equipment designers cannot work without it, why traditional BMS never adopted it, and how this one chart answers ASHRAE 55, 62.1, 90.1 and Guideline 36 at the same time.</a:t>
            </a:r>
          </a:p>
        </p:txBody>
      </p:sp>
      <p:sp>
        <p:nvSpPr>
          <p:cNvPr id="7" name="Rounded Rectangle 6"/>
          <p:cNvSpPr/>
          <p:nvPr/>
        </p:nvSpPr>
        <p:spPr>
          <a:xfrm>
            <a:off x="822960" y="5623560"/>
            <a:ext cx="2148840" cy="4572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669280"/>
            <a:ext cx="2148840" cy="365760"/>
          </a:xfrm>
          <a:prstGeom prst="rect">
            <a:avLst/>
          </a:prstGeom>
          <a:noFill/>
        </p:spPr>
        <p:txBody>
          <a:bodyPr wrap="square" anchor="t" lIns="25400" rIns="25400" tIns="25400" bIns="25400">
            <a:spAutoFit/>
          </a:bodyPr>
          <a:lstStyle/>
          <a:p>
            <a:pPr algn="ctr">
              <a:lnSpc>
                <a:spcPct val="106000"/>
              </a:lnSpc>
            </a:pPr>
            <a:r>
              <a:rPr sz="1300" b="1">
                <a:solidFill>
                  <a:srgbClr val="93C5FD"/>
                </a:solidFill>
                <a:latin typeface="Calibri"/>
              </a:rPr>
              <a:t>Moist-air states</a:t>
            </a:r>
          </a:p>
        </p:txBody>
      </p:sp>
      <p:sp>
        <p:nvSpPr>
          <p:cNvPr id="9" name="Rounded Rectangle 8"/>
          <p:cNvSpPr/>
          <p:nvPr/>
        </p:nvSpPr>
        <p:spPr>
          <a:xfrm>
            <a:off x="3154679" y="5623560"/>
            <a:ext cx="2148840" cy="4572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4679" y="5669280"/>
            <a:ext cx="2148840" cy="365760"/>
          </a:xfrm>
          <a:prstGeom prst="rect">
            <a:avLst/>
          </a:prstGeom>
          <a:noFill/>
        </p:spPr>
        <p:txBody>
          <a:bodyPr wrap="square" anchor="t" lIns="25400" rIns="25400" tIns="25400" bIns="25400">
            <a:spAutoFit/>
          </a:bodyPr>
          <a:lstStyle/>
          <a:p>
            <a:pPr algn="ctr">
              <a:lnSpc>
                <a:spcPct val="106000"/>
              </a:lnSpc>
            </a:pPr>
            <a:r>
              <a:rPr sz="1300" b="1">
                <a:solidFill>
                  <a:srgbClr val="93C5FD"/>
                </a:solidFill>
                <a:latin typeface="Calibri"/>
              </a:rPr>
              <a:t>Design tool</a:t>
            </a:r>
          </a:p>
        </p:txBody>
      </p:sp>
      <p:sp>
        <p:nvSpPr>
          <p:cNvPr id="11" name="Rounded Rectangle 10"/>
          <p:cNvSpPr/>
          <p:nvPr/>
        </p:nvSpPr>
        <p:spPr>
          <a:xfrm>
            <a:off x="5486400" y="5623560"/>
            <a:ext cx="2148840" cy="4572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5669280"/>
            <a:ext cx="2148840" cy="365760"/>
          </a:xfrm>
          <a:prstGeom prst="rect">
            <a:avLst/>
          </a:prstGeom>
          <a:noFill/>
        </p:spPr>
        <p:txBody>
          <a:bodyPr wrap="square" anchor="t" lIns="25400" rIns="25400" tIns="25400" bIns="25400">
            <a:spAutoFit/>
          </a:bodyPr>
          <a:lstStyle/>
          <a:p>
            <a:pPr algn="ctr">
              <a:lnSpc>
                <a:spcPct val="106000"/>
              </a:lnSpc>
            </a:pPr>
            <a:r>
              <a:rPr sz="1300" b="1">
                <a:solidFill>
                  <a:srgbClr val="93C5FD"/>
                </a:solidFill>
                <a:latin typeface="Calibri"/>
              </a:rPr>
              <a:t>ASHRAE-aligned</a:t>
            </a:r>
          </a:p>
        </p:txBody>
      </p:sp>
      <p:sp>
        <p:nvSpPr>
          <p:cNvPr id="13" name="Rounded Rectangle 12"/>
          <p:cNvSpPr/>
          <p:nvPr/>
        </p:nvSpPr>
        <p:spPr>
          <a:xfrm>
            <a:off x="7818119" y="5623560"/>
            <a:ext cx="2148840" cy="457200"/>
          </a:xfrm>
          <a:prstGeom prst="roundRect">
            <a:avLst/>
          </a:prstGeom>
          <a:solidFill>
            <a:srgbClr val="1E293B"/>
          </a:solidFill>
          <a:ln w="1270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19" y="5669280"/>
            <a:ext cx="2148840" cy="365760"/>
          </a:xfrm>
          <a:prstGeom prst="rect">
            <a:avLst/>
          </a:prstGeom>
          <a:noFill/>
        </p:spPr>
        <p:txBody>
          <a:bodyPr wrap="square" anchor="t" lIns="25400" rIns="25400" tIns="25400" bIns="25400">
            <a:spAutoFit/>
          </a:bodyPr>
          <a:lstStyle/>
          <a:p>
            <a:pPr algn="ctr">
              <a:lnSpc>
                <a:spcPct val="106000"/>
              </a:lnSpc>
            </a:pPr>
            <a:r>
              <a:rPr sz="1300" b="1">
                <a:solidFill>
                  <a:srgbClr val="93C5FD"/>
                </a:solidFill>
                <a:latin typeface="Calibri"/>
              </a:rPr>
              <a:t>Live controls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START HERE</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Who uses this chart — and on what equipment</a:t>
            </a:r>
          </a:p>
        </p:txBody>
      </p:sp>
      <p:sp>
        <p:nvSpPr>
          <p:cNvPr id="6" name="TextBox 5"/>
          <p:cNvSpPr txBox="1"/>
          <p:nvPr/>
        </p:nvSpPr>
        <p:spPr>
          <a:xfrm>
            <a:off x="640080" y="1417320"/>
            <a:ext cx="10881360" cy="685800"/>
          </a:xfrm>
          <a:prstGeom prst="rect">
            <a:avLst/>
          </a:prstGeom>
          <a:noFill/>
        </p:spPr>
        <p:txBody>
          <a:bodyPr wrap="square" anchor="t" lIns="25400" rIns="25400" tIns="25400" bIns="25400">
            <a:spAutoFit/>
          </a:bodyPr>
          <a:lstStyle/>
          <a:p>
            <a:pPr algn="l">
              <a:lnSpc>
                <a:spcPct val="120000"/>
              </a:lnSpc>
            </a:pPr>
            <a:r>
              <a:rPr sz="1500" b="0">
                <a:solidFill>
                  <a:srgbClr val="475569"/>
                </a:solidFill>
                <a:latin typeface="Calibri"/>
              </a:rPr>
              <a:t>Long before a building is controlled, someone has to choose the machines that condition its air. Those people live on the psychrometric chart.</a:t>
            </a:r>
          </a:p>
        </p:txBody>
      </p:sp>
      <p:sp>
        <p:nvSpPr>
          <p:cNvPr id="7" name="Rounded Rectangle 6"/>
          <p:cNvSpPr/>
          <p:nvPr/>
        </p:nvSpPr>
        <p:spPr>
          <a:xfrm>
            <a:off x="640080" y="2194560"/>
            <a:ext cx="3566160" cy="32004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194560"/>
            <a:ext cx="128016" cy="320040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395728"/>
            <a:ext cx="3063240" cy="457200"/>
          </a:xfrm>
          <a:prstGeom prst="rect">
            <a:avLst/>
          </a:prstGeom>
          <a:noFill/>
        </p:spPr>
        <p:txBody>
          <a:bodyPr wrap="square" anchor="t" lIns="25400" rIns="25400" tIns="25400" bIns="25400">
            <a:spAutoFit/>
          </a:bodyPr>
          <a:lstStyle/>
          <a:p>
            <a:pPr algn="l">
              <a:lnSpc>
                <a:spcPct val="106000"/>
              </a:lnSpc>
            </a:pPr>
            <a:r>
              <a:rPr sz="1500" b="1">
                <a:solidFill>
                  <a:srgbClr val="1D4ED8"/>
                </a:solidFill>
                <a:latin typeface="Calibri"/>
              </a:rPr>
              <a:t>Who they are</a:t>
            </a:r>
          </a:p>
        </p:txBody>
      </p:sp>
      <p:sp>
        <p:nvSpPr>
          <p:cNvPr id="10" name="TextBox 9"/>
          <p:cNvSpPr txBox="1"/>
          <p:nvPr/>
        </p:nvSpPr>
        <p:spPr>
          <a:xfrm>
            <a:off x="950976" y="2907792"/>
            <a:ext cx="3017520" cy="548640"/>
          </a:xfrm>
          <a:prstGeom prst="rect">
            <a:avLst/>
          </a:prstGeom>
          <a:noFill/>
        </p:spPr>
        <p:txBody>
          <a:bodyPr wrap="square" anchor="t" lIns="25400" rIns="25400" tIns="25400" bIns="25400">
            <a:spAutoFit/>
          </a:bodyPr>
          <a:lstStyle/>
          <a:p>
            <a:pPr algn="l">
              <a:lnSpc>
                <a:spcPct val="115000"/>
              </a:lnSpc>
            </a:pPr>
            <a:r>
              <a:rPr sz="1250" b="0">
                <a:solidFill>
                  <a:srgbClr val="475569"/>
                </a:solidFill>
                <a:latin typeface="Calibri"/>
              </a:rPr>
              <a:t>“HVAC equipment designers” are the mechanical engineers who select and size air-conditioning equipment:</a:t>
            </a:r>
          </a:p>
        </p:txBody>
      </p:sp>
      <p:sp>
        <p:nvSpPr>
          <p:cNvPr id="11" name="TextBox 10"/>
          <p:cNvSpPr txBox="1"/>
          <p:nvPr/>
        </p:nvSpPr>
        <p:spPr>
          <a:xfrm>
            <a:off x="950976" y="3410712"/>
            <a:ext cx="3017520" cy="1847088"/>
          </a:xfrm>
          <a:prstGeom prst="rect">
            <a:avLst/>
          </a:prstGeom>
          <a:noFill/>
        </p:spPr>
        <p:txBody>
          <a:bodyPr wrap="square">
            <a:spAutoFit/>
          </a:bodyPr>
          <a:lstStyle/>
          <a:p>
            <a:pPr>
              <a:lnSpc>
                <a:spcPct val="112000"/>
              </a:lnSpc>
              <a:spcAft>
                <a:spcPts val="500"/>
              </a:spcAft>
            </a:pPr>
            <a:r>
              <a:rPr sz="1250">
                <a:solidFill>
                  <a:srgbClr val="475569"/>
                </a:solidFill>
                <a:latin typeface="Calibri"/>
              </a:rPr>
              <a:t>•  manufacturers' application engineers</a:t>
            </a:r>
          </a:p>
          <a:p>
            <a:pPr>
              <a:lnSpc>
                <a:spcPct val="112000"/>
              </a:lnSpc>
              <a:spcAft>
                <a:spcPts val="500"/>
              </a:spcAft>
            </a:pPr>
            <a:r>
              <a:rPr sz="1250">
                <a:solidFill>
                  <a:srgbClr val="475569"/>
                </a:solidFill>
                <a:latin typeface="Calibri"/>
              </a:rPr>
              <a:t>•  consulting / design engineers</a:t>
            </a:r>
          </a:p>
          <a:p>
            <a:pPr>
              <a:lnSpc>
                <a:spcPct val="112000"/>
              </a:lnSpc>
              <a:spcAft>
                <a:spcPts val="500"/>
              </a:spcAft>
            </a:pPr>
            <a:r>
              <a:rPr sz="1250">
                <a:solidFill>
                  <a:srgbClr val="475569"/>
                </a:solidFill>
                <a:latin typeface="Calibri"/>
              </a:rPr>
              <a:t>•  commissioning engineers who prove it works</a:t>
            </a:r>
          </a:p>
        </p:txBody>
      </p:sp>
      <p:sp>
        <p:nvSpPr>
          <p:cNvPr id="12" name="Rounded Rectangle 11"/>
          <p:cNvSpPr/>
          <p:nvPr/>
        </p:nvSpPr>
        <p:spPr>
          <a:xfrm>
            <a:off x="4434840" y="2194560"/>
            <a:ext cx="3566160" cy="32004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2194560"/>
            <a:ext cx="128016" cy="320040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45736" y="2395728"/>
            <a:ext cx="3063240" cy="457200"/>
          </a:xfrm>
          <a:prstGeom prst="rect">
            <a:avLst/>
          </a:prstGeom>
          <a:noFill/>
        </p:spPr>
        <p:txBody>
          <a:bodyPr wrap="square" anchor="t" lIns="25400" rIns="25400" tIns="25400" bIns="25400">
            <a:spAutoFit/>
          </a:bodyPr>
          <a:lstStyle/>
          <a:p>
            <a:pPr algn="l">
              <a:lnSpc>
                <a:spcPct val="106000"/>
              </a:lnSpc>
            </a:pPr>
            <a:r>
              <a:rPr sz="1500" b="1">
                <a:solidFill>
                  <a:srgbClr val="047857"/>
                </a:solidFill>
                <a:latin typeface="Calibri"/>
              </a:rPr>
              <a:t>What “HVAC equipment” means</a:t>
            </a:r>
          </a:p>
        </p:txBody>
      </p:sp>
      <p:sp>
        <p:nvSpPr>
          <p:cNvPr id="15" name="TextBox 14"/>
          <p:cNvSpPr txBox="1"/>
          <p:nvPr/>
        </p:nvSpPr>
        <p:spPr>
          <a:xfrm>
            <a:off x="4745736" y="2907792"/>
            <a:ext cx="3017520" cy="548640"/>
          </a:xfrm>
          <a:prstGeom prst="rect">
            <a:avLst/>
          </a:prstGeom>
          <a:noFill/>
        </p:spPr>
        <p:txBody>
          <a:bodyPr wrap="square" anchor="t" lIns="25400" rIns="25400" tIns="25400" bIns="25400">
            <a:spAutoFit/>
          </a:bodyPr>
          <a:lstStyle/>
          <a:p>
            <a:pPr algn="l">
              <a:lnSpc>
                <a:spcPct val="115000"/>
              </a:lnSpc>
            </a:pPr>
            <a:r>
              <a:rPr sz="1250" b="0">
                <a:solidFill>
                  <a:srgbClr val="475569"/>
                </a:solidFill>
                <a:latin typeface="Calibri"/>
              </a:rPr>
              <a:t>The machines that actually change the air:</a:t>
            </a:r>
          </a:p>
        </p:txBody>
      </p:sp>
      <p:sp>
        <p:nvSpPr>
          <p:cNvPr id="16" name="TextBox 15"/>
          <p:cNvSpPr txBox="1"/>
          <p:nvPr/>
        </p:nvSpPr>
        <p:spPr>
          <a:xfrm>
            <a:off x="4745736" y="3410712"/>
            <a:ext cx="3017520" cy="1847088"/>
          </a:xfrm>
          <a:prstGeom prst="rect">
            <a:avLst/>
          </a:prstGeom>
          <a:noFill/>
        </p:spPr>
        <p:txBody>
          <a:bodyPr wrap="square">
            <a:spAutoFit/>
          </a:bodyPr>
          <a:lstStyle/>
          <a:p>
            <a:pPr>
              <a:lnSpc>
                <a:spcPct val="112000"/>
              </a:lnSpc>
              <a:spcAft>
                <a:spcPts val="500"/>
              </a:spcAft>
            </a:pPr>
            <a:r>
              <a:rPr sz="1250">
                <a:solidFill>
                  <a:srgbClr val="475569"/>
                </a:solidFill>
                <a:latin typeface="Calibri"/>
              </a:rPr>
              <a:t>•  air-handling units (AHUs) and their heating / cooling coils</a:t>
            </a:r>
          </a:p>
          <a:p>
            <a:pPr>
              <a:lnSpc>
                <a:spcPct val="112000"/>
              </a:lnSpc>
              <a:spcAft>
                <a:spcPts val="500"/>
              </a:spcAft>
            </a:pPr>
            <a:r>
              <a:rPr sz="1250">
                <a:solidFill>
                  <a:srgbClr val="475569"/>
                </a:solidFill>
                <a:latin typeface="Calibri"/>
              </a:rPr>
              <a:t>•  mixing &amp; economizer dampers</a:t>
            </a:r>
          </a:p>
          <a:p>
            <a:pPr>
              <a:lnSpc>
                <a:spcPct val="112000"/>
              </a:lnSpc>
              <a:spcAft>
                <a:spcPts val="500"/>
              </a:spcAft>
            </a:pPr>
            <a:r>
              <a:rPr sz="1250">
                <a:solidFill>
                  <a:srgbClr val="475569"/>
                </a:solidFill>
                <a:latin typeface="Calibri"/>
              </a:rPr>
              <a:t>•  humidifiers and dehumidifiers</a:t>
            </a:r>
          </a:p>
          <a:p>
            <a:pPr>
              <a:lnSpc>
                <a:spcPct val="112000"/>
              </a:lnSpc>
              <a:spcAft>
                <a:spcPts val="500"/>
              </a:spcAft>
            </a:pPr>
            <a:r>
              <a:rPr sz="1250">
                <a:solidFill>
                  <a:srgbClr val="475569"/>
                </a:solidFill>
                <a:latin typeface="Calibri"/>
              </a:rPr>
              <a:t>•  energy-recovery wheels (ERV / HRV)</a:t>
            </a:r>
          </a:p>
          <a:p>
            <a:pPr>
              <a:lnSpc>
                <a:spcPct val="112000"/>
              </a:lnSpc>
              <a:spcAft>
                <a:spcPts val="500"/>
              </a:spcAft>
            </a:pPr>
            <a:r>
              <a:rPr sz="1250">
                <a:solidFill>
                  <a:srgbClr val="475569"/>
                </a:solidFill>
                <a:latin typeface="Calibri"/>
              </a:rPr>
              <a:t>•  chillers and DX systems, fans, VAV terminals</a:t>
            </a:r>
          </a:p>
        </p:txBody>
      </p:sp>
      <p:sp>
        <p:nvSpPr>
          <p:cNvPr id="17" name="Rounded Rectangle 16"/>
          <p:cNvSpPr/>
          <p:nvPr/>
        </p:nvSpPr>
        <p:spPr>
          <a:xfrm>
            <a:off x="8229600" y="2194560"/>
            <a:ext cx="3566160" cy="32004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2194560"/>
            <a:ext cx="128016" cy="320040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0496" y="2395728"/>
            <a:ext cx="3063240" cy="457200"/>
          </a:xfrm>
          <a:prstGeom prst="rect">
            <a:avLst/>
          </a:prstGeom>
          <a:noFill/>
        </p:spPr>
        <p:txBody>
          <a:bodyPr wrap="square" anchor="t" lIns="25400" rIns="25400" tIns="25400" bIns="25400">
            <a:spAutoFit/>
          </a:bodyPr>
          <a:lstStyle/>
          <a:p>
            <a:pPr algn="l">
              <a:lnSpc>
                <a:spcPct val="106000"/>
              </a:lnSpc>
            </a:pPr>
            <a:r>
              <a:rPr sz="1500" b="1">
                <a:solidFill>
                  <a:srgbClr val="B45309"/>
                </a:solidFill>
                <a:latin typeface="Calibri"/>
              </a:rPr>
              <a:t>What they must decide</a:t>
            </a:r>
          </a:p>
        </p:txBody>
      </p:sp>
      <p:sp>
        <p:nvSpPr>
          <p:cNvPr id="20" name="TextBox 19"/>
          <p:cNvSpPr txBox="1"/>
          <p:nvPr/>
        </p:nvSpPr>
        <p:spPr>
          <a:xfrm>
            <a:off x="8540496" y="2907792"/>
            <a:ext cx="3017520" cy="2350008"/>
          </a:xfrm>
          <a:prstGeom prst="rect">
            <a:avLst/>
          </a:prstGeom>
          <a:noFill/>
        </p:spPr>
        <p:txBody>
          <a:bodyPr wrap="square">
            <a:spAutoFit/>
          </a:bodyPr>
          <a:lstStyle/>
          <a:p>
            <a:pPr>
              <a:lnSpc>
                <a:spcPct val="112000"/>
              </a:lnSpc>
              <a:spcAft>
                <a:spcPts val="500"/>
              </a:spcAft>
            </a:pPr>
            <a:r>
              <a:rPr sz="1250">
                <a:solidFill>
                  <a:srgbClr val="475569"/>
                </a:solidFill>
                <a:latin typeface="Calibri"/>
              </a:rPr>
              <a:t>•  How much cooling or heating is needed</a:t>
            </a:r>
          </a:p>
          <a:p>
            <a:pPr>
              <a:lnSpc>
                <a:spcPct val="112000"/>
              </a:lnSpc>
              <a:spcAft>
                <a:spcPts val="500"/>
              </a:spcAft>
            </a:pPr>
            <a:r>
              <a:rPr sz="1250">
                <a:solidFill>
                  <a:srgbClr val="475569"/>
                </a:solidFill>
                <a:latin typeface="Calibri"/>
              </a:rPr>
              <a:t>•  How much of that cooling removes MOISTURE rather than heat</a:t>
            </a:r>
          </a:p>
          <a:p>
            <a:pPr>
              <a:lnSpc>
                <a:spcPct val="112000"/>
              </a:lnSpc>
              <a:spcAft>
                <a:spcPts val="500"/>
              </a:spcAft>
            </a:pPr>
            <a:r>
              <a:rPr sz="1250">
                <a:solidFill>
                  <a:srgbClr val="475569"/>
                </a:solidFill>
                <a:latin typeface="Calibri"/>
              </a:rPr>
              <a:t>•  How big the coil must be</a:t>
            </a:r>
          </a:p>
          <a:p>
            <a:pPr>
              <a:lnSpc>
                <a:spcPct val="112000"/>
              </a:lnSpc>
              <a:spcAft>
                <a:spcPts val="500"/>
              </a:spcAft>
            </a:pPr>
            <a:r>
              <a:rPr sz="1250">
                <a:solidFill>
                  <a:srgbClr val="475569"/>
                </a:solidFill>
                <a:latin typeface="Calibri"/>
              </a:rPr>
              <a:t>•  How much outside air to mix in</a:t>
            </a:r>
          </a:p>
          <a:p>
            <a:pPr>
              <a:lnSpc>
                <a:spcPct val="112000"/>
              </a:lnSpc>
              <a:spcAft>
                <a:spcPts val="500"/>
              </a:spcAft>
            </a:pPr>
            <a:r>
              <a:rPr sz="1250">
                <a:solidFill>
                  <a:srgbClr val="475569"/>
                </a:solidFill>
                <a:latin typeface="Calibri"/>
              </a:rPr>
              <a:t>•  Whether condensation or coil freezing will occur</a:t>
            </a:r>
          </a:p>
        </p:txBody>
      </p:sp>
      <p:sp>
        <p:nvSpPr>
          <p:cNvPr id="21" name="Rounded Rectangle 20"/>
          <p:cNvSpPr/>
          <p:nvPr/>
        </p:nvSpPr>
        <p:spPr>
          <a:xfrm>
            <a:off x="640080" y="5715000"/>
            <a:ext cx="10908792" cy="73152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806440"/>
            <a:ext cx="10424160" cy="548640"/>
          </a:xfrm>
          <a:prstGeom prst="rect">
            <a:avLst/>
          </a:prstGeom>
          <a:noFill/>
        </p:spPr>
        <p:txBody>
          <a:bodyPr wrap="square" anchor="ctr" lIns="25400" rIns="25400" tIns="25400" bIns="25400">
            <a:spAutoFit/>
          </a:bodyPr>
          <a:lstStyle/>
          <a:p>
            <a:pPr algn="l">
              <a:lnSpc>
                <a:spcPct val="115000"/>
              </a:lnSpc>
            </a:pPr>
            <a:r>
              <a:rPr sz="1350" b="0">
                <a:solidFill>
                  <a:srgbClr val="0F172A"/>
                </a:solidFill>
                <a:latin typeface="Calibri"/>
              </a:rPr>
              <a:t>Every one of those decisions is a point or a line on the psychrometric chart. That is why the chart — not the equipment catalogue — is where air-conditioning design actually happens.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WHY IT EXISTS</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Why designers cannot work without it</a:t>
            </a:r>
          </a:p>
        </p:txBody>
      </p:sp>
      <p:sp>
        <p:nvSpPr>
          <p:cNvPr id="6" name="TextBox 5"/>
          <p:cNvSpPr txBox="1"/>
          <p:nvPr/>
        </p:nvSpPr>
        <p:spPr>
          <a:xfrm>
            <a:off x="640080" y="1417320"/>
            <a:ext cx="10881360" cy="685800"/>
          </a:xfrm>
          <a:prstGeom prst="rect">
            <a:avLst/>
          </a:prstGeom>
          <a:noFill/>
        </p:spPr>
        <p:txBody>
          <a:bodyPr wrap="square" anchor="t" lIns="25400" rIns="25400" tIns="25400" bIns="25400">
            <a:spAutoFit/>
          </a:bodyPr>
          <a:lstStyle/>
          <a:p>
            <a:pPr algn="l">
              <a:lnSpc>
                <a:spcPct val="120000"/>
              </a:lnSpc>
            </a:pPr>
            <a:r>
              <a:rPr sz="1500" b="0">
                <a:solidFill>
                  <a:srgbClr val="475569"/>
                </a:solidFill>
                <a:latin typeface="Calibri"/>
              </a:rPr>
              <a:t>Air conditioning is not simply “making air colder”. It is moving MOIST AIR from one state to another — and the psychrometric chart is the map of every state air can be in.</a:t>
            </a:r>
          </a:p>
        </p:txBody>
      </p:sp>
      <p:sp>
        <p:nvSpPr>
          <p:cNvPr id="7" name="Rounded Rectangle 6"/>
          <p:cNvSpPr/>
          <p:nvPr/>
        </p:nvSpPr>
        <p:spPr>
          <a:xfrm>
            <a:off x="640080" y="2194560"/>
            <a:ext cx="5349240" cy="17830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194560"/>
            <a:ext cx="118872" cy="178308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395728"/>
            <a:ext cx="4846320" cy="457200"/>
          </a:xfrm>
          <a:prstGeom prst="rect">
            <a:avLst/>
          </a:prstGeom>
          <a:noFill/>
        </p:spPr>
        <p:txBody>
          <a:bodyPr wrap="square" anchor="t" lIns="25400" rIns="25400" tIns="25400" bIns="25400">
            <a:spAutoFit/>
          </a:bodyPr>
          <a:lstStyle/>
          <a:p>
            <a:pPr algn="l">
              <a:lnSpc>
                <a:spcPct val="106000"/>
              </a:lnSpc>
            </a:pPr>
            <a:r>
              <a:rPr sz="1700" b="1">
                <a:solidFill>
                  <a:srgbClr val="1D4ED8"/>
                </a:solidFill>
                <a:latin typeface="Calibri"/>
              </a:rPr>
              <a:t>Every process is a line</a:t>
            </a:r>
          </a:p>
        </p:txBody>
      </p:sp>
      <p:sp>
        <p:nvSpPr>
          <p:cNvPr id="10" name="TextBox 9"/>
          <p:cNvSpPr txBox="1"/>
          <p:nvPr/>
        </p:nvSpPr>
        <p:spPr>
          <a:xfrm>
            <a:off x="932688" y="2871216"/>
            <a:ext cx="4800600" cy="978408"/>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Cooling, heating, humidifying, dehumidifying and mixing each move the air in a characteristic direction. Draw the line and you have described the process.</a:t>
            </a:r>
          </a:p>
        </p:txBody>
      </p:sp>
      <p:sp>
        <p:nvSpPr>
          <p:cNvPr id="11" name="Rounded Rectangle 10"/>
          <p:cNvSpPr/>
          <p:nvPr/>
        </p:nvSpPr>
        <p:spPr>
          <a:xfrm>
            <a:off x="6199632" y="2194560"/>
            <a:ext cx="5349240" cy="17830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2194560"/>
            <a:ext cx="118872" cy="178308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395728"/>
            <a:ext cx="4846320" cy="457200"/>
          </a:xfrm>
          <a:prstGeom prst="rect">
            <a:avLst/>
          </a:prstGeom>
          <a:noFill/>
        </p:spPr>
        <p:txBody>
          <a:bodyPr wrap="square" anchor="t" lIns="25400" rIns="25400" tIns="25400" bIns="25400">
            <a:spAutoFit/>
          </a:bodyPr>
          <a:lstStyle/>
          <a:p>
            <a:pPr algn="l">
              <a:lnSpc>
                <a:spcPct val="106000"/>
              </a:lnSpc>
            </a:pPr>
            <a:r>
              <a:rPr sz="1700" b="1">
                <a:solidFill>
                  <a:srgbClr val="047857"/>
                </a:solidFill>
                <a:latin typeface="Calibri"/>
              </a:rPr>
              <a:t>Capacity comes from the chart</a:t>
            </a:r>
          </a:p>
        </p:txBody>
      </p:sp>
      <p:sp>
        <p:nvSpPr>
          <p:cNvPr id="14" name="TextBox 13"/>
          <p:cNvSpPr txBox="1"/>
          <p:nvPr/>
        </p:nvSpPr>
        <p:spPr>
          <a:xfrm>
            <a:off x="6492240" y="2871216"/>
            <a:ext cx="4800600" cy="978408"/>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The energy content (enthalpy) at each end of the line, multiplied by airflow, is the kW the coil must deliver. That is how equipment gets sized.</a:t>
            </a:r>
          </a:p>
        </p:txBody>
      </p:sp>
      <p:sp>
        <p:nvSpPr>
          <p:cNvPr id="15" name="Rounded Rectangle 14"/>
          <p:cNvSpPr/>
          <p:nvPr/>
        </p:nvSpPr>
        <p:spPr>
          <a:xfrm>
            <a:off x="640080" y="4178808"/>
            <a:ext cx="5349240" cy="17830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178808"/>
            <a:ext cx="118872" cy="17830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79976"/>
            <a:ext cx="4846320" cy="457200"/>
          </a:xfrm>
          <a:prstGeom prst="rect">
            <a:avLst/>
          </a:prstGeom>
          <a:noFill/>
        </p:spPr>
        <p:txBody>
          <a:bodyPr wrap="square" anchor="t" lIns="25400" rIns="25400" tIns="25400" bIns="25400">
            <a:spAutoFit/>
          </a:bodyPr>
          <a:lstStyle/>
          <a:p>
            <a:pPr algn="l">
              <a:lnSpc>
                <a:spcPct val="106000"/>
              </a:lnSpc>
            </a:pPr>
            <a:r>
              <a:rPr sz="1700" b="1">
                <a:solidFill>
                  <a:srgbClr val="B45309"/>
                </a:solidFill>
                <a:latin typeface="Calibri"/>
              </a:rPr>
              <a:t>Sensible vs latent</a:t>
            </a:r>
          </a:p>
        </p:txBody>
      </p:sp>
      <p:sp>
        <p:nvSpPr>
          <p:cNvPr id="18" name="TextBox 17"/>
          <p:cNvSpPr txBox="1"/>
          <p:nvPr/>
        </p:nvSpPr>
        <p:spPr>
          <a:xfrm>
            <a:off x="932688" y="4855464"/>
            <a:ext cx="4800600" cy="978408"/>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The chart separates cooling that lowers temperature from cooling that removes water. The two behave differently and must be sized separately.</a:t>
            </a:r>
          </a:p>
        </p:txBody>
      </p:sp>
      <p:sp>
        <p:nvSpPr>
          <p:cNvPr id="19" name="Rounded Rectangle 18"/>
          <p:cNvSpPr/>
          <p:nvPr/>
        </p:nvSpPr>
        <p:spPr>
          <a:xfrm>
            <a:off x="6199632" y="4178808"/>
            <a:ext cx="5349240" cy="17830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4178808"/>
            <a:ext cx="118872" cy="178308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379976"/>
            <a:ext cx="4846320" cy="457200"/>
          </a:xfrm>
          <a:prstGeom prst="rect">
            <a:avLst/>
          </a:prstGeom>
          <a:noFill/>
        </p:spPr>
        <p:txBody>
          <a:bodyPr wrap="square" anchor="t" lIns="25400" rIns="25400" tIns="25400" bIns="25400">
            <a:spAutoFit/>
          </a:bodyPr>
          <a:lstStyle/>
          <a:p>
            <a:pPr algn="l">
              <a:lnSpc>
                <a:spcPct val="106000"/>
              </a:lnSpc>
            </a:pPr>
            <a:r>
              <a:rPr sz="1700" b="1">
                <a:solidFill>
                  <a:srgbClr val="0F172A"/>
                </a:solidFill>
                <a:latin typeface="Calibri"/>
              </a:rPr>
              <a:t>Physical limits are visible</a:t>
            </a:r>
          </a:p>
        </p:txBody>
      </p:sp>
      <p:sp>
        <p:nvSpPr>
          <p:cNvPr id="22" name="TextBox 21"/>
          <p:cNvSpPr txBox="1"/>
          <p:nvPr/>
        </p:nvSpPr>
        <p:spPr>
          <a:xfrm>
            <a:off x="6492240" y="4855464"/>
            <a:ext cx="4800600" cy="978408"/>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The curved boundary is 100% humidity — air cannot go beyond it. It shows where condensation begins and where a coil would freeze.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HOW TO READ IT</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One dot is the state of the air</a:t>
            </a:r>
          </a:p>
        </p:txBody>
      </p:sp>
      <p:sp>
        <p:nvSpPr>
          <p:cNvPr id="6" name="Rounded Rectangle 5"/>
          <p:cNvSpPr/>
          <p:nvPr/>
        </p:nvSpPr>
        <p:spPr>
          <a:xfrm>
            <a:off x="566928" y="1783080"/>
            <a:ext cx="5074920" cy="36576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394460" y="2194560"/>
            <a:ext cx="0" cy="288036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20240" y="2194560"/>
            <a:ext cx="0" cy="288036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446020" y="2194560"/>
            <a:ext cx="0" cy="288036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971800" y="2194560"/>
            <a:ext cx="0" cy="288036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497580" y="2194560"/>
            <a:ext cx="0" cy="288036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23360" y="2194560"/>
            <a:ext cx="0" cy="288036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49140" y="2194560"/>
            <a:ext cx="0" cy="288036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68680" y="4594859"/>
            <a:ext cx="4206240" cy="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8680" y="4114800"/>
            <a:ext cx="4206240" cy="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68680" y="3634739"/>
            <a:ext cx="4206240" cy="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68680" y="3154679"/>
            <a:ext cx="4206240" cy="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68680" y="2674620"/>
            <a:ext cx="4206240" cy="0"/>
          </a:xfrm>
          <a:prstGeom prst="line">
            <a:avLst/>
          </a:prstGeom>
          <a:ln w="9525">
            <a:solidFill>
              <a:srgbClr val="EEF2F7"/>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68680" y="5074920"/>
            <a:ext cx="4206240" cy="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68680" y="2194560"/>
            <a:ext cx="0" cy="2880360"/>
          </a:xfrm>
          <a:prstGeom prst="line">
            <a:avLst/>
          </a:prstGeom>
          <a:ln w="15875">
            <a:solidFill>
              <a:srgbClr val="94A3B8"/>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868680" y="2194560"/>
            <a:ext cx="3312414" cy="2517914"/>
          </a:xfrm>
          <a:custGeom>
            <a:avLst/>
            <a:gdLst/>
            <a:ahLst/>
            <a:cxnLst/>
            <a:rect l="l" t="t" r="r" b="b"/>
            <a:pathLst>
              <a:path w="3312414" h="2517914">
                <a:moveTo>
                  <a:pt x="0" y="2517914"/>
                </a:moveTo>
                <a:lnTo>
                  <a:pt x="525780" y="2361703"/>
                </a:lnTo>
                <a:lnTo>
                  <a:pt x="1051560" y="2147788"/>
                </a:lnTo>
                <a:lnTo>
                  <a:pt x="1577340" y="1858120"/>
                </a:lnTo>
                <a:lnTo>
                  <a:pt x="2103120" y="1469271"/>
                </a:lnTo>
                <a:lnTo>
                  <a:pt x="2628900" y="952247"/>
                </a:lnTo>
                <a:lnTo>
                  <a:pt x="3154680" y="268641"/>
                </a:lnTo>
                <a:lnTo>
                  <a:pt x="3312414" y="0"/>
                </a:lnTo>
              </a:path>
            </a:pathLst>
          </a:custGeom>
          <a:noFill/>
          <a:ln w="28575">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33672" y="2176272"/>
            <a:ext cx="1097280" cy="457200"/>
          </a:xfrm>
          <a:prstGeom prst="rect">
            <a:avLst/>
          </a:prstGeom>
          <a:noFill/>
        </p:spPr>
        <p:txBody>
          <a:bodyPr wrap="square" anchor="t" lIns="25400" rIns="25400" tIns="25400" bIns="25400">
            <a:spAutoFit/>
          </a:bodyPr>
          <a:lstStyle/>
          <a:p>
            <a:pPr algn="l">
              <a:lnSpc>
                <a:spcPct val="106000"/>
              </a:lnSpc>
            </a:pPr>
            <a:r>
              <a:rPr sz="950" b="1">
                <a:solidFill>
                  <a:srgbClr val="1D4ED8"/>
                </a:solidFill>
                <a:latin typeface="Calibri"/>
              </a:rPr>
              <a:t>100% RH</a:t>
            </a:r>
          </a:p>
          <a:p>
            <a:pPr algn="l">
              <a:lnSpc>
                <a:spcPct val="106000"/>
              </a:lnSpc>
            </a:pPr>
            <a:r>
              <a:rPr sz="950" b="1">
                <a:solidFill>
                  <a:srgbClr val="1D4ED8"/>
                </a:solidFill>
                <a:latin typeface="Calibri"/>
              </a:rPr>
              <a:t>(saturation)</a:t>
            </a:r>
          </a:p>
        </p:txBody>
      </p:sp>
      <p:sp>
        <p:nvSpPr>
          <p:cNvPr id="23" name="Rounded Rectangle 22"/>
          <p:cNvSpPr/>
          <p:nvPr/>
        </p:nvSpPr>
        <p:spPr>
          <a:xfrm>
            <a:off x="2971800" y="3922776"/>
            <a:ext cx="630936" cy="576071"/>
          </a:xfrm>
          <a:prstGeom prst="roundRect">
            <a:avLst/>
          </a:prstGeom>
          <a:solidFill>
            <a:srgbClr val="B45309">
              <a:alpha val="16000"/>
            </a:srgbClr>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98548" y="4544568"/>
            <a:ext cx="2377440" cy="274320"/>
          </a:xfrm>
          <a:prstGeom prst="rect">
            <a:avLst/>
          </a:prstGeom>
          <a:noFill/>
        </p:spPr>
        <p:txBody>
          <a:bodyPr wrap="square" anchor="t" lIns="25400" rIns="25400" tIns="25400" bIns="25400">
            <a:spAutoFit/>
          </a:bodyPr>
          <a:lstStyle/>
          <a:p>
            <a:pPr algn="ctr">
              <a:lnSpc>
                <a:spcPct val="106000"/>
              </a:lnSpc>
            </a:pPr>
            <a:r>
              <a:rPr sz="950" b="1">
                <a:solidFill>
                  <a:srgbClr val="B45309"/>
                </a:solidFill>
                <a:latin typeface="Calibri"/>
              </a:rPr>
              <a:t>Comfort zone (ASHRAE 55)</a:t>
            </a:r>
          </a:p>
        </p:txBody>
      </p:sp>
      <p:cxnSp>
        <p:nvCxnSpPr>
          <p:cNvPr id="25" name="Connector 24"/>
          <p:cNvCxnSpPr/>
          <p:nvPr/>
        </p:nvCxnSpPr>
        <p:spPr>
          <a:xfrm flipH="1">
            <a:off x="3392424" y="3346704"/>
            <a:ext cx="946404" cy="835304"/>
          </a:xfrm>
          <a:prstGeom prst="line">
            <a:avLst/>
          </a:prstGeom>
          <a:ln w="22225">
            <a:solidFill>
              <a:srgbClr val="047857"/>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235708" y="3931417"/>
            <a:ext cx="1440637" cy="298597"/>
          </a:xfrm>
          <a:prstGeom prst="line">
            <a:avLst/>
          </a:prstGeom>
          <a:ln w="28575">
            <a:solidFill>
              <a:srgbClr val="1D4ED8"/>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283964" y="3291840"/>
            <a:ext cx="109728" cy="109728"/>
          </a:xfrm>
          <a:prstGeom prst="ellipse">
            <a:avLst/>
          </a:prstGeom>
          <a:solidFill>
            <a:srgbClr val="B4530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0268" y="3191256"/>
            <a:ext cx="411480" cy="228600"/>
          </a:xfrm>
          <a:prstGeom prst="rect">
            <a:avLst/>
          </a:prstGeom>
          <a:noFill/>
        </p:spPr>
        <p:txBody>
          <a:bodyPr wrap="square" anchor="t" lIns="25400" rIns="25400" tIns="25400" bIns="25400">
            <a:spAutoFit/>
          </a:bodyPr>
          <a:lstStyle/>
          <a:p>
            <a:pPr algn="l">
              <a:lnSpc>
                <a:spcPct val="106000"/>
              </a:lnSpc>
            </a:pPr>
            <a:r>
              <a:rPr sz="1050" b="1">
                <a:solidFill>
                  <a:srgbClr val="B45309"/>
                </a:solidFill>
                <a:latin typeface="Calibri"/>
              </a:rPr>
              <a:t>OA</a:t>
            </a:r>
          </a:p>
        </p:txBody>
      </p:sp>
      <p:sp>
        <p:nvSpPr>
          <p:cNvPr id="29" name="Oval 28"/>
          <p:cNvSpPr/>
          <p:nvPr/>
        </p:nvSpPr>
        <p:spPr>
          <a:xfrm>
            <a:off x="3337560" y="4127144"/>
            <a:ext cx="109728" cy="109728"/>
          </a:xfrm>
          <a:prstGeom prst="ellipse">
            <a:avLst/>
          </a:prstGeom>
          <a:solidFill>
            <a:srgbClr val="04785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4209440"/>
            <a:ext cx="411480" cy="228600"/>
          </a:xfrm>
          <a:prstGeom prst="rect">
            <a:avLst/>
          </a:prstGeom>
          <a:noFill/>
        </p:spPr>
        <p:txBody>
          <a:bodyPr wrap="square" anchor="t" lIns="25400" rIns="25400" tIns="25400" bIns="25400">
            <a:spAutoFit/>
          </a:bodyPr>
          <a:lstStyle/>
          <a:p>
            <a:pPr algn="l">
              <a:lnSpc>
                <a:spcPct val="106000"/>
              </a:lnSpc>
            </a:pPr>
            <a:r>
              <a:rPr sz="1050" b="1">
                <a:solidFill>
                  <a:srgbClr val="047857"/>
                </a:solidFill>
                <a:latin typeface="Calibri"/>
              </a:rPr>
              <a:t>RA</a:t>
            </a:r>
          </a:p>
        </p:txBody>
      </p:sp>
      <p:sp>
        <p:nvSpPr>
          <p:cNvPr id="31" name="Oval 30"/>
          <p:cNvSpPr/>
          <p:nvPr/>
        </p:nvSpPr>
        <p:spPr>
          <a:xfrm>
            <a:off x="3621481" y="3876553"/>
            <a:ext cx="109728" cy="109728"/>
          </a:xfrm>
          <a:prstGeom prst="ellipse">
            <a:avLst/>
          </a:prstGeom>
          <a:solidFill>
            <a:srgbClr val="0F1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58641" y="3748537"/>
            <a:ext cx="411480" cy="228600"/>
          </a:xfrm>
          <a:prstGeom prst="rect">
            <a:avLst/>
          </a:prstGeom>
          <a:noFill/>
        </p:spPr>
        <p:txBody>
          <a:bodyPr wrap="square" anchor="t" lIns="25400" rIns="25400" tIns="25400" bIns="25400">
            <a:spAutoFit/>
          </a:bodyPr>
          <a:lstStyle/>
          <a:p>
            <a:pPr algn="l">
              <a:lnSpc>
                <a:spcPct val="106000"/>
              </a:lnSpc>
            </a:pPr>
            <a:r>
              <a:rPr sz="1050" b="1">
                <a:solidFill>
                  <a:srgbClr val="0F172A"/>
                </a:solidFill>
                <a:latin typeface="Calibri"/>
              </a:rPr>
              <a:t>MA</a:t>
            </a:r>
          </a:p>
        </p:txBody>
      </p:sp>
      <p:sp>
        <p:nvSpPr>
          <p:cNvPr id="33" name="Oval 32"/>
          <p:cNvSpPr/>
          <p:nvPr/>
        </p:nvSpPr>
        <p:spPr>
          <a:xfrm>
            <a:off x="2180844" y="4175150"/>
            <a:ext cx="109728" cy="109728"/>
          </a:xfrm>
          <a:prstGeom prst="ellipse">
            <a:avLst/>
          </a:prstGeom>
          <a:solidFill>
            <a:srgbClr val="1D4ED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69948" y="4047134"/>
            <a:ext cx="411480" cy="228600"/>
          </a:xfrm>
          <a:prstGeom prst="rect">
            <a:avLst/>
          </a:prstGeom>
          <a:noFill/>
        </p:spPr>
        <p:txBody>
          <a:bodyPr wrap="square" anchor="t" lIns="25400" rIns="25400" tIns="25400" bIns="25400">
            <a:spAutoFit/>
          </a:bodyPr>
          <a:lstStyle/>
          <a:p>
            <a:pPr algn="l">
              <a:lnSpc>
                <a:spcPct val="106000"/>
              </a:lnSpc>
            </a:pPr>
            <a:r>
              <a:rPr sz="1050" b="1">
                <a:solidFill>
                  <a:srgbClr val="1D4ED8"/>
                </a:solidFill>
                <a:latin typeface="Calibri"/>
              </a:rPr>
              <a:t>SA</a:t>
            </a:r>
          </a:p>
        </p:txBody>
      </p:sp>
      <p:sp>
        <p:nvSpPr>
          <p:cNvPr id="35" name="TextBox 34"/>
          <p:cNvSpPr txBox="1"/>
          <p:nvPr/>
        </p:nvSpPr>
        <p:spPr>
          <a:xfrm>
            <a:off x="868680" y="5166359"/>
            <a:ext cx="4206240" cy="256032"/>
          </a:xfrm>
          <a:prstGeom prst="rect">
            <a:avLst/>
          </a:prstGeom>
          <a:noFill/>
        </p:spPr>
        <p:txBody>
          <a:bodyPr wrap="square" anchor="t" lIns="25400" rIns="25400" tIns="25400" bIns="25400">
            <a:spAutoFit/>
          </a:bodyPr>
          <a:lstStyle/>
          <a:p>
            <a:pPr algn="ctr">
              <a:lnSpc>
                <a:spcPct val="106000"/>
              </a:lnSpc>
            </a:pPr>
            <a:r>
              <a:rPr sz="1050" b="1">
                <a:solidFill>
                  <a:srgbClr val="475569"/>
                </a:solidFill>
                <a:latin typeface="Calibri"/>
              </a:rPr>
              <a:t>Dry-bulb temperature  →</a:t>
            </a:r>
          </a:p>
        </p:txBody>
      </p:sp>
      <p:sp>
        <p:nvSpPr>
          <p:cNvPr id="36" name="TextBox 35"/>
          <p:cNvSpPr txBox="1"/>
          <p:nvPr/>
        </p:nvSpPr>
        <p:spPr>
          <a:xfrm>
            <a:off x="685800" y="1956815"/>
            <a:ext cx="2377440" cy="256032"/>
          </a:xfrm>
          <a:prstGeom prst="rect">
            <a:avLst/>
          </a:prstGeom>
          <a:noFill/>
        </p:spPr>
        <p:txBody>
          <a:bodyPr wrap="square" anchor="t" lIns="25400" rIns="25400" tIns="25400" bIns="25400">
            <a:spAutoFit/>
          </a:bodyPr>
          <a:lstStyle/>
          <a:p>
            <a:pPr algn="l">
              <a:lnSpc>
                <a:spcPct val="106000"/>
              </a:lnSpc>
            </a:pPr>
            <a:r>
              <a:rPr sz="1050" b="1">
                <a:solidFill>
                  <a:srgbClr val="475569"/>
                </a:solidFill>
                <a:latin typeface="Calibri"/>
              </a:rPr>
              <a:t>↑  Moisture in the air</a:t>
            </a:r>
          </a:p>
        </p:txBody>
      </p:sp>
      <p:sp>
        <p:nvSpPr>
          <p:cNvPr id="37" name="TextBox 36"/>
          <p:cNvSpPr txBox="1"/>
          <p:nvPr/>
        </p:nvSpPr>
        <p:spPr>
          <a:xfrm>
            <a:off x="566928" y="5504688"/>
            <a:ext cx="5120640" cy="731520"/>
          </a:xfrm>
          <a:prstGeom prst="rect">
            <a:avLst/>
          </a:prstGeom>
          <a:noFill/>
        </p:spPr>
        <p:txBody>
          <a:bodyPr wrap="square" anchor="t" lIns="25400" rIns="25400" tIns="25400" bIns="25400">
            <a:spAutoFit/>
          </a:bodyPr>
          <a:lstStyle/>
          <a:p>
            <a:pPr algn="l">
              <a:lnSpc>
                <a:spcPct val="125000"/>
              </a:lnSpc>
            </a:pPr>
            <a:r>
              <a:rPr sz="1100" b="0">
                <a:solidFill>
                  <a:srgbClr val="64748B"/>
                </a:solidFill>
                <a:latin typeface="Calibri"/>
              </a:rPr>
              <a:t>OA outside air  ·  RA return air from the rooms  ·  MA the mixture entering the coil  ·  SA supply air delivered to the rooms.</a:t>
            </a:r>
          </a:p>
          <a:p>
            <a:pPr algn="l">
              <a:lnSpc>
                <a:spcPct val="125000"/>
              </a:lnSpc>
            </a:pPr>
            <a:r>
              <a:rPr sz="1100" b="0">
                <a:solidFill>
                  <a:srgbClr val="64748B"/>
                </a:solidFill>
                <a:latin typeface="Calibri"/>
              </a:rPr>
              <a:t>Dashed green = mixing;  solid blue = the cooling coil.</a:t>
            </a:r>
          </a:p>
        </p:txBody>
      </p:sp>
      <p:sp>
        <p:nvSpPr>
          <p:cNvPr id="38" name="Rounded Rectangle 37"/>
          <p:cNvSpPr/>
          <p:nvPr/>
        </p:nvSpPr>
        <p:spPr>
          <a:xfrm>
            <a:off x="5806440" y="1828800"/>
            <a:ext cx="2724912" cy="146304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971032" y="1975104"/>
            <a:ext cx="219456" cy="21945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71032" y="1975104"/>
            <a:ext cx="219456" cy="219456"/>
          </a:xfrm>
          <a:prstGeom prst="rect">
            <a:avLst/>
          </a:prstGeom>
          <a:noFill/>
        </p:spPr>
        <p:txBody>
          <a:bodyPr wrap="square" anchor="ctr" lIns="25400" rIns="25400" tIns="25400" bIns="25400">
            <a:spAutoFit/>
          </a:bodyPr>
          <a:lstStyle/>
          <a:p>
            <a:pPr algn="ctr">
              <a:lnSpc>
                <a:spcPct val="106000"/>
              </a:lnSpc>
            </a:pPr>
            <a:r>
              <a:rPr sz="1000" b="1">
                <a:solidFill>
                  <a:srgbClr val="FFFFFF"/>
                </a:solidFill>
                <a:latin typeface="Calibri"/>
              </a:rPr>
              <a:t>1</a:t>
            </a:r>
          </a:p>
        </p:txBody>
      </p:sp>
      <p:sp>
        <p:nvSpPr>
          <p:cNvPr id="41" name="TextBox 40"/>
          <p:cNvSpPr txBox="1"/>
          <p:nvPr/>
        </p:nvSpPr>
        <p:spPr>
          <a:xfrm>
            <a:off x="6263640" y="1965960"/>
            <a:ext cx="2130552" cy="274320"/>
          </a:xfrm>
          <a:prstGeom prst="rect">
            <a:avLst/>
          </a:prstGeom>
          <a:noFill/>
        </p:spPr>
        <p:txBody>
          <a:bodyPr wrap="square" anchor="t" lIns="25400" rIns="25400" tIns="25400" bIns="25400">
            <a:spAutoFit/>
          </a:bodyPr>
          <a:lstStyle/>
          <a:p>
            <a:pPr algn="l">
              <a:lnSpc>
                <a:spcPct val="106000"/>
              </a:lnSpc>
            </a:pPr>
            <a:r>
              <a:rPr sz="1250" b="1">
                <a:solidFill>
                  <a:srgbClr val="1D4ED8"/>
                </a:solidFill>
                <a:latin typeface="Calibri"/>
              </a:rPr>
              <a:t>Two axes fix everything</a:t>
            </a:r>
          </a:p>
        </p:txBody>
      </p:sp>
      <p:sp>
        <p:nvSpPr>
          <p:cNvPr id="42" name="TextBox 41"/>
          <p:cNvSpPr txBox="1"/>
          <p:nvPr/>
        </p:nvSpPr>
        <p:spPr>
          <a:xfrm>
            <a:off x="5989320" y="2286000"/>
            <a:ext cx="2359152" cy="914400"/>
          </a:xfrm>
          <a:prstGeom prst="rect">
            <a:avLst/>
          </a:prstGeom>
          <a:noFill/>
        </p:spPr>
        <p:txBody>
          <a:bodyPr wrap="square" anchor="t" lIns="25400" rIns="25400" tIns="25400" bIns="25400">
            <a:spAutoFit/>
          </a:bodyPr>
          <a:lstStyle/>
          <a:p>
            <a:pPr algn="l">
              <a:lnSpc>
                <a:spcPct val="112000"/>
              </a:lnSpc>
            </a:pPr>
            <a:r>
              <a:rPr sz="1000" b="0">
                <a:solidFill>
                  <a:srgbClr val="475569"/>
                </a:solidFill>
                <a:latin typeface="Calibri"/>
              </a:rPr>
              <a:t>Across is temperature; up is the actual weight of water the air carries. Pin both and the air's state is pinned — relative humidity, dew point, wet-bulb and energy content all follow from that one dot.</a:t>
            </a:r>
          </a:p>
        </p:txBody>
      </p:sp>
      <p:sp>
        <p:nvSpPr>
          <p:cNvPr id="43" name="Rounded Rectangle 42"/>
          <p:cNvSpPr/>
          <p:nvPr/>
        </p:nvSpPr>
        <p:spPr>
          <a:xfrm>
            <a:off x="8677656" y="1828800"/>
            <a:ext cx="2724912" cy="146304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842248" y="1975104"/>
            <a:ext cx="219456" cy="21945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42248" y="1975104"/>
            <a:ext cx="219456" cy="219456"/>
          </a:xfrm>
          <a:prstGeom prst="rect">
            <a:avLst/>
          </a:prstGeom>
          <a:noFill/>
        </p:spPr>
        <p:txBody>
          <a:bodyPr wrap="square" anchor="ctr" lIns="25400" rIns="25400" tIns="25400" bIns="25400">
            <a:spAutoFit/>
          </a:bodyPr>
          <a:lstStyle/>
          <a:p>
            <a:pPr algn="ctr">
              <a:lnSpc>
                <a:spcPct val="106000"/>
              </a:lnSpc>
            </a:pPr>
            <a:r>
              <a:rPr sz="1000" b="1">
                <a:solidFill>
                  <a:srgbClr val="FFFFFF"/>
                </a:solidFill>
                <a:latin typeface="Calibri"/>
              </a:rPr>
              <a:t>2</a:t>
            </a:r>
          </a:p>
        </p:txBody>
      </p:sp>
      <p:sp>
        <p:nvSpPr>
          <p:cNvPr id="46" name="TextBox 45"/>
          <p:cNvSpPr txBox="1"/>
          <p:nvPr/>
        </p:nvSpPr>
        <p:spPr>
          <a:xfrm>
            <a:off x="9134856" y="1965960"/>
            <a:ext cx="2130552" cy="274320"/>
          </a:xfrm>
          <a:prstGeom prst="rect">
            <a:avLst/>
          </a:prstGeom>
          <a:noFill/>
        </p:spPr>
        <p:txBody>
          <a:bodyPr wrap="square" anchor="t" lIns="25400" rIns="25400" tIns="25400" bIns="25400">
            <a:spAutoFit/>
          </a:bodyPr>
          <a:lstStyle/>
          <a:p>
            <a:pPr algn="l">
              <a:lnSpc>
                <a:spcPct val="106000"/>
              </a:lnSpc>
            </a:pPr>
            <a:r>
              <a:rPr sz="1250" b="1">
                <a:solidFill>
                  <a:srgbClr val="1D4ED8"/>
                </a:solidFill>
                <a:latin typeface="Calibri"/>
              </a:rPr>
              <a:t>The curve is a hard limit</a:t>
            </a:r>
          </a:p>
        </p:txBody>
      </p:sp>
      <p:sp>
        <p:nvSpPr>
          <p:cNvPr id="47" name="TextBox 46"/>
          <p:cNvSpPr txBox="1"/>
          <p:nvPr/>
        </p:nvSpPr>
        <p:spPr>
          <a:xfrm>
            <a:off x="8860536" y="2286000"/>
            <a:ext cx="2359152" cy="914400"/>
          </a:xfrm>
          <a:prstGeom prst="rect">
            <a:avLst/>
          </a:prstGeom>
          <a:noFill/>
        </p:spPr>
        <p:txBody>
          <a:bodyPr wrap="square" anchor="t" lIns="25400" rIns="25400" tIns="25400" bIns="25400">
            <a:spAutoFit/>
          </a:bodyPr>
          <a:lstStyle/>
          <a:p>
            <a:pPr algn="l">
              <a:lnSpc>
                <a:spcPct val="112000"/>
              </a:lnSpc>
            </a:pPr>
            <a:r>
              <a:rPr sz="1000" b="0">
                <a:solidFill>
                  <a:srgbClr val="475569"/>
                </a:solidFill>
                <a:latin typeface="Calibri"/>
              </a:rPr>
              <a:t>It marks 100% humidity — air can never sit above it. Drive the dot onto the curve and water comes out: the dew point, a wet coil, a fogged window.</a:t>
            </a:r>
          </a:p>
        </p:txBody>
      </p:sp>
      <p:sp>
        <p:nvSpPr>
          <p:cNvPr id="48" name="Rounded Rectangle 47"/>
          <p:cNvSpPr/>
          <p:nvPr/>
        </p:nvSpPr>
        <p:spPr>
          <a:xfrm>
            <a:off x="5806440" y="3419856"/>
            <a:ext cx="2724912" cy="146304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971032" y="3566160"/>
            <a:ext cx="219456" cy="219456"/>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71032" y="3566160"/>
            <a:ext cx="219456" cy="219456"/>
          </a:xfrm>
          <a:prstGeom prst="rect">
            <a:avLst/>
          </a:prstGeom>
          <a:noFill/>
        </p:spPr>
        <p:txBody>
          <a:bodyPr wrap="square" anchor="ctr" lIns="25400" rIns="25400" tIns="25400" bIns="25400">
            <a:spAutoFit/>
          </a:bodyPr>
          <a:lstStyle/>
          <a:p>
            <a:pPr algn="ctr">
              <a:lnSpc>
                <a:spcPct val="106000"/>
              </a:lnSpc>
            </a:pPr>
            <a:r>
              <a:rPr sz="1000" b="1">
                <a:solidFill>
                  <a:srgbClr val="FFFFFF"/>
                </a:solidFill>
                <a:latin typeface="Calibri"/>
              </a:rPr>
              <a:t>3</a:t>
            </a:r>
          </a:p>
        </p:txBody>
      </p:sp>
      <p:sp>
        <p:nvSpPr>
          <p:cNvPr id="51" name="TextBox 50"/>
          <p:cNvSpPr txBox="1"/>
          <p:nvPr/>
        </p:nvSpPr>
        <p:spPr>
          <a:xfrm>
            <a:off x="6263640" y="3557016"/>
            <a:ext cx="2130552" cy="274320"/>
          </a:xfrm>
          <a:prstGeom prst="rect">
            <a:avLst/>
          </a:prstGeom>
          <a:noFill/>
        </p:spPr>
        <p:txBody>
          <a:bodyPr wrap="square" anchor="t" lIns="25400" rIns="25400" tIns="25400" bIns="25400">
            <a:spAutoFit/>
          </a:bodyPr>
          <a:lstStyle/>
          <a:p>
            <a:pPr algn="l">
              <a:lnSpc>
                <a:spcPct val="106000"/>
              </a:lnSpc>
            </a:pPr>
            <a:r>
              <a:rPr sz="1250" b="1">
                <a:solidFill>
                  <a:srgbClr val="047857"/>
                </a:solidFill>
                <a:latin typeface="Calibri"/>
              </a:rPr>
              <a:t>Mixing is a straight line</a:t>
            </a:r>
          </a:p>
        </p:txBody>
      </p:sp>
      <p:sp>
        <p:nvSpPr>
          <p:cNvPr id="52" name="TextBox 51"/>
          <p:cNvSpPr txBox="1"/>
          <p:nvPr/>
        </p:nvSpPr>
        <p:spPr>
          <a:xfrm>
            <a:off x="5989320" y="3877056"/>
            <a:ext cx="2359152" cy="914400"/>
          </a:xfrm>
          <a:prstGeom prst="rect">
            <a:avLst/>
          </a:prstGeom>
          <a:noFill/>
        </p:spPr>
        <p:txBody>
          <a:bodyPr wrap="square" anchor="t" lIns="25400" rIns="25400" tIns="25400" bIns="25400">
            <a:spAutoFit/>
          </a:bodyPr>
          <a:lstStyle/>
          <a:p>
            <a:pPr algn="l">
              <a:lnSpc>
                <a:spcPct val="112000"/>
              </a:lnSpc>
            </a:pPr>
            <a:r>
              <a:rPr sz="1000" b="0">
                <a:solidFill>
                  <a:srgbClr val="475569"/>
                </a:solidFill>
                <a:latin typeface="Calibri"/>
              </a:rPr>
              <a:t>Outside and return air blend to a point on the line joining them. How far along it sits gives the proportion: a third of the way from RA means a third outside air.</a:t>
            </a:r>
          </a:p>
        </p:txBody>
      </p:sp>
      <p:sp>
        <p:nvSpPr>
          <p:cNvPr id="53" name="Rounded Rectangle 52"/>
          <p:cNvSpPr/>
          <p:nvPr/>
        </p:nvSpPr>
        <p:spPr>
          <a:xfrm>
            <a:off x="8677656" y="3419856"/>
            <a:ext cx="2724912" cy="146304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842248" y="3566160"/>
            <a:ext cx="219456" cy="219456"/>
          </a:xfrm>
          <a:prstGeom prst="ellipse">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42248" y="3566160"/>
            <a:ext cx="219456" cy="219456"/>
          </a:xfrm>
          <a:prstGeom prst="rect">
            <a:avLst/>
          </a:prstGeom>
          <a:noFill/>
        </p:spPr>
        <p:txBody>
          <a:bodyPr wrap="square" anchor="ctr" lIns="25400" rIns="25400" tIns="25400" bIns="25400">
            <a:spAutoFit/>
          </a:bodyPr>
          <a:lstStyle/>
          <a:p>
            <a:pPr algn="ctr">
              <a:lnSpc>
                <a:spcPct val="106000"/>
              </a:lnSpc>
            </a:pPr>
            <a:r>
              <a:rPr sz="1000" b="1">
                <a:solidFill>
                  <a:srgbClr val="FFFFFF"/>
                </a:solidFill>
                <a:latin typeface="Calibri"/>
              </a:rPr>
              <a:t>4</a:t>
            </a:r>
          </a:p>
        </p:txBody>
      </p:sp>
      <p:sp>
        <p:nvSpPr>
          <p:cNvPr id="56" name="TextBox 55"/>
          <p:cNvSpPr txBox="1"/>
          <p:nvPr/>
        </p:nvSpPr>
        <p:spPr>
          <a:xfrm>
            <a:off x="9134856" y="3557016"/>
            <a:ext cx="2130552" cy="274320"/>
          </a:xfrm>
          <a:prstGeom prst="rect">
            <a:avLst/>
          </a:prstGeom>
          <a:noFill/>
        </p:spPr>
        <p:txBody>
          <a:bodyPr wrap="square" anchor="t" lIns="25400" rIns="25400" tIns="25400" bIns="25400">
            <a:spAutoFit/>
          </a:bodyPr>
          <a:lstStyle/>
          <a:p>
            <a:pPr algn="l">
              <a:lnSpc>
                <a:spcPct val="106000"/>
              </a:lnSpc>
            </a:pPr>
            <a:r>
              <a:rPr sz="1250" b="1">
                <a:solidFill>
                  <a:srgbClr val="1D4ED8"/>
                </a:solidFill>
                <a:latin typeface="Calibri"/>
              </a:rPr>
              <a:t>A coil pulls down and left</a:t>
            </a:r>
          </a:p>
        </p:txBody>
      </p:sp>
      <p:sp>
        <p:nvSpPr>
          <p:cNvPr id="57" name="TextBox 56"/>
          <p:cNvSpPr txBox="1"/>
          <p:nvPr/>
        </p:nvSpPr>
        <p:spPr>
          <a:xfrm>
            <a:off x="8860536" y="3877056"/>
            <a:ext cx="2359152" cy="914400"/>
          </a:xfrm>
          <a:prstGeom prst="rect">
            <a:avLst/>
          </a:prstGeom>
          <a:noFill/>
        </p:spPr>
        <p:txBody>
          <a:bodyPr wrap="square" anchor="t" lIns="25400" rIns="25400" tIns="25400" bIns="25400">
            <a:spAutoFit/>
          </a:bodyPr>
          <a:lstStyle/>
          <a:p>
            <a:pPr algn="l">
              <a:lnSpc>
                <a:spcPct val="112000"/>
              </a:lnSpc>
            </a:pPr>
            <a:r>
              <a:rPr sz="1000" b="0">
                <a:solidFill>
                  <a:srgbClr val="475569"/>
                </a:solidFill>
                <a:latin typeface="Calibri"/>
              </a:rPr>
              <a:t>Left removes temperature (sensible heat); down removes water (latent heat). The slope of MA→SA is the split — and that split is what sizing a coil actually means.</a:t>
            </a:r>
          </a:p>
        </p:txBody>
      </p:sp>
      <p:sp>
        <p:nvSpPr>
          <p:cNvPr id="58" name="Rounded Rectangle 57"/>
          <p:cNvSpPr/>
          <p:nvPr/>
        </p:nvSpPr>
        <p:spPr>
          <a:xfrm>
            <a:off x="5806440" y="5010912"/>
            <a:ext cx="2724912" cy="146304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971032" y="5157216"/>
            <a:ext cx="219456" cy="219456"/>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971032" y="5157216"/>
            <a:ext cx="219456" cy="219456"/>
          </a:xfrm>
          <a:prstGeom prst="rect">
            <a:avLst/>
          </a:prstGeom>
          <a:noFill/>
        </p:spPr>
        <p:txBody>
          <a:bodyPr wrap="square" anchor="ctr" lIns="25400" rIns="25400" tIns="25400" bIns="25400">
            <a:spAutoFit/>
          </a:bodyPr>
          <a:lstStyle/>
          <a:p>
            <a:pPr algn="ctr">
              <a:lnSpc>
                <a:spcPct val="106000"/>
              </a:lnSpc>
            </a:pPr>
            <a:r>
              <a:rPr sz="1000" b="1">
                <a:solidFill>
                  <a:srgbClr val="FFFFFF"/>
                </a:solidFill>
                <a:latin typeface="Calibri"/>
              </a:rPr>
              <a:t>5</a:t>
            </a:r>
          </a:p>
        </p:txBody>
      </p:sp>
      <p:sp>
        <p:nvSpPr>
          <p:cNvPr id="61" name="TextBox 60"/>
          <p:cNvSpPr txBox="1"/>
          <p:nvPr/>
        </p:nvSpPr>
        <p:spPr>
          <a:xfrm>
            <a:off x="6263640" y="5148072"/>
            <a:ext cx="2130552" cy="274320"/>
          </a:xfrm>
          <a:prstGeom prst="rect">
            <a:avLst/>
          </a:prstGeom>
          <a:noFill/>
        </p:spPr>
        <p:txBody>
          <a:bodyPr wrap="square" anchor="t" lIns="25400" rIns="25400" tIns="25400" bIns="25400">
            <a:spAutoFit/>
          </a:bodyPr>
          <a:lstStyle/>
          <a:p>
            <a:pPr algn="l">
              <a:lnSpc>
                <a:spcPct val="106000"/>
              </a:lnSpc>
            </a:pPr>
            <a:r>
              <a:rPr sz="1250" b="1">
                <a:solidFill>
                  <a:srgbClr val="B45309"/>
                </a:solidFill>
                <a:latin typeface="Calibri"/>
              </a:rPr>
              <a:t>Comfort is an area</a:t>
            </a:r>
          </a:p>
        </p:txBody>
      </p:sp>
      <p:sp>
        <p:nvSpPr>
          <p:cNvPr id="62" name="TextBox 61"/>
          <p:cNvSpPr txBox="1"/>
          <p:nvPr/>
        </p:nvSpPr>
        <p:spPr>
          <a:xfrm>
            <a:off x="5989320" y="5468112"/>
            <a:ext cx="2359152" cy="914400"/>
          </a:xfrm>
          <a:prstGeom prst="rect">
            <a:avLst/>
          </a:prstGeom>
          <a:noFill/>
        </p:spPr>
        <p:txBody>
          <a:bodyPr wrap="square" anchor="t" lIns="25400" rIns="25400" tIns="25400" bIns="25400">
            <a:spAutoFit/>
          </a:bodyPr>
          <a:lstStyle/>
          <a:p>
            <a:pPr algn="l">
              <a:lnSpc>
                <a:spcPct val="112000"/>
              </a:lnSpc>
            </a:pPr>
            <a:r>
              <a:rPr sz="1000" b="0">
                <a:solidFill>
                  <a:srgbClr val="475569"/>
                </a:solidFill>
                <a:latin typeface="Calibri"/>
              </a:rPr>
              <a:t>The acceptable range of temperature and humidity is drawn straight onto the chart. Supply air must be chosen so the room lands inside that box, not merely at the right temperature.</a:t>
            </a:r>
          </a:p>
        </p:txBody>
      </p:sp>
      <p:sp>
        <p:nvSpPr>
          <p:cNvPr id="63" name="Rounded Rectangle 62"/>
          <p:cNvSpPr/>
          <p:nvPr/>
        </p:nvSpPr>
        <p:spPr>
          <a:xfrm>
            <a:off x="8677656" y="5010912"/>
            <a:ext cx="2724912" cy="146304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842248" y="5157216"/>
            <a:ext cx="219456" cy="219456"/>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842248" y="5157216"/>
            <a:ext cx="219456" cy="219456"/>
          </a:xfrm>
          <a:prstGeom prst="rect">
            <a:avLst/>
          </a:prstGeom>
          <a:noFill/>
        </p:spPr>
        <p:txBody>
          <a:bodyPr wrap="square" anchor="ctr" lIns="25400" rIns="25400" tIns="25400" bIns="25400">
            <a:spAutoFit/>
          </a:bodyPr>
          <a:lstStyle/>
          <a:p>
            <a:pPr algn="ctr">
              <a:lnSpc>
                <a:spcPct val="106000"/>
              </a:lnSpc>
            </a:pPr>
            <a:r>
              <a:rPr sz="1000" b="1">
                <a:solidFill>
                  <a:srgbClr val="FFFFFF"/>
                </a:solidFill>
                <a:latin typeface="Calibri"/>
              </a:rPr>
              <a:t>6</a:t>
            </a:r>
          </a:p>
        </p:txBody>
      </p:sp>
      <p:sp>
        <p:nvSpPr>
          <p:cNvPr id="66" name="TextBox 65"/>
          <p:cNvSpPr txBox="1"/>
          <p:nvPr/>
        </p:nvSpPr>
        <p:spPr>
          <a:xfrm>
            <a:off x="9134856" y="5148072"/>
            <a:ext cx="2130552" cy="274320"/>
          </a:xfrm>
          <a:prstGeom prst="rect">
            <a:avLst/>
          </a:prstGeom>
          <a:noFill/>
        </p:spPr>
        <p:txBody>
          <a:bodyPr wrap="square" anchor="t" lIns="25400" rIns="25400" tIns="25400" bIns="25400">
            <a:spAutoFit/>
          </a:bodyPr>
          <a:lstStyle/>
          <a:p>
            <a:pPr algn="l">
              <a:lnSpc>
                <a:spcPct val="106000"/>
              </a:lnSpc>
            </a:pPr>
            <a:r>
              <a:rPr sz="1250" b="1">
                <a:solidFill>
                  <a:srgbClr val="0F172A"/>
                </a:solidFill>
                <a:latin typeface="Calibri"/>
              </a:rPr>
              <a:t>Faults show as bad geometry</a:t>
            </a:r>
          </a:p>
        </p:txBody>
      </p:sp>
      <p:sp>
        <p:nvSpPr>
          <p:cNvPr id="67" name="TextBox 66"/>
          <p:cNvSpPr txBox="1"/>
          <p:nvPr/>
        </p:nvSpPr>
        <p:spPr>
          <a:xfrm>
            <a:off x="8860536" y="5468112"/>
            <a:ext cx="2359152" cy="914400"/>
          </a:xfrm>
          <a:prstGeom prst="rect">
            <a:avLst/>
          </a:prstGeom>
          <a:noFill/>
        </p:spPr>
        <p:txBody>
          <a:bodyPr wrap="square" anchor="t" lIns="25400" rIns="25400" tIns="25400" bIns="25400">
            <a:spAutoFit/>
          </a:bodyPr>
          <a:lstStyle/>
          <a:p>
            <a:pPr algn="l">
              <a:lnSpc>
                <a:spcPct val="112000"/>
              </a:lnSpc>
            </a:pPr>
            <a:r>
              <a:rPr sz="1000" b="0">
                <a:solidFill>
                  <a:srgbClr val="475569"/>
                </a:solidFill>
                <a:latin typeface="Calibri"/>
              </a:rPr>
              <a:t>If the mixed-air dot is not on the line between outside and return air, something is lying — a stuck damper or a drifting sensor. The picture catches what alarm limits miss.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THE GAP</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Why traditional BMS never adopted the chart</a:t>
            </a:r>
          </a:p>
        </p:txBody>
      </p:sp>
      <p:sp>
        <p:nvSpPr>
          <p:cNvPr id="6" name="Rounded Rectangle 5"/>
          <p:cNvSpPr/>
          <p:nvPr/>
        </p:nvSpPr>
        <p:spPr>
          <a:xfrm>
            <a:off x="640080" y="1828800"/>
            <a:ext cx="3566160" cy="1874519"/>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828800"/>
            <a:ext cx="3566160" cy="914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029968"/>
            <a:ext cx="3108960" cy="502920"/>
          </a:xfrm>
          <a:prstGeom prst="rect">
            <a:avLst/>
          </a:prstGeom>
          <a:noFill/>
        </p:spPr>
        <p:txBody>
          <a:bodyPr wrap="square" anchor="t" lIns="25400" rIns="25400" tIns="25400" bIns="25400">
            <a:spAutoFit/>
          </a:bodyPr>
          <a:lstStyle/>
          <a:p>
            <a:pPr algn="l">
              <a:lnSpc>
                <a:spcPct val="106000"/>
              </a:lnSpc>
            </a:pPr>
            <a:r>
              <a:rPr sz="1450" b="1">
                <a:solidFill>
                  <a:srgbClr val="1D4ED8"/>
                </a:solidFill>
                <a:latin typeface="Calibri"/>
              </a:rPr>
              <a:t>Controls think in single numbers</a:t>
            </a:r>
          </a:p>
        </p:txBody>
      </p:sp>
      <p:sp>
        <p:nvSpPr>
          <p:cNvPr id="9" name="TextBox 8"/>
          <p:cNvSpPr txBox="1"/>
          <p:nvPr/>
        </p:nvSpPr>
        <p:spPr>
          <a:xfrm>
            <a:off x="877824" y="2578608"/>
            <a:ext cx="3090672" cy="1033271"/>
          </a:xfrm>
          <a:prstGeom prst="rect">
            <a:avLst/>
          </a:prstGeom>
          <a:noFill/>
        </p:spPr>
        <p:txBody>
          <a:bodyPr wrap="square" anchor="t" lIns="25400" rIns="25400" tIns="25400" bIns="25400">
            <a:spAutoFit/>
          </a:bodyPr>
          <a:lstStyle/>
          <a:p>
            <a:pPr algn="l">
              <a:lnSpc>
                <a:spcPct val="114000"/>
              </a:lnSpc>
            </a:pPr>
            <a:r>
              <a:rPr sz="1150" b="0">
                <a:solidFill>
                  <a:srgbClr val="475569"/>
                </a:solidFill>
                <a:latin typeface="Calibri"/>
              </a:rPr>
              <a:t>A BMS is assembled from loops that each watch ONE value — a temperature, a pressure. A state point needs two readings judged together; classic controls had no concept of a two-dimensional air state.</a:t>
            </a:r>
          </a:p>
        </p:txBody>
      </p:sp>
      <p:sp>
        <p:nvSpPr>
          <p:cNvPr id="10" name="Rounded Rectangle 9"/>
          <p:cNvSpPr/>
          <p:nvPr/>
        </p:nvSpPr>
        <p:spPr>
          <a:xfrm>
            <a:off x="4389120" y="1828800"/>
            <a:ext cx="3566160" cy="1874519"/>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828800"/>
            <a:ext cx="3566160" cy="91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29968"/>
            <a:ext cx="3108960" cy="502920"/>
          </a:xfrm>
          <a:prstGeom prst="rect">
            <a:avLst/>
          </a:prstGeom>
          <a:noFill/>
        </p:spPr>
        <p:txBody>
          <a:bodyPr wrap="square" anchor="t" lIns="25400" rIns="25400" tIns="25400" bIns="25400">
            <a:spAutoFit/>
          </a:bodyPr>
          <a:lstStyle/>
          <a:p>
            <a:pPr algn="l">
              <a:lnSpc>
                <a:spcPct val="106000"/>
              </a:lnSpc>
            </a:pPr>
            <a:r>
              <a:rPr sz="1450" b="1">
                <a:solidFill>
                  <a:srgbClr val="047857"/>
                </a:solidFill>
                <a:latin typeface="Calibri"/>
              </a:rPr>
              <a:t>The sensors often aren't there</a:t>
            </a:r>
          </a:p>
        </p:txBody>
      </p:sp>
      <p:sp>
        <p:nvSpPr>
          <p:cNvPr id="13" name="TextBox 12"/>
          <p:cNvSpPr txBox="1"/>
          <p:nvPr/>
        </p:nvSpPr>
        <p:spPr>
          <a:xfrm>
            <a:off x="4626864" y="2578608"/>
            <a:ext cx="3090672" cy="1033271"/>
          </a:xfrm>
          <a:prstGeom prst="rect">
            <a:avLst/>
          </a:prstGeom>
          <a:noFill/>
        </p:spPr>
        <p:txBody>
          <a:bodyPr wrap="square" anchor="t" lIns="25400" rIns="25400" tIns="25400" bIns="25400">
            <a:spAutoFit/>
          </a:bodyPr>
          <a:lstStyle/>
          <a:p>
            <a:pPr algn="l">
              <a:lnSpc>
                <a:spcPct val="114000"/>
              </a:lnSpc>
            </a:pPr>
            <a:r>
              <a:rPr sz="1150" b="0">
                <a:solidFill>
                  <a:srgbClr val="475569"/>
                </a:solidFill>
                <a:latin typeface="Calibri"/>
              </a:rPr>
              <a:t>You need temperature AND humidity at the same place. Many units measure only dry-bulb on outside, mixed and return air — extra humidity sensors mean extra cost, wiring and calibration drift.</a:t>
            </a:r>
          </a:p>
        </p:txBody>
      </p:sp>
      <p:sp>
        <p:nvSpPr>
          <p:cNvPr id="14" name="Rounded Rectangle 13"/>
          <p:cNvSpPr/>
          <p:nvPr/>
        </p:nvSpPr>
        <p:spPr>
          <a:xfrm>
            <a:off x="8138160" y="1828800"/>
            <a:ext cx="3566160" cy="1874519"/>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828800"/>
            <a:ext cx="3566160" cy="91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4" y="2029968"/>
            <a:ext cx="3108960" cy="502920"/>
          </a:xfrm>
          <a:prstGeom prst="rect">
            <a:avLst/>
          </a:prstGeom>
          <a:noFill/>
        </p:spPr>
        <p:txBody>
          <a:bodyPr wrap="square" anchor="t" lIns="25400" rIns="25400" tIns="25400" bIns="25400">
            <a:spAutoFit/>
          </a:bodyPr>
          <a:lstStyle/>
          <a:p>
            <a:pPr algn="l">
              <a:lnSpc>
                <a:spcPct val="106000"/>
              </a:lnSpc>
            </a:pPr>
            <a:r>
              <a:rPr sz="1450" b="1">
                <a:solidFill>
                  <a:srgbClr val="B45309"/>
                </a:solidFill>
                <a:latin typeface="Calibri"/>
              </a:rPr>
              <a:t>The maths was too expensive</a:t>
            </a:r>
          </a:p>
        </p:txBody>
      </p:sp>
      <p:sp>
        <p:nvSpPr>
          <p:cNvPr id="17" name="TextBox 16"/>
          <p:cNvSpPr txBox="1"/>
          <p:nvPr/>
        </p:nvSpPr>
        <p:spPr>
          <a:xfrm>
            <a:off x="8375904" y="2578608"/>
            <a:ext cx="3090672" cy="1033271"/>
          </a:xfrm>
          <a:prstGeom prst="rect">
            <a:avLst/>
          </a:prstGeom>
          <a:noFill/>
        </p:spPr>
        <p:txBody>
          <a:bodyPr wrap="square" anchor="t" lIns="25400" rIns="25400" tIns="25400" bIns="25400">
            <a:spAutoFit/>
          </a:bodyPr>
          <a:lstStyle/>
          <a:p>
            <a:pPr algn="l">
              <a:lnSpc>
                <a:spcPct val="114000"/>
              </a:lnSpc>
            </a:pPr>
            <a:r>
              <a:rPr sz="1150" b="0">
                <a:solidFill>
                  <a:srgbClr val="475569"/>
                </a:solidFill>
                <a:latin typeface="Calibri"/>
              </a:rPr>
              <a:t>Moisture content and energy content are non-linear and depend on barometric pressure. Older controllers had very little memory and no floating-point maths, so psychrometrics were left out.</a:t>
            </a:r>
          </a:p>
        </p:txBody>
      </p:sp>
      <p:sp>
        <p:nvSpPr>
          <p:cNvPr id="18" name="Rounded Rectangle 17"/>
          <p:cNvSpPr/>
          <p:nvPr/>
        </p:nvSpPr>
        <p:spPr>
          <a:xfrm>
            <a:off x="640080" y="3886199"/>
            <a:ext cx="3566160" cy="1874519"/>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3886199"/>
            <a:ext cx="3566160" cy="914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087367"/>
            <a:ext cx="3108960" cy="502920"/>
          </a:xfrm>
          <a:prstGeom prst="rect">
            <a:avLst/>
          </a:prstGeom>
          <a:noFill/>
        </p:spPr>
        <p:txBody>
          <a:bodyPr wrap="square" anchor="t" lIns="25400" rIns="25400" tIns="25400" bIns="25400">
            <a:spAutoFit/>
          </a:bodyPr>
          <a:lstStyle/>
          <a:p>
            <a:pPr algn="l">
              <a:lnSpc>
                <a:spcPct val="106000"/>
              </a:lnSpc>
            </a:pPr>
            <a:r>
              <a:rPr sz="1450" b="1">
                <a:solidFill>
                  <a:srgbClr val="1D4ED8"/>
                </a:solidFill>
                <a:latin typeface="Calibri"/>
              </a:rPr>
              <a:t>Graphics couldn't draw it</a:t>
            </a:r>
          </a:p>
        </p:txBody>
      </p:sp>
      <p:sp>
        <p:nvSpPr>
          <p:cNvPr id="21" name="TextBox 20"/>
          <p:cNvSpPr txBox="1"/>
          <p:nvPr/>
        </p:nvSpPr>
        <p:spPr>
          <a:xfrm>
            <a:off x="877824" y="4636007"/>
            <a:ext cx="3090672" cy="1033271"/>
          </a:xfrm>
          <a:prstGeom prst="rect">
            <a:avLst/>
          </a:prstGeom>
          <a:noFill/>
        </p:spPr>
        <p:txBody>
          <a:bodyPr wrap="square" anchor="t" lIns="25400" rIns="25400" tIns="25400" bIns="25400">
            <a:spAutoFit/>
          </a:bodyPr>
          <a:lstStyle/>
          <a:p>
            <a:pPr algn="l">
              <a:lnSpc>
                <a:spcPct val="114000"/>
              </a:lnSpc>
            </a:pPr>
            <a:r>
              <a:rPr sz="1150" b="0">
                <a:solidFill>
                  <a:srgbClr val="475569"/>
                </a:solidFill>
                <a:latin typeface="Calibri"/>
              </a:rPr>
              <a:t>Early front-ends drew simple equipment schematics and time-series trends. A live chart with curves and overlays needs real rendering — so the chart stayed a static page in the design binder.</a:t>
            </a:r>
          </a:p>
        </p:txBody>
      </p:sp>
      <p:sp>
        <p:nvSpPr>
          <p:cNvPr id="22" name="Rounded Rectangle 21"/>
          <p:cNvSpPr/>
          <p:nvPr/>
        </p:nvSpPr>
        <p:spPr>
          <a:xfrm>
            <a:off x="4389120" y="3886199"/>
            <a:ext cx="3566160" cy="1874519"/>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3886199"/>
            <a:ext cx="3566160" cy="91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26864" y="4087367"/>
            <a:ext cx="3108960" cy="502920"/>
          </a:xfrm>
          <a:prstGeom prst="rect">
            <a:avLst/>
          </a:prstGeom>
          <a:noFill/>
        </p:spPr>
        <p:txBody>
          <a:bodyPr wrap="square" anchor="t" lIns="25400" rIns="25400" tIns="25400" bIns="25400">
            <a:spAutoFit/>
          </a:bodyPr>
          <a:lstStyle/>
          <a:p>
            <a:pPr algn="l">
              <a:lnSpc>
                <a:spcPct val="106000"/>
              </a:lnSpc>
            </a:pPr>
            <a:r>
              <a:rPr sz="1450" b="1">
                <a:solidFill>
                  <a:srgbClr val="047857"/>
                </a:solidFill>
                <a:latin typeface="Calibri"/>
              </a:rPr>
              <a:t>Design and operations are separate worlds</a:t>
            </a:r>
          </a:p>
        </p:txBody>
      </p:sp>
      <p:sp>
        <p:nvSpPr>
          <p:cNvPr id="25" name="TextBox 24"/>
          <p:cNvSpPr txBox="1"/>
          <p:nvPr/>
        </p:nvSpPr>
        <p:spPr>
          <a:xfrm>
            <a:off x="4626864" y="4636007"/>
            <a:ext cx="3090672" cy="1033271"/>
          </a:xfrm>
          <a:prstGeom prst="rect">
            <a:avLst/>
          </a:prstGeom>
          <a:noFill/>
        </p:spPr>
        <p:txBody>
          <a:bodyPr wrap="square" anchor="t" lIns="25400" rIns="25400" tIns="25400" bIns="25400">
            <a:spAutoFit/>
          </a:bodyPr>
          <a:lstStyle/>
          <a:p>
            <a:pPr algn="l">
              <a:lnSpc>
                <a:spcPct val="114000"/>
              </a:lnSpc>
            </a:pPr>
            <a:r>
              <a:rPr sz="1150" b="0">
                <a:solidFill>
                  <a:srgbClr val="475569"/>
                </a:solidFill>
                <a:latin typeface="Calibri"/>
              </a:rPr>
              <a:t>The chart is used once, offline, to select equipment. What is handed to the controls contractor is a list of setpoints — not the physics behind them. The reasoning is lost at handover.</a:t>
            </a:r>
          </a:p>
        </p:txBody>
      </p:sp>
      <p:sp>
        <p:nvSpPr>
          <p:cNvPr id="26" name="Rounded Rectangle 25"/>
          <p:cNvSpPr/>
          <p:nvPr/>
        </p:nvSpPr>
        <p:spPr>
          <a:xfrm>
            <a:off x="8138160" y="3886199"/>
            <a:ext cx="3566160" cy="1874519"/>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38160" y="3886199"/>
            <a:ext cx="3566160" cy="91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75904" y="4087367"/>
            <a:ext cx="3108960" cy="502920"/>
          </a:xfrm>
          <a:prstGeom prst="rect">
            <a:avLst/>
          </a:prstGeom>
          <a:noFill/>
        </p:spPr>
        <p:txBody>
          <a:bodyPr wrap="square" anchor="t" lIns="25400" rIns="25400" tIns="25400" bIns="25400">
            <a:spAutoFit/>
          </a:bodyPr>
          <a:lstStyle/>
          <a:p>
            <a:pPr algn="l">
              <a:lnSpc>
                <a:spcPct val="106000"/>
              </a:lnSpc>
            </a:pPr>
            <a:r>
              <a:rPr sz="1450" b="1">
                <a:solidFill>
                  <a:srgbClr val="B45309"/>
                </a:solidFill>
                <a:latin typeface="Calibri"/>
              </a:rPr>
              <a:t>The simpler option was allowed</a:t>
            </a:r>
          </a:p>
        </p:txBody>
      </p:sp>
      <p:sp>
        <p:nvSpPr>
          <p:cNvPr id="29" name="TextBox 28"/>
          <p:cNvSpPr txBox="1"/>
          <p:nvPr/>
        </p:nvSpPr>
        <p:spPr>
          <a:xfrm>
            <a:off x="8375904" y="4636007"/>
            <a:ext cx="3090672" cy="1033271"/>
          </a:xfrm>
          <a:prstGeom prst="rect">
            <a:avLst/>
          </a:prstGeom>
          <a:noFill/>
        </p:spPr>
        <p:txBody>
          <a:bodyPr wrap="square" anchor="t" lIns="25400" rIns="25400" tIns="25400" bIns="25400">
            <a:spAutoFit/>
          </a:bodyPr>
          <a:lstStyle/>
          <a:p>
            <a:pPr algn="l">
              <a:lnSpc>
                <a:spcPct val="114000"/>
              </a:lnSpc>
            </a:pPr>
            <a:r>
              <a:rPr sz="1150" b="0">
                <a:solidFill>
                  <a:srgbClr val="475569"/>
                </a:solidFill>
                <a:latin typeface="Calibri"/>
              </a:rPr>
              <a:t>Codes permit dry-bulb-only economizer switching, so designs avoided humidity sensing that was historically unreliable. The easier, compliant path quietly became the default.</a:t>
            </a:r>
          </a:p>
        </p:txBody>
      </p:sp>
      <p:sp>
        <p:nvSpPr>
          <p:cNvPr id="30" name="Rounded Rectangle 29"/>
          <p:cNvSpPr/>
          <p:nvPr/>
        </p:nvSpPr>
        <p:spPr>
          <a:xfrm>
            <a:off x="640080" y="5806440"/>
            <a:ext cx="10908792" cy="777240"/>
          </a:xfrm>
          <a:prstGeom prst="roundRect">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5897880"/>
            <a:ext cx="10424160" cy="274320"/>
          </a:xfrm>
          <a:prstGeom prst="rect">
            <a:avLst/>
          </a:prstGeom>
          <a:noFill/>
        </p:spPr>
        <p:txBody>
          <a:bodyPr wrap="square" anchor="t" lIns="25400" rIns="25400" tIns="25400" bIns="25400">
            <a:spAutoFit/>
          </a:bodyPr>
          <a:lstStyle/>
          <a:p>
            <a:pPr algn="l">
              <a:lnSpc>
                <a:spcPct val="106000"/>
              </a:lnSpc>
            </a:pPr>
            <a:r>
              <a:rPr sz="1300" b="1">
                <a:solidFill>
                  <a:srgbClr val="B45309"/>
                </a:solidFill>
                <a:latin typeface="Calibri"/>
              </a:rPr>
              <a:t>The consequence</a:t>
            </a:r>
          </a:p>
        </p:txBody>
      </p:sp>
      <p:sp>
        <p:nvSpPr>
          <p:cNvPr id="32" name="TextBox 31"/>
          <p:cNvSpPr txBox="1"/>
          <p:nvPr/>
        </p:nvSpPr>
        <p:spPr>
          <a:xfrm>
            <a:off x="896112" y="6163056"/>
            <a:ext cx="10515600" cy="365760"/>
          </a:xfrm>
          <a:prstGeom prst="rect">
            <a:avLst/>
          </a:prstGeom>
          <a:noFill/>
        </p:spPr>
        <p:txBody>
          <a:bodyPr wrap="square" anchor="t" lIns="25400" rIns="25400" tIns="25400" bIns="25400">
            <a:spAutoFit/>
          </a:bodyPr>
          <a:lstStyle/>
          <a:p>
            <a:pPr algn="l">
              <a:lnSpc>
                <a:spcPct val="106000"/>
              </a:lnSpc>
            </a:pPr>
            <a:r>
              <a:rPr sz="1300" b="0">
                <a:solidFill>
                  <a:srgbClr val="0F172A"/>
                </a:solidFill>
                <a:latin typeface="Calibri"/>
              </a:rPr>
              <a:t>Operators end up diagnosing a TWO-DIMENSIONAL problem — heat AND moisture — by staring at separate one-dimensional trend lines. The information is there; the picture is 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THE RULEBOOKS</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Four ASHRAE standards, in one line each</a:t>
            </a:r>
          </a:p>
        </p:txBody>
      </p:sp>
      <p:sp>
        <p:nvSpPr>
          <p:cNvPr id="6" name="Rounded Rectangle 5"/>
          <p:cNvSpPr/>
          <p:nvPr/>
        </p:nvSpPr>
        <p:spPr>
          <a:xfrm>
            <a:off x="640080" y="1965960"/>
            <a:ext cx="10908792" cy="932688"/>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965960"/>
            <a:ext cx="2286000" cy="932688"/>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920240" cy="932688"/>
          </a:xfrm>
          <a:prstGeom prst="rect">
            <a:avLst/>
          </a:prstGeom>
          <a:noFill/>
        </p:spPr>
        <p:txBody>
          <a:bodyPr wrap="square" anchor="ctr" lIns="25400" rIns="25400" tIns="25400" bIns="25400">
            <a:spAutoFit/>
          </a:bodyPr>
          <a:lstStyle/>
          <a:p>
            <a:pPr algn="ctr">
              <a:lnSpc>
                <a:spcPct val="106000"/>
              </a:lnSpc>
            </a:pPr>
            <a:r>
              <a:rPr sz="1800" b="1">
                <a:solidFill>
                  <a:srgbClr val="FFFFFF"/>
                </a:solidFill>
                <a:latin typeface="Calibri"/>
              </a:rPr>
              <a:t>ASHRAE 55</a:t>
            </a:r>
          </a:p>
        </p:txBody>
      </p:sp>
      <p:sp>
        <p:nvSpPr>
          <p:cNvPr id="9" name="TextBox 8"/>
          <p:cNvSpPr txBox="1"/>
          <p:nvPr/>
        </p:nvSpPr>
        <p:spPr>
          <a:xfrm>
            <a:off x="3154680" y="1965960"/>
            <a:ext cx="2011680" cy="932688"/>
          </a:xfrm>
          <a:prstGeom prst="rect">
            <a:avLst/>
          </a:prstGeom>
          <a:noFill/>
        </p:spPr>
        <p:txBody>
          <a:bodyPr wrap="square" anchor="ctr" lIns="25400" rIns="25400" tIns="25400" bIns="25400">
            <a:spAutoFit/>
          </a:bodyPr>
          <a:lstStyle/>
          <a:p>
            <a:pPr algn="l">
              <a:lnSpc>
                <a:spcPct val="106000"/>
              </a:lnSpc>
            </a:pPr>
            <a:r>
              <a:rPr sz="1600" b="1">
                <a:solidFill>
                  <a:srgbClr val="B45309"/>
                </a:solidFill>
                <a:latin typeface="Calibri"/>
              </a:rPr>
              <a:t>Comfort</a:t>
            </a:r>
          </a:p>
        </p:txBody>
      </p:sp>
      <p:sp>
        <p:nvSpPr>
          <p:cNvPr id="10" name="TextBox 9"/>
          <p:cNvSpPr txBox="1"/>
          <p:nvPr/>
        </p:nvSpPr>
        <p:spPr>
          <a:xfrm>
            <a:off x="5212080" y="1965960"/>
            <a:ext cx="6153912" cy="932688"/>
          </a:xfrm>
          <a:prstGeom prst="rect">
            <a:avLst/>
          </a:prstGeom>
          <a:noFill/>
        </p:spPr>
        <p:txBody>
          <a:bodyPr wrap="square" anchor="ctr" lIns="25400" rIns="25400" tIns="25400" bIns="25400">
            <a:spAutoFit/>
          </a:bodyPr>
          <a:lstStyle/>
          <a:p>
            <a:pPr algn="l">
              <a:lnSpc>
                <a:spcPct val="106000"/>
              </a:lnSpc>
            </a:pPr>
            <a:r>
              <a:rPr sz="1550" b="0">
                <a:solidFill>
                  <a:srgbClr val="475569"/>
                </a:solidFill>
                <a:latin typeface="Calibri"/>
              </a:rPr>
              <a:t>Will people feel comfortable?</a:t>
            </a:r>
          </a:p>
        </p:txBody>
      </p:sp>
      <p:sp>
        <p:nvSpPr>
          <p:cNvPr id="11" name="Rounded Rectangle 10"/>
          <p:cNvSpPr/>
          <p:nvPr/>
        </p:nvSpPr>
        <p:spPr>
          <a:xfrm>
            <a:off x="640080" y="3008376"/>
            <a:ext cx="10908792" cy="932688"/>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3008376"/>
            <a:ext cx="2286000" cy="932688"/>
          </a:xfrm>
          <a:prstGeom prst="round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008376"/>
            <a:ext cx="1920240" cy="932688"/>
          </a:xfrm>
          <a:prstGeom prst="rect">
            <a:avLst/>
          </a:prstGeom>
          <a:noFill/>
        </p:spPr>
        <p:txBody>
          <a:bodyPr wrap="square" anchor="ctr" lIns="25400" rIns="25400" tIns="25400" bIns="25400">
            <a:spAutoFit/>
          </a:bodyPr>
          <a:lstStyle/>
          <a:p>
            <a:pPr algn="ctr">
              <a:lnSpc>
                <a:spcPct val="106000"/>
              </a:lnSpc>
            </a:pPr>
            <a:r>
              <a:rPr sz="1800" b="1">
                <a:solidFill>
                  <a:srgbClr val="FFFFFF"/>
                </a:solidFill>
                <a:latin typeface="Calibri"/>
              </a:rPr>
              <a:t>ASHRAE 62.1</a:t>
            </a:r>
          </a:p>
        </p:txBody>
      </p:sp>
      <p:sp>
        <p:nvSpPr>
          <p:cNvPr id="14" name="TextBox 13"/>
          <p:cNvSpPr txBox="1"/>
          <p:nvPr/>
        </p:nvSpPr>
        <p:spPr>
          <a:xfrm>
            <a:off x="3154680" y="3008376"/>
            <a:ext cx="2011680" cy="932688"/>
          </a:xfrm>
          <a:prstGeom prst="rect">
            <a:avLst/>
          </a:prstGeom>
          <a:noFill/>
        </p:spPr>
        <p:txBody>
          <a:bodyPr wrap="square" anchor="ctr" lIns="25400" rIns="25400" tIns="25400" bIns="25400">
            <a:spAutoFit/>
          </a:bodyPr>
          <a:lstStyle/>
          <a:p>
            <a:pPr algn="l">
              <a:lnSpc>
                <a:spcPct val="106000"/>
              </a:lnSpc>
            </a:pPr>
            <a:r>
              <a:rPr sz="1600" b="1">
                <a:solidFill>
                  <a:srgbClr val="047857"/>
                </a:solidFill>
                <a:latin typeface="Calibri"/>
              </a:rPr>
              <a:t>Fresh air</a:t>
            </a:r>
          </a:p>
        </p:txBody>
      </p:sp>
      <p:sp>
        <p:nvSpPr>
          <p:cNvPr id="15" name="TextBox 14"/>
          <p:cNvSpPr txBox="1"/>
          <p:nvPr/>
        </p:nvSpPr>
        <p:spPr>
          <a:xfrm>
            <a:off x="5212080" y="3008376"/>
            <a:ext cx="6153912" cy="932688"/>
          </a:xfrm>
          <a:prstGeom prst="rect">
            <a:avLst/>
          </a:prstGeom>
          <a:noFill/>
        </p:spPr>
        <p:txBody>
          <a:bodyPr wrap="square" anchor="ctr" lIns="25400" rIns="25400" tIns="25400" bIns="25400">
            <a:spAutoFit/>
          </a:bodyPr>
          <a:lstStyle/>
          <a:p>
            <a:pPr algn="l">
              <a:lnSpc>
                <a:spcPct val="106000"/>
              </a:lnSpc>
            </a:pPr>
            <a:r>
              <a:rPr sz="1550" b="0">
                <a:solidFill>
                  <a:srgbClr val="475569"/>
                </a:solidFill>
                <a:latin typeface="Calibri"/>
              </a:rPr>
              <a:t>Is there enough outside air to stay healthy?</a:t>
            </a:r>
          </a:p>
        </p:txBody>
      </p:sp>
      <p:sp>
        <p:nvSpPr>
          <p:cNvPr id="16" name="Rounded Rectangle 15"/>
          <p:cNvSpPr/>
          <p:nvPr/>
        </p:nvSpPr>
        <p:spPr>
          <a:xfrm>
            <a:off x="640080" y="4050792"/>
            <a:ext cx="10908792" cy="932688"/>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4050792"/>
            <a:ext cx="2286000" cy="932688"/>
          </a:xfrm>
          <a:prstGeom prst="round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050792"/>
            <a:ext cx="1920240" cy="932688"/>
          </a:xfrm>
          <a:prstGeom prst="rect">
            <a:avLst/>
          </a:prstGeom>
          <a:noFill/>
        </p:spPr>
        <p:txBody>
          <a:bodyPr wrap="square" anchor="ctr" lIns="25400" rIns="25400" tIns="25400" bIns="25400">
            <a:spAutoFit/>
          </a:bodyPr>
          <a:lstStyle/>
          <a:p>
            <a:pPr algn="ctr">
              <a:lnSpc>
                <a:spcPct val="106000"/>
              </a:lnSpc>
            </a:pPr>
            <a:r>
              <a:rPr sz="1800" b="1">
                <a:solidFill>
                  <a:srgbClr val="FFFFFF"/>
                </a:solidFill>
                <a:latin typeface="Calibri"/>
              </a:rPr>
              <a:t>ASHRAE 90.1</a:t>
            </a:r>
          </a:p>
        </p:txBody>
      </p:sp>
      <p:sp>
        <p:nvSpPr>
          <p:cNvPr id="19" name="TextBox 18"/>
          <p:cNvSpPr txBox="1"/>
          <p:nvPr/>
        </p:nvSpPr>
        <p:spPr>
          <a:xfrm>
            <a:off x="3154680" y="4050792"/>
            <a:ext cx="2011680" cy="932688"/>
          </a:xfrm>
          <a:prstGeom prst="rect">
            <a:avLst/>
          </a:prstGeom>
          <a:noFill/>
        </p:spPr>
        <p:txBody>
          <a:bodyPr wrap="square" anchor="ctr" lIns="25400" rIns="25400" tIns="25400" bIns="25400">
            <a:spAutoFit/>
          </a:bodyPr>
          <a:lstStyle/>
          <a:p>
            <a:pPr algn="l">
              <a:lnSpc>
                <a:spcPct val="106000"/>
              </a:lnSpc>
            </a:pPr>
            <a:r>
              <a:rPr sz="1600" b="1">
                <a:solidFill>
                  <a:srgbClr val="1D4ED8"/>
                </a:solidFill>
                <a:latin typeface="Calibri"/>
              </a:rPr>
              <a:t>Energy</a:t>
            </a:r>
          </a:p>
        </p:txBody>
      </p:sp>
      <p:sp>
        <p:nvSpPr>
          <p:cNvPr id="20" name="TextBox 19"/>
          <p:cNvSpPr txBox="1"/>
          <p:nvPr/>
        </p:nvSpPr>
        <p:spPr>
          <a:xfrm>
            <a:off x="5212080" y="4050792"/>
            <a:ext cx="6153912" cy="932688"/>
          </a:xfrm>
          <a:prstGeom prst="rect">
            <a:avLst/>
          </a:prstGeom>
          <a:noFill/>
        </p:spPr>
        <p:txBody>
          <a:bodyPr wrap="square" anchor="ctr" lIns="25400" rIns="25400" tIns="25400" bIns="25400">
            <a:spAutoFit/>
          </a:bodyPr>
          <a:lstStyle/>
          <a:p>
            <a:pPr algn="l">
              <a:lnSpc>
                <a:spcPct val="106000"/>
              </a:lnSpc>
            </a:pPr>
            <a:r>
              <a:rPr sz="1550" b="0">
                <a:solidFill>
                  <a:srgbClr val="475569"/>
                </a:solidFill>
                <a:latin typeface="Calibri"/>
              </a:rPr>
              <a:t>Are we doing it without wasting energy?</a:t>
            </a:r>
          </a:p>
        </p:txBody>
      </p:sp>
      <p:sp>
        <p:nvSpPr>
          <p:cNvPr id="21" name="Rounded Rectangle 20"/>
          <p:cNvSpPr/>
          <p:nvPr/>
        </p:nvSpPr>
        <p:spPr>
          <a:xfrm>
            <a:off x="640080" y="5093208"/>
            <a:ext cx="10908792" cy="932688"/>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5093208"/>
            <a:ext cx="2286000" cy="93268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093208"/>
            <a:ext cx="1920240" cy="932688"/>
          </a:xfrm>
          <a:prstGeom prst="rect">
            <a:avLst/>
          </a:prstGeom>
          <a:noFill/>
        </p:spPr>
        <p:txBody>
          <a:bodyPr wrap="square" anchor="ctr" lIns="25400" rIns="25400" tIns="25400" bIns="25400">
            <a:spAutoFit/>
          </a:bodyPr>
          <a:lstStyle/>
          <a:p>
            <a:pPr algn="ctr">
              <a:lnSpc>
                <a:spcPct val="106000"/>
              </a:lnSpc>
            </a:pPr>
            <a:r>
              <a:rPr sz="1800" b="1">
                <a:solidFill>
                  <a:srgbClr val="FFFFFF"/>
                </a:solidFill>
                <a:latin typeface="Calibri"/>
              </a:rPr>
              <a:t>Guideline 36</a:t>
            </a:r>
          </a:p>
        </p:txBody>
      </p:sp>
      <p:sp>
        <p:nvSpPr>
          <p:cNvPr id="24" name="TextBox 23"/>
          <p:cNvSpPr txBox="1"/>
          <p:nvPr/>
        </p:nvSpPr>
        <p:spPr>
          <a:xfrm>
            <a:off x="3154680" y="5093208"/>
            <a:ext cx="2011680" cy="932688"/>
          </a:xfrm>
          <a:prstGeom prst="rect">
            <a:avLst/>
          </a:prstGeom>
          <a:noFill/>
        </p:spPr>
        <p:txBody>
          <a:bodyPr wrap="square" anchor="ctr" lIns="25400" rIns="25400" tIns="25400" bIns="25400">
            <a:spAutoFit/>
          </a:bodyPr>
          <a:lstStyle/>
          <a:p>
            <a:pPr algn="l">
              <a:lnSpc>
                <a:spcPct val="106000"/>
              </a:lnSpc>
            </a:pPr>
            <a:r>
              <a:rPr sz="1600" b="1">
                <a:solidFill>
                  <a:srgbClr val="0F172A"/>
                </a:solidFill>
                <a:latin typeface="Calibri"/>
              </a:rPr>
              <a:t>The referee</a:t>
            </a:r>
          </a:p>
        </p:txBody>
      </p:sp>
      <p:sp>
        <p:nvSpPr>
          <p:cNvPr id="25" name="TextBox 24"/>
          <p:cNvSpPr txBox="1"/>
          <p:nvPr/>
        </p:nvSpPr>
        <p:spPr>
          <a:xfrm>
            <a:off x="5212080" y="5093208"/>
            <a:ext cx="6153912" cy="932688"/>
          </a:xfrm>
          <a:prstGeom prst="rect">
            <a:avLst/>
          </a:prstGeom>
          <a:noFill/>
        </p:spPr>
        <p:txBody>
          <a:bodyPr wrap="square" anchor="ctr" lIns="25400" rIns="25400" tIns="25400" bIns="25400">
            <a:spAutoFit/>
          </a:bodyPr>
          <a:lstStyle/>
          <a:p>
            <a:pPr algn="l">
              <a:lnSpc>
                <a:spcPct val="106000"/>
              </a:lnSpc>
            </a:pPr>
            <a:r>
              <a:rPr sz="1550" b="0">
                <a:solidFill>
                  <a:srgbClr val="475569"/>
                </a:solidFill>
                <a:latin typeface="Calibri"/>
              </a:rPr>
              <a:t>How should the equipment be run to hit all three?</a:t>
            </a:r>
          </a:p>
        </p:txBody>
      </p:sp>
      <p:sp>
        <p:nvSpPr>
          <p:cNvPr id="26" name="Rounded Rectangle 25"/>
          <p:cNvSpPr/>
          <p:nvPr/>
        </p:nvSpPr>
        <p:spPr>
          <a:xfrm>
            <a:off x="640080" y="6172200"/>
            <a:ext cx="10908792" cy="548640"/>
          </a:xfrm>
          <a:prstGeom prst="roundRect">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6236208"/>
            <a:ext cx="10424160" cy="411480"/>
          </a:xfrm>
          <a:prstGeom prst="rect">
            <a:avLst/>
          </a:prstGeom>
          <a:noFill/>
        </p:spPr>
        <p:txBody>
          <a:bodyPr wrap="square" anchor="ctr" lIns="25400" rIns="25400" tIns="25400" bIns="25400">
            <a:spAutoFit/>
          </a:bodyPr>
          <a:lstStyle/>
          <a:p>
            <a:pPr algn="l">
              <a:lnSpc>
                <a:spcPct val="106000"/>
              </a:lnSpc>
            </a:pPr>
            <a:r>
              <a:rPr sz="1350" b="0">
                <a:solidFill>
                  <a:srgbClr val="0F172A"/>
                </a:solidFill>
                <a:latin typeface="Calibri"/>
              </a:rPr>
              <a:t>Comfort and fresh air push toward MORE conditioning; energy pushes toward LESS. Guideline 36 is the rulebook that settles the argument.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THE BIG IDEA</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One sheet — every rulebook draws on it</a:t>
            </a:r>
          </a:p>
        </p:txBody>
      </p:sp>
      <p:sp>
        <p:nvSpPr>
          <p:cNvPr id="6" name="Rounded Rectangle 5"/>
          <p:cNvSpPr/>
          <p:nvPr/>
        </p:nvSpPr>
        <p:spPr>
          <a:xfrm>
            <a:off x="4343400" y="1965960"/>
            <a:ext cx="3520440" cy="3566160"/>
          </a:xfrm>
          <a:prstGeom prst="roundRect">
            <a:avLst/>
          </a:prstGeom>
          <a:solidFill>
            <a:srgbClr val="FFFF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34840" y="2103120"/>
            <a:ext cx="3337560" cy="320040"/>
          </a:xfrm>
          <a:prstGeom prst="rect">
            <a:avLst/>
          </a:prstGeom>
          <a:noFill/>
        </p:spPr>
        <p:txBody>
          <a:bodyPr wrap="square" anchor="t" lIns="25400" rIns="25400" tIns="25400" bIns="25400">
            <a:spAutoFit/>
          </a:bodyPr>
          <a:lstStyle/>
          <a:p>
            <a:pPr algn="ctr">
              <a:lnSpc>
                <a:spcPct val="106000"/>
              </a:lnSpc>
            </a:pPr>
            <a:r>
              <a:rPr sz="1600" b="1">
                <a:solidFill>
                  <a:srgbClr val="1D4ED8"/>
                </a:solidFill>
                <a:latin typeface="Calibri"/>
              </a:rPr>
              <a:t>The psychrometric chart</a:t>
            </a:r>
          </a:p>
        </p:txBody>
      </p:sp>
      <p:sp>
        <p:nvSpPr>
          <p:cNvPr id="8" name="TextBox 7"/>
          <p:cNvSpPr txBox="1"/>
          <p:nvPr/>
        </p:nvSpPr>
        <p:spPr>
          <a:xfrm>
            <a:off x="4434840" y="2432304"/>
            <a:ext cx="3337560" cy="274320"/>
          </a:xfrm>
          <a:prstGeom prst="rect">
            <a:avLst/>
          </a:prstGeom>
          <a:noFill/>
        </p:spPr>
        <p:txBody>
          <a:bodyPr wrap="square" anchor="t" lIns="25400" rIns="25400" tIns="25400" bIns="25400">
            <a:spAutoFit/>
          </a:bodyPr>
          <a:lstStyle/>
          <a:p>
            <a:pPr algn="ctr">
              <a:lnSpc>
                <a:spcPct val="106000"/>
              </a:lnSpc>
            </a:pPr>
            <a:r>
              <a:rPr sz="1100" b="0">
                <a:solidFill>
                  <a:srgbClr val="64748B"/>
                </a:solidFill>
                <a:latin typeface="Calibri"/>
              </a:rPr>
              <a:t>temperature × moisture — the only two axes</a:t>
            </a:r>
          </a:p>
        </p:txBody>
      </p:sp>
      <p:cxnSp>
        <p:nvCxnSpPr>
          <p:cNvPr id="9" name="Connector 8"/>
          <p:cNvCxnSpPr/>
          <p:nvPr/>
        </p:nvCxnSpPr>
        <p:spPr>
          <a:xfrm>
            <a:off x="4709160" y="4663440"/>
            <a:ext cx="2633472" cy="0"/>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4709160" y="3072383"/>
            <a:ext cx="0" cy="1591057"/>
          </a:xfrm>
          <a:prstGeom prst="line">
            <a:avLst/>
          </a:prstGeom>
          <a:ln w="19050">
            <a:solidFill>
              <a:srgbClr val="94A3B8"/>
            </a:solidFill>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4709160" y="3072383"/>
            <a:ext cx="2073859" cy="1390849"/>
          </a:xfrm>
          <a:custGeom>
            <a:avLst/>
            <a:gdLst/>
            <a:ahLst/>
            <a:cxnLst/>
            <a:rect l="l" t="t" r="r" b="b"/>
            <a:pathLst>
              <a:path w="2073859" h="1390849">
                <a:moveTo>
                  <a:pt x="0" y="1390849"/>
                </a:moveTo>
                <a:lnTo>
                  <a:pt x="329184" y="1304560"/>
                </a:lnTo>
                <a:lnTo>
                  <a:pt x="658368" y="1186398"/>
                </a:lnTo>
                <a:lnTo>
                  <a:pt x="987552" y="1026391"/>
                </a:lnTo>
                <a:lnTo>
                  <a:pt x="1316736" y="811598"/>
                </a:lnTo>
                <a:lnTo>
                  <a:pt x="1645920" y="526004"/>
                </a:lnTo>
                <a:lnTo>
                  <a:pt x="1975104" y="148393"/>
                </a:lnTo>
                <a:lnTo>
                  <a:pt x="2073859" y="0"/>
                </a:lnTo>
              </a:path>
            </a:pathLst>
          </a:custGeom>
          <a:no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25896" y="4027017"/>
            <a:ext cx="395020" cy="318211"/>
          </a:xfrm>
          <a:prstGeom prst="roundRect">
            <a:avLst/>
          </a:prstGeom>
          <a:solidFill>
            <a:srgbClr val="B45309">
              <a:alpha val="18000"/>
            </a:srgbClr>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6289243" y="3708806"/>
            <a:ext cx="592531" cy="461406"/>
          </a:xfrm>
          <a:prstGeom prst="line">
            <a:avLst/>
          </a:prstGeom>
          <a:ln w="22225">
            <a:solidFill>
              <a:srgbClr val="047857"/>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565038" y="4031790"/>
            <a:ext cx="901964" cy="164940"/>
          </a:xfrm>
          <a:prstGeom prst="line">
            <a:avLst/>
          </a:prstGeom>
          <a:ln w="25400">
            <a:solidFill>
              <a:srgbClr val="1D4ED8"/>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836054" y="3663086"/>
            <a:ext cx="91440" cy="91440"/>
          </a:xfrm>
          <a:prstGeom prst="ellipse">
            <a:avLst/>
          </a:prstGeom>
          <a:solidFill>
            <a:srgbClr val="B4530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43523" y="4124492"/>
            <a:ext cx="91440" cy="91440"/>
          </a:xfrm>
          <a:prstGeom prst="ellipse">
            <a:avLst/>
          </a:prstGeom>
          <a:solidFill>
            <a:srgbClr val="04785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21282" y="3986070"/>
            <a:ext cx="91440" cy="91440"/>
          </a:xfrm>
          <a:prstGeom prst="ellipse">
            <a:avLst/>
          </a:prstGeom>
          <a:solidFill>
            <a:srgbClr val="0F172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519318" y="4151010"/>
            <a:ext cx="91440" cy="91440"/>
          </a:xfrm>
          <a:prstGeom prst="ellipse">
            <a:avLst/>
          </a:prstGeom>
          <a:solidFill>
            <a:srgbClr val="1D4ED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4864608"/>
            <a:ext cx="3246120" cy="548640"/>
          </a:xfrm>
          <a:prstGeom prst="rect">
            <a:avLst/>
          </a:prstGeom>
          <a:noFill/>
        </p:spPr>
        <p:txBody>
          <a:bodyPr wrap="square" anchor="t" lIns="25400" rIns="25400" tIns="25400" bIns="25400">
            <a:spAutoFit/>
          </a:bodyPr>
          <a:lstStyle/>
          <a:p>
            <a:pPr algn="ctr">
              <a:lnSpc>
                <a:spcPct val="120000"/>
              </a:lnSpc>
            </a:pPr>
            <a:r>
              <a:rPr sz="1150" b="0">
                <a:solidFill>
                  <a:srgbClr val="475569"/>
                </a:solidFill>
                <a:latin typeface="Calibri"/>
              </a:rPr>
              <a:t>Every requirement around it becomes a shape on THESE SAME AXES.</a:t>
            </a:r>
          </a:p>
        </p:txBody>
      </p:sp>
      <p:sp>
        <p:nvSpPr>
          <p:cNvPr id="20" name="Rounded Rectangle 19"/>
          <p:cNvSpPr/>
          <p:nvPr/>
        </p:nvSpPr>
        <p:spPr>
          <a:xfrm>
            <a:off x="640080" y="1965960"/>
            <a:ext cx="3383280" cy="15544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1965960"/>
            <a:ext cx="3383280" cy="914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2167128"/>
            <a:ext cx="2926080" cy="292608"/>
          </a:xfrm>
          <a:prstGeom prst="rect">
            <a:avLst/>
          </a:prstGeom>
          <a:noFill/>
        </p:spPr>
        <p:txBody>
          <a:bodyPr wrap="square" anchor="t" lIns="25400" rIns="25400" tIns="25400" bIns="25400">
            <a:spAutoFit/>
          </a:bodyPr>
          <a:lstStyle/>
          <a:p>
            <a:pPr algn="l">
              <a:lnSpc>
                <a:spcPct val="106000"/>
              </a:lnSpc>
            </a:pPr>
            <a:r>
              <a:rPr sz="1350" b="1">
                <a:solidFill>
                  <a:srgbClr val="B45309"/>
                </a:solidFill>
                <a:latin typeface="Calibri"/>
              </a:rPr>
              <a:t>ASHRAE 55 draws an AREA</a:t>
            </a:r>
          </a:p>
        </p:txBody>
      </p:sp>
      <p:sp>
        <p:nvSpPr>
          <p:cNvPr id="23" name="TextBox 22"/>
          <p:cNvSpPr txBox="1"/>
          <p:nvPr/>
        </p:nvSpPr>
        <p:spPr>
          <a:xfrm>
            <a:off x="877824" y="2532888"/>
            <a:ext cx="2944368" cy="868680"/>
          </a:xfrm>
          <a:prstGeom prst="rect">
            <a:avLst/>
          </a:prstGeom>
          <a:noFill/>
        </p:spPr>
        <p:txBody>
          <a:bodyPr wrap="square" anchor="t" lIns="25400" rIns="25400" tIns="25400" bIns="25400">
            <a:spAutoFit/>
          </a:bodyPr>
          <a:lstStyle/>
          <a:p>
            <a:pPr algn="l">
              <a:lnSpc>
                <a:spcPct val="115000"/>
              </a:lnSpc>
            </a:pPr>
            <a:r>
              <a:rPr sz="1100" b="0">
                <a:solidFill>
                  <a:srgbClr val="475569"/>
                </a:solidFill>
                <a:latin typeface="Calibri"/>
              </a:rPr>
              <a:t>The comfort zone: the band of temperature and humidity occupants accept. The air-side of the standard becomes a region you must land the room inside.</a:t>
            </a:r>
          </a:p>
        </p:txBody>
      </p:sp>
      <p:sp>
        <p:nvSpPr>
          <p:cNvPr id="24" name="Rounded Rectangle 23"/>
          <p:cNvSpPr/>
          <p:nvPr/>
        </p:nvSpPr>
        <p:spPr>
          <a:xfrm>
            <a:off x="8165592" y="1965960"/>
            <a:ext cx="3383280" cy="15544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65592" y="1965960"/>
            <a:ext cx="3383280" cy="9144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03336" y="2167128"/>
            <a:ext cx="2926080" cy="292608"/>
          </a:xfrm>
          <a:prstGeom prst="rect">
            <a:avLst/>
          </a:prstGeom>
          <a:noFill/>
        </p:spPr>
        <p:txBody>
          <a:bodyPr wrap="square" anchor="t" lIns="25400" rIns="25400" tIns="25400" bIns="25400">
            <a:spAutoFit/>
          </a:bodyPr>
          <a:lstStyle/>
          <a:p>
            <a:pPr algn="l">
              <a:lnSpc>
                <a:spcPct val="106000"/>
              </a:lnSpc>
            </a:pPr>
            <a:r>
              <a:rPr sz="1350" b="1">
                <a:solidFill>
                  <a:srgbClr val="047857"/>
                </a:solidFill>
                <a:latin typeface="Calibri"/>
              </a:rPr>
              <a:t>ASHRAE 62.1 draws a POINT ON A LINE</a:t>
            </a:r>
          </a:p>
        </p:txBody>
      </p:sp>
      <p:sp>
        <p:nvSpPr>
          <p:cNvPr id="27" name="TextBox 26"/>
          <p:cNvSpPr txBox="1"/>
          <p:nvPr/>
        </p:nvSpPr>
        <p:spPr>
          <a:xfrm>
            <a:off x="8403336" y="2532888"/>
            <a:ext cx="2944368" cy="868680"/>
          </a:xfrm>
          <a:prstGeom prst="rect">
            <a:avLst/>
          </a:prstGeom>
          <a:noFill/>
        </p:spPr>
        <p:txBody>
          <a:bodyPr wrap="square" anchor="t" lIns="25400" rIns="25400" tIns="25400" bIns="25400">
            <a:spAutoFit/>
          </a:bodyPr>
          <a:lstStyle/>
          <a:p>
            <a:pPr algn="l">
              <a:lnSpc>
                <a:spcPct val="115000"/>
              </a:lnSpc>
            </a:pPr>
            <a:r>
              <a:rPr sz="1100" b="0">
                <a:solidFill>
                  <a:srgbClr val="475569"/>
                </a:solidFill>
                <a:latin typeface="Calibri"/>
              </a:rPr>
              <a:t>The required outside-air fraction fixes exactly where the mixed-air dot must sit along the line between return and outside air.</a:t>
            </a:r>
          </a:p>
        </p:txBody>
      </p:sp>
      <p:sp>
        <p:nvSpPr>
          <p:cNvPr id="28" name="Rounded Rectangle 27"/>
          <p:cNvSpPr/>
          <p:nvPr/>
        </p:nvSpPr>
        <p:spPr>
          <a:xfrm>
            <a:off x="640080" y="3977639"/>
            <a:ext cx="3383280" cy="15544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3977639"/>
            <a:ext cx="3383280" cy="9144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 y="4178807"/>
            <a:ext cx="2926080" cy="292608"/>
          </a:xfrm>
          <a:prstGeom prst="rect">
            <a:avLst/>
          </a:prstGeom>
          <a:noFill/>
        </p:spPr>
        <p:txBody>
          <a:bodyPr wrap="square" anchor="t" lIns="25400" rIns="25400" tIns="25400" bIns="25400">
            <a:spAutoFit/>
          </a:bodyPr>
          <a:lstStyle/>
          <a:p>
            <a:pPr algn="l">
              <a:lnSpc>
                <a:spcPct val="106000"/>
              </a:lnSpc>
            </a:pPr>
            <a:r>
              <a:rPr sz="1350" b="1">
                <a:solidFill>
                  <a:srgbClr val="1D4ED8"/>
                </a:solidFill>
                <a:latin typeface="Calibri"/>
              </a:rPr>
              <a:t>ASHRAE 90.1 draws a DIRECTION</a:t>
            </a:r>
          </a:p>
        </p:txBody>
      </p:sp>
      <p:sp>
        <p:nvSpPr>
          <p:cNvPr id="31" name="TextBox 30"/>
          <p:cNvSpPr txBox="1"/>
          <p:nvPr/>
        </p:nvSpPr>
        <p:spPr>
          <a:xfrm>
            <a:off x="877824" y="4544568"/>
            <a:ext cx="2944368" cy="868680"/>
          </a:xfrm>
          <a:prstGeom prst="rect">
            <a:avLst/>
          </a:prstGeom>
          <a:noFill/>
        </p:spPr>
        <p:txBody>
          <a:bodyPr wrap="square" anchor="t" lIns="25400" rIns="25400" tIns="25400" bIns="25400">
            <a:spAutoFit/>
          </a:bodyPr>
          <a:lstStyle/>
          <a:p>
            <a:pPr algn="l">
              <a:lnSpc>
                <a:spcPct val="115000"/>
              </a:lnSpc>
            </a:pPr>
            <a:r>
              <a:rPr sz="1100" b="0">
                <a:solidFill>
                  <a:srgbClr val="475569"/>
                </a:solidFill>
                <a:latin typeface="Calibri"/>
              </a:rPr>
              <a:t>Lines of equal energy content show when outside air is the cheaper source, and how far the dot may be pushed before energy is thrown away.</a:t>
            </a:r>
          </a:p>
        </p:txBody>
      </p:sp>
      <p:sp>
        <p:nvSpPr>
          <p:cNvPr id="32" name="Rounded Rectangle 31"/>
          <p:cNvSpPr/>
          <p:nvPr/>
        </p:nvSpPr>
        <p:spPr>
          <a:xfrm>
            <a:off x="8165592" y="3977639"/>
            <a:ext cx="3383280" cy="155448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65592" y="3977639"/>
            <a:ext cx="3383280" cy="914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03336" y="4178807"/>
            <a:ext cx="2926080" cy="292608"/>
          </a:xfrm>
          <a:prstGeom prst="rect">
            <a:avLst/>
          </a:prstGeom>
          <a:noFill/>
        </p:spPr>
        <p:txBody>
          <a:bodyPr wrap="square" anchor="t" lIns="25400" rIns="25400" tIns="25400" bIns="25400">
            <a:spAutoFit/>
          </a:bodyPr>
          <a:lstStyle/>
          <a:p>
            <a:pPr algn="l">
              <a:lnSpc>
                <a:spcPct val="106000"/>
              </a:lnSpc>
            </a:pPr>
            <a:r>
              <a:rPr sz="1350" b="1">
                <a:solidFill>
                  <a:srgbClr val="0F172A"/>
                </a:solidFill>
                <a:latin typeface="Calibri"/>
              </a:rPr>
              <a:t>Guideline 36 draws the PATH</a:t>
            </a:r>
          </a:p>
        </p:txBody>
      </p:sp>
      <p:sp>
        <p:nvSpPr>
          <p:cNvPr id="35" name="TextBox 34"/>
          <p:cNvSpPr txBox="1"/>
          <p:nvPr/>
        </p:nvSpPr>
        <p:spPr>
          <a:xfrm>
            <a:off x="8403336" y="4544568"/>
            <a:ext cx="2944368" cy="868680"/>
          </a:xfrm>
          <a:prstGeom prst="rect">
            <a:avLst/>
          </a:prstGeom>
          <a:noFill/>
        </p:spPr>
        <p:txBody>
          <a:bodyPr wrap="square" anchor="t" lIns="25400" rIns="25400" tIns="25400" bIns="25400">
            <a:spAutoFit/>
          </a:bodyPr>
          <a:lstStyle/>
          <a:p>
            <a:pPr algn="l">
              <a:lnSpc>
                <a:spcPct val="115000"/>
              </a:lnSpc>
            </a:pPr>
            <a:r>
              <a:rPr sz="1100" b="0">
                <a:solidFill>
                  <a:srgbClr val="475569"/>
                </a:solidFill>
                <a:latin typeface="Calibri"/>
              </a:rPr>
              <a:t>The sequences are the route the dot travels through the day — economizer, coil, setpoint reset — from outside air to the room.</a:t>
            </a:r>
          </a:p>
        </p:txBody>
      </p:sp>
      <p:sp>
        <p:nvSpPr>
          <p:cNvPr id="36" name="Right Arrow 35"/>
          <p:cNvSpPr/>
          <p:nvPr/>
        </p:nvSpPr>
        <p:spPr>
          <a:xfrm>
            <a:off x="4059936" y="2670048"/>
            <a:ext cx="237744" cy="146304"/>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Arrow 36"/>
          <p:cNvSpPr/>
          <p:nvPr/>
        </p:nvSpPr>
        <p:spPr>
          <a:xfrm>
            <a:off x="4059936" y="4681728"/>
            <a:ext cx="237744" cy="146304"/>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eft Arrow 37"/>
          <p:cNvSpPr/>
          <p:nvPr/>
        </p:nvSpPr>
        <p:spPr>
          <a:xfrm>
            <a:off x="7909560" y="2670048"/>
            <a:ext cx="237744" cy="146304"/>
          </a:xfrm>
          <a:prstGeom prst="lef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eft Arrow 38"/>
          <p:cNvSpPr/>
          <p:nvPr/>
        </p:nvSpPr>
        <p:spPr>
          <a:xfrm>
            <a:off x="7909560" y="4681728"/>
            <a:ext cx="237744" cy="146304"/>
          </a:xfrm>
          <a:prstGeom prst="lef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40080" y="5760720"/>
            <a:ext cx="10908792" cy="868680"/>
          </a:xfrm>
          <a:prstGeom prst="roundRect">
            <a:avLst/>
          </a:prstGeom>
          <a:solidFill>
            <a:srgbClr val="FFFBEB"/>
          </a:solidFill>
          <a:ln w="1270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 y="5852160"/>
            <a:ext cx="10424160" cy="274320"/>
          </a:xfrm>
          <a:prstGeom prst="rect">
            <a:avLst/>
          </a:prstGeom>
          <a:noFill/>
        </p:spPr>
        <p:txBody>
          <a:bodyPr wrap="square" anchor="t" lIns="25400" rIns="25400" tIns="25400" bIns="25400">
            <a:spAutoFit/>
          </a:bodyPr>
          <a:lstStyle/>
          <a:p>
            <a:pPr algn="l">
              <a:lnSpc>
                <a:spcPct val="106000"/>
              </a:lnSpc>
            </a:pPr>
            <a:r>
              <a:rPr sz="1300" b="1">
                <a:solidFill>
                  <a:srgbClr val="B45309"/>
                </a:solidFill>
                <a:latin typeface="Calibri"/>
              </a:rPr>
              <a:t>Read this the right way round</a:t>
            </a:r>
          </a:p>
        </p:txBody>
      </p:sp>
      <p:sp>
        <p:nvSpPr>
          <p:cNvPr id="42" name="TextBox 41"/>
          <p:cNvSpPr txBox="1"/>
          <p:nvPr/>
        </p:nvSpPr>
        <p:spPr>
          <a:xfrm>
            <a:off x="896112" y="6117336"/>
            <a:ext cx="10515600" cy="457200"/>
          </a:xfrm>
          <a:prstGeom prst="rect">
            <a:avLst/>
          </a:prstGeom>
          <a:noFill/>
        </p:spPr>
        <p:txBody>
          <a:bodyPr wrap="square" anchor="t" lIns="25400" rIns="25400" tIns="25400" bIns="25400">
            <a:spAutoFit/>
          </a:bodyPr>
          <a:lstStyle/>
          <a:p>
            <a:pPr algn="l">
              <a:lnSpc>
                <a:spcPct val="115000"/>
              </a:lnSpc>
            </a:pPr>
            <a:r>
              <a:rPr sz="1250" b="0">
                <a:solidFill>
                  <a:srgbClr val="0F172A"/>
                </a:solidFill>
                <a:latin typeface="Calibri"/>
              </a:rPr>
              <a:t>The chart is not the small overlap left where four standards happen to agree. It is the COMMON SHEET they are all drawn on — an area, a line, a direction and a path, sharing one pair of axes. Satisfy all four and the shapes simply fit together.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HOW IT SATISFIES EACH</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One dot on the chart answers every question</a:t>
            </a:r>
          </a:p>
        </p:txBody>
      </p:sp>
      <p:sp>
        <p:nvSpPr>
          <p:cNvPr id="6" name="Rounded Rectangle 5"/>
          <p:cNvSpPr/>
          <p:nvPr/>
        </p:nvSpPr>
        <p:spPr>
          <a:xfrm>
            <a:off x="640080" y="1965960"/>
            <a:ext cx="5349240"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965960"/>
            <a:ext cx="118872" cy="17373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148840"/>
            <a:ext cx="4846320" cy="457200"/>
          </a:xfrm>
          <a:prstGeom prst="rect">
            <a:avLst/>
          </a:prstGeom>
          <a:noFill/>
        </p:spPr>
        <p:txBody>
          <a:bodyPr wrap="square" anchor="t" lIns="25400" rIns="25400" tIns="25400" bIns="25400">
            <a:spAutoFit/>
          </a:bodyPr>
          <a:lstStyle/>
          <a:p>
            <a:pPr algn="l">
              <a:lnSpc>
                <a:spcPct val="106000"/>
              </a:lnSpc>
            </a:pPr>
            <a:r>
              <a:rPr sz="1700" b="1">
                <a:solidFill>
                  <a:srgbClr val="B45309"/>
                </a:solidFill>
                <a:latin typeface="Calibri"/>
              </a:rPr>
              <a:t>55 — Comfort</a:t>
            </a:r>
          </a:p>
        </p:txBody>
      </p:sp>
      <p:sp>
        <p:nvSpPr>
          <p:cNvPr id="9" name="TextBox 8"/>
          <p:cNvSpPr txBox="1"/>
          <p:nvPr/>
        </p:nvSpPr>
        <p:spPr>
          <a:xfrm>
            <a:off x="932688" y="2624328"/>
            <a:ext cx="4800600" cy="960120"/>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The comfort zone is drawn straight onto the chart. Is the room dot inside the acceptable temperature/humidity band — and if not, which way is it off?</a:t>
            </a:r>
          </a:p>
        </p:txBody>
      </p:sp>
      <p:sp>
        <p:nvSpPr>
          <p:cNvPr id="10" name="Rounded Rectangle 9"/>
          <p:cNvSpPr/>
          <p:nvPr/>
        </p:nvSpPr>
        <p:spPr>
          <a:xfrm>
            <a:off x="6199632" y="1965960"/>
            <a:ext cx="5349240"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1965960"/>
            <a:ext cx="118872" cy="1737360"/>
          </a:xfrm>
          <a:prstGeom prst="rect">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148840"/>
            <a:ext cx="4846320" cy="457200"/>
          </a:xfrm>
          <a:prstGeom prst="rect">
            <a:avLst/>
          </a:prstGeom>
          <a:noFill/>
        </p:spPr>
        <p:txBody>
          <a:bodyPr wrap="square" anchor="t" lIns="25400" rIns="25400" tIns="25400" bIns="25400">
            <a:spAutoFit/>
          </a:bodyPr>
          <a:lstStyle/>
          <a:p>
            <a:pPr algn="l">
              <a:lnSpc>
                <a:spcPct val="106000"/>
              </a:lnSpc>
            </a:pPr>
            <a:r>
              <a:rPr sz="1700" b="1">
                <a:solidFill>
                  <a:srgbClr val="047857"/>
                </a:solidFill>
                <a:latin typeface="Calibri"/>
              </a:rPr>
              <a:t>62.1 — Fresh air</a:t>
            </a:r>
          </a:p>
        </p:txBody>
      </p:sp>
      <p:sp>
        <p:nvSpPr>
          <p:cNvPr id="13" name="TextBox 12"/>
          <p:cNvSpPr txBox="1"/>
          <p:nvPr/>
        </p:nvSpPr>
        <p:spPr>
          <a:xfrm>
            <a:off x="6492240" y="2624328"/>
            <a:ext cx="4800600" cy="960120"/>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The mixed-air dot must sit on the line between return and outside air. Its position along that line IS the outside-air proportion.</a:t>
            </a:r>
          </a:p>
        </p:txBody>
      </p:sp>
      <p:sp>
        <p:nvSpPr>
          <p:cNvPr id="14" name="Rounded Rectangle 13"/>
          <p:cNvSpPr/>
          <p:nvPr/>
        </p:nvSpPr>
        <p:spPr>
          <a:xfrm>
            <a:off x="640080" y="3904488"/>
            <a:ext cx="5349240"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3904488"/>
            <a:ext cx="118872" cy="1737360"/>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087368"/>
            <a:ext cx="4846320" cy="457200"/>
          </a:xfrm>
          <a:prstGeom prst="rect">
            <a:avLst/>
          </a:prstGeom>
          <a:noFill/>
        </p:spPr>
        <p:txBody>
          <a:bodyPr wrap="square" anchor="t" lIns="25400" rIns="25400" tIns="25400" bIns="25400">
            <a:spAutoFit/>
          </a:bodyPr>
          <a:lstStyle/>
          <a:p>
            <a:pPr algn="l">
              <a:lnSpc>
                <a:spcPct val="106000"/>
              </a:lnSpc>
            </a:pPr>
            <a:r>
              <a:rPr sz="1700" b="1">
                <a:solidFill>
                  <a:srgbClr val="1D4ED8"/>
                </a:solidFill>
                <a:latin typeface="Calibri"/>
              </a:rPr>
              <a:t>90.1 — Energy</a:t>
            </a:r>
          </a:p>
        </p:txBody>
      </p:sp>
      <p:sp>
        <p:nvSpPr>
          <p:cNvPr id="17" name="TextBox 16"/>
          <p:cNvSpPr txBox="1"/>
          <p:nvPr/>
        </p:nvSpPr>
        <p:spPr>
          <a:xfrm>
            <a:off x="932688" y="4562856"/>
            <a:ext cx="4800600" cy="960120"/>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Equal-energy lines reveal free cooling: when outside air holds less energy than return air, the economizer can meet the load with no mechanical cooling.</a:t>
            </a:r>
          </a:p>
        </p:txBody>
      </p:sp>
      <p:sp>
        <p:nvSpPr>
          <p:cNvPr id="18" name="Rounded Rectangle 17"/>
          <p:cNvSpPr/>
          <p:nvPr/>
        </p:nvSpPr>
        <p:spPr>
          <a:xfrm>
            <a:off x="6199632" y="3904488"/>
            <a:ext cx="5349240" cy="17373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3904488"/>
            <a:ext cx="118872" cy="17373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087368"/>
            <a:ext cx="4846320" cy="457200"/>
          </a:xfrm>
          <a:prstGeom prst="rect">
            <a:avLst/>
          </a:prstGeom>
          <a:noFill/>
        </p:spPr>
        <p:txBody>
          <a:bodyPr wrap="square" anchor="t" lIns="25400" rIns="25400" tIns="25400" bIns="25400">
            <a:spAutoFit/>
          </a:bodyPr>
          <a:lstStyle/>
          <a:p>
            <a:pPr algn="l">
              <a:lnSpc>
                <a:spcPct val="106000"/>
              </a:lnSpc>
            </a:pPr>
            <a:r>
              <a:rPr sz="1700" b="1">
                <a:solidFill>
                  <a:srgbClr val="0F172A"/>
                </a:solidFill>
                <a:latin typeface="Calibri"/>
              </a:rPr>
              <a:t>G36 — Sequences</a:t>
            </a:r>
          </a:p>
        </p:txBody>
      </p:sp>
      <p:sp>
        <p:nvSpPr>
          <p:cNvPr id="21" name="TextBox 20"/>
          <p:cNvSpPr txBox="1"/>
          <p:nvPr/>
        </p:nvSpPr>
        <p:spPr>
          <a:xfrm>
            <a:off x="6492240" y="4562856"/>
            <a:ext cx="4800600" cy="960120"/>
          </a:xfrm>
          <a:prstGeom prst="rect">
            <a:avLst/>
          </a:prstGeom>
          <a:noFill/>
        </p:spPr>
        <p:txBody>
          <a:bodyPr wrap="square" anchor="t" lIns="25400" rIns="25400" tIns="25400" bIns="25400">
            <a:spAutoFit/>
          </a:bodyPr>
          <a:lstStyle/>
          <a:p>
            <a:pPr algn="l">
              <a:lnSpc>
                <a:spcPct val="118000"/>
              </a:lnSpc>
            </a:pPr>
            <a:r>
              <a:rPr sz="1350" b="0">
                <a:solidFill>
                  <a:srgbClr val="475569"/>
                </a:solidFill>
                <a:latin typeface="Calibri"/>
              </a:rPr>
              <a:t>Visible proof the sequences land the dot inside the comfort zone, on the correct fresh-air line, along the lowest-energy path.</a:t>
            </a:r>
          </a:p>
        </p:txBody>
      </p:sp>
      <p:sp>
        <p:nvSpPr>
          <p:cNvPr id="22" name="TextBox 21"/>
          <p:cNvSpPr txBox="1"/>
          <p:nvPr/>
        </p:nvSpPr>
        <p:spPr>
          <a:xfrm>
            <a:off x="640080" y="5989320"/>
            <a:ext cx="10881360" cy="548640"/>
          </a:xfrm>
          <a:prstGeom prst="rect">
            <a:avLst/>
          </a:prstGeom>
          <a:noFill/>
        </p:spPr>
        <p:txBody>
          <a:bodyPr wrap="square" anchor="t" lIns="25400" rIns="25400" tIns="25400" bIns="25400">
            <a:spAutoFit/>
          </a:bodyPr>
          <a:lstStyle/>
          <a:p>
            <a:pPr algn="ctr">
              <a:lnSpc>
                <a:spcPct val="106000"/>
              </a:lnSpc>
            </a:pPr>
            <a:r>
              <a:rPr sz="1400" b="1">
                <a:solidFill>
                  <a:srgbClr val="1D4ED8"/>
                </a:solidFill>
                <a:latin typeface="Calibri"/>
              </a:rPr>
              <a:t>In one sentence: plot where the air IS, see where it MUST be, how it gets there, and whether it does so at least energy.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84048"/>
            <a:ext cx="10881360" cy="365760"/>
          </a:xfrm>
          <a:prstGeom prst="rect">
            <a:avLst/>
          </a:prstGeom>
          <a:noFill/>
        </p:spPr>
        <p:txBody>
          <a:bodyPr wrap="square" anchor="t" lIns="25400" rIns="25400" tIns="25400" bIns="25400">
            <a:spAutoFit/>
          </a:bodyPr>
          <a:lstStyle/>
          <a:p>
            <a:pPr algn="l">
              <a:lnSpc>
                <a:spcPct val="106000"/>
              </a:lnSpc>
            </a:pPr>
            <a:r>
              <a:rPr sz="1300" b="1">
                <a:solidFill>
                  <a:srgbClr val="1D4ED8"/>
                </a:solidFill>
                <a:latin typeface="Calibri"/>
              </a:rPr>
              <a:t>THE DIFFERENCE</a:t>
            </a:r>
          </a:p>
        </p:txBody>
      </p:sp>
      <p:sp>
        <p:nvSpPr>
          <p:cNvPr id="5" name="TextBox 4"/>
          <p:cNvSpPr txBox="1"/>
          <p:nvPr/>
        </p:nvSpPr>
        <p:spPr>
          <a:xfrm>
            <a:off x="640080" y="713232"/>
            <a:ext cx="10881360" cy="914400"/>
          </a:xfrm>
          <a:prstGeom prst="rect">
            <a:avLst/>
          </a:prstGeom>
          <a:noFill/>
        </p:spPr>
        <p:txBody>
          <a:bodyPr wrap="square" anchor="t" lIns="25400" rIns="25400" tIns="25400" bIns="25400">
            <a:spAutoFit/>
          </a:bodyPr>
          <a:lstStyle/>
          <a:p>
            <a:pPr algn="l">
              <a:lnSpc>
                <a:spcPct val="106000"/>
              </a:lnSpc>
            </a:pPr>
            <a:r>
              <a:rPr sz="3000" b="1">
                <a:solidFill>
                  <a:srgbClr val="0F172A"/>
                </a:solidFill>
                <a:latin typeface="Calibri"/>
              </a:rPr>
              <a:t>Trend-based BMS vs a psychrometric-aware BMS</a:t>
            </a:r>
          </a:p>
        </p:txBody>
      </p:sp>
      <p:sp>
        <p:nvSpPr>
          <p:cNvPr id="6" name="Rounded Rectangle 5"/>
          <p:cNvSpPr/>
          <p:nvPr/>
        </p:nvSpPr>
        <p:spPr>
          <a:xfrm>
            <a:off x="640080" y="1874519"/>
            <a:ext cx="10908792" cy="434340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2651760" cy="320040"/>
          </a:xfrm>
          <a:prstGeom prst="rect">
            <a:avLst/>
          </a:prstGeom>
          <a:noFill/>
        </p:spPr>
        <p:txBody>
          <a:bodyPr wrap="square" anchor="t" lIns="25400" rIns="25400" tIns="25400" bIns="25400">
            <a:spAutoFit/>
          </a:bodyPr>
          <a:lstStyle/>
          <a:p>
            <a:pPr algn="l">
              <a:lnSpc>
                <a:spcPct val="106000"/>
              </a:lnSpc>
            </a:pPr>
            <a:r>
              <a:rPr sz="1100" b="1">
                <a:solidFill>
                  <a:srgbClr val="64748B"/>
                </a:solidFill>
                <a:latin typeface="Calibri"/>
              </a:rPr>
              <a:t>QUESTION BEING ASKED</a:t>
            </a:r>
          </a:p>
        </p:txBody>
      </p:sp>
      <p:sp>
        <p:nvSpPr>
          <p:cNvPr id="8" name="TextBox 7"/>
          <p:cNvSpPr txBox="1"/>
          <p:nvPr/>
        </p:nvSpPr>
        <p:spPr>
          <a:xfrm>
            <a:off x="3749040" y="1993392"/>
            <a:ext cx="4114800" cy="320040"/>
          </a:xfrm>
          <a:prstGeom prst="rect">
            <a:avLst/>
          </a:prstGeom>
          <a:noFill/>
        </p:spPr>
        <p:txBody>
          <a:bodyPr wrap="square" anchor="t" lIns="25400" rIns="25400" tIns="25400" bIns="25400">
            <a:spAutoFit/>
          </a:bodyPr>
          <a:lstStyle/>
          <a:p>
            <a:pPr algn="l">
              <a:lnSpc>
                <a:spcPct val="106000"/>
              </a:lnSpc>
            </a:pPr>
            <a:r>
              <a:rPr sz="1100" b="1">
                <a:solidFill>
                  <a:srgbClr val="64748B"/>
                </a:solidFill>
                <a:latin typeface="Calibri"/>
              </a:rPr>
              <a:t>TREND-BASED BMS (TODAY)</a:t>
            </a:r>
          </a:p>
        </p:txBody>
      </p:sp>
      <p:sp>
        <p:nvSpPr>
          <p:cNvPr id="9" name="TextBox 8"/>
          <p:cNvSpPr txBox="1"/>
          <p:nvPr/>
        </p:nvSpPr>
        <p:spPr>
          <a:xfrm>
            <a:off x="8092440" y="1993392"/>
            <a:ext cx="3200400" cy="320040"/>
          </a:xfrm>
          <a:prstGeom prst="rect">
            <a:avLst/>
          </a:prstGeom>
          <a:noFill/>
        </p:spPr>
        <p:txBody>
          <a:bodyPr wrap="square" anchor="t" lIns="25400" rIns="25400" tIns="25400" bIns="25400">
            <a:spAutoFit/>
          </a:bodyPr>
          <a:lstStyle/>
          <a:p>
            <a:pPr algn="l">
              <a:lnSpc>
                <a:spcPct val="106000"/>
              </a:lnSpc>
            </a:pPr>
            <a:r>
              <a:rPr sz="1100" b="1">
                <a:solidFill>
                  <a:srgbClr val="1D4ED8"/>
                </a:solidFill>
                <a:latin typeface="Calibri"/>
              </a:rPr>
              <a:t>PSYCHROMETRIC-AWARE BMS</a:t>
            </a:r>
          </a:p>
        </p:txBody>
      </p:sp>
      <p:sp>
        <p:nvSpPr>
          <p:cNvPr id="10" name="Rectangle 9"/>
          <p:cNvSpPr/>
          <p:nvPr/>
        </p:nvSpPr>
        <p:spPr>
          <a:xfrm>
            <a:off x="731520" y="2395728"/>
            <a:ext cx="10725912" cy="621792"/>
          </a:xfrm>
          <a:prstGeom prst="rect">
            <a:avLst/>
          </a:prstGeom>
          <a:solidFill>
            <a:srgbClr val="FAF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395728"/>
            <a:ext cx="2743200" cy="621792"/>
          </a:xfrm>
          <a:prstGeom prst="rect">
            <a:avLst/>
          </a:prstGeom>
          <a:noFill/>
        </p:spPr>
        <p:txBody>
          <a:bodyPr wrap="square" anchor="ctr" lIns="25400" rIns="25400" tIns="25400" bIns="25400">
            <a:spAutoFit/>
          </a:bodyPr>
          <a:lstStyle/>
          <a:p>
            <a:pPr algn="l">
              <a:lnSpc>
                <a:spcPct val="106000"/>
              </a:lnSpc>
            </a:pPr>
            <a:r>
              <a:rPr sz="1250" b="1">
                <a:solidFill>
                  <a:srgbClr val="0F172A"/>
                </a:solidFill>
                <a:latin typeface="Calibri"/>
              </a:rPr>
              <a:t>What the operator sees</a:t>
            </a:r>
          </a:p>
        </p:txBody>
      </p:sp>
      <p:sp>
        <p:nvSpPr>
          <p:cNvPr id="12" name="TextBox 11"/>
          <p:cNvSpPr txBox="1"/>
          <p:nvPr/>
        </p:nvSpPr>
        <p:spPr>
          <a:xfrm>
            <a:off x="3749040" y="2395728"/>
            <a:ext cx="4206240" cy="621792"/>
          </a:xfrm>
          <a:prstGeom prst="rect">
            <a:avLst/>
          </a:prstGeom>
          <a:noFill/>
        </p:spPr>
        <p:txBody>
          <a:bodyPr wrap="square" anchor="ctr" lIns="25400" rIns="25400" tIns="25400" bIns="25400">
            <a:spAutoFit/>
          </a:bodyPr>
          <a:lstStyle/>
          <a:p>
            <a:pPr algn="l">
              <a:lnSpc>
                <a:spcPct val="110000"/>
              </a:lnSpc>
            </a:pPr>
            <a:r>
              <a:rPr sz="1200" b="0">
                <a:solidFill>
                  <a:srgbClr val="475569"/>
                </a:solidFill>
                <a:latin typeface="Calibri"/>
              </a:rPr>
              <a:t>Several separate trend lines, read one at a time</a:t>
            </a:r>
          </a:p>
        </p:txBody>
      </p:sp>
      <p:sp>
        <p:nvSpPr>
          <p:cNvPr id="13" name="TextBox 12"/>
          <p:cNvSpPr txBox="1"/>
          <p:nvPr/>
        </p:nvSpPr>
        <p:spPr>
          <a:xfrm>
            <a:off x="8092440" y="2395728"/>
            <a:ext cx="3200400" cy="621792"/>
          </a:xfrm>
          <a:prstGeom prst="rect">
            <a:avLst/>
          </a:prstGeom>
          <a:noFill/>
        </p:spPr>
        <p:txBody>
          <a:bodyPr wrap="square" anchor="ctr" lIns="25400" rIns="25400" tIns="25400" bIns="25400">
            <a:spAutoFit/>
          </a:bodyPr>
          <a:lstStyle/>
          <a:p>
            <a:pPr algn="l">
              <a:lnSpc>
                <a:spcPct val="110000"/>
              </a:lnSpc>
            </a:pPr>
            <a:r>
              <a:rPr sz="1200" b="1">
                <a:solidFill>
                  <a:srgbClr val="047857"/>
                </a:solidFill>
                <a:latin typeface="Calibri"/>
              </a:rPr>
              <a:t>One picture showing the air's actual state</a:t>
            </a:r>
          </a:p>
        </p:txBody>
      </p:sp>
      <p:sp>
        <p:nvSpPr>
          <p:cNvPr id="14" name="TextBox 13"/>
          <p:cNvSpPr txBox="1"/>
          <p:nvPr/>
        </p:nvSpPr>
        <p:spPr>
          <a:xfrm>
            <a:off x="914400" y="3017520"/>
            <a:ext cx="2743200" cy="621792"/>
          </a:xfrm>
          <a:prstGeom prst="rect">
            <a:avLst/>
          </a:prstGeom>
          <a:noFill/>
        </p:spPr>
        <p:txBody>
          <a:bodyPr wrap="square" anchor="ctr" lIns="25400" rIns="25400" tIns="25400" bIns="25400">
            <a:spAutoFit/>
          </a:bodyPr>
          <a:lstStyle/>
          <a:p>
            <a:pPr algn="l">
              <a:lnSpc>
                <a:spcPct val="106000"/>
              </a:lnSpc>
            </a:pPr>
            <a:r>
              <a:rPr sz="1250" b="1">
                <a:solidFill>
                  <a:srgbClr val="0F172A"/>
                </a:solidFill>
                <a:latin typeface="Calibri"/>
              </a:rPr>
              <a:t>Is the outside-air mix right?</a:t>
            </a:r>
          </a:p>
        </p:txBody>
      </p:sp>
      <p:sp>
        <p:nvSpPr>
          <p:cNvPr id="15" name="TextBox 14"/>
          <p:cNvSpPr txBox="1"/>
          <p:nvPr/>
        </p:nvSpPr>
        <p:spPr>
          <a:xfrm>
            <a:off x="3749040" y="3017520"/>
            <a:ext cx="4206240" cy="621792"/>
          </a:xfrm>
          <a:prstGeom prst="rect">
            <a:avLst/>
          </a:prstGeom>
          <a:noFill/>
        </p:spPr>
        <p:txBody>
          <a:bodyPr wrap="square" anchor="ctr" lIns="25400" rIns="25400" tIns="25400" bIns="25400">
            <a:spAutoFit/>
          </a:bodyPr>
          <a:lstStyle/>
          <a:p>
            <a:pPr algn="l">
              <a:lnSpc>
                <a:spcPct val="110000"/>
              </a:lnSpc>
            </a:pPr>
            <a:r>
              <a:rPr sz="1200" b="0">
                <a:solidFill>
                  <a:srgbClr val="475569"/>
                </a:solidFill>
                <a:latin typeface="Calibri"/>
              </a:rPr>
              <a:t>Inferred from the damper command</a:t>
            </a:r>
          </a:p>
        </p:txBody>
      </p:sp>
      <p:sp>
        <p:nvSpPr>
          <p:cNvPr id="16" name="TextBox 15"/>
          <p:cNvSpPr txBox="1"/>
          <p:nvPr/>
        </p:nvSpPr>
        <p:spPr>
          <a:xfrm>
            <a:off x="8092440" y="3017520"/>
            <a:ext cx="3200400" cy="621792"/>
          </a:xfrm>
          <a:prstGeom prst="rect">
            <a:avLst/>
          </a:prstGeom>
          <a:noFill/>
        </p:spPr>
        <p:txBody>
          <a:bodyPr wrap="square" anchor="ctr" lIns="25400" rIns="25400" tIns="25400" bIns="25400">
            <a:spAutoFit/>
          </a:bodyPr>
          <a:lstStyle/>
          <a:p>
            <a:pPr algn="l">
              <a:lnSpc>
                <a:spcPct val="110000"/>
              </a:lnSpc>
            </a:pPr>
            <a:r>
              <a:rPr sz="1200" b="1">
                <a:solidFill>
                  <a:srgbClr val="047857"/>
                </a:solidFill>
                <a:latin typeface="Calibri"/>
              </a:rPr>
              <a:t>The mixed-air dot must fall on the outside–return line</a:t>
            </a:r>
          </a:p>
        </p:txBody>
      </p:sp>
      <p:sp>
        <p:nvSpPr>
          <p:cNvPr id="17" name="Rectangle 16"/>
          <p:cNvSpPr/>
          <p:nvPr/>
        </p:nvSpPr>
        <p:spPr>
          <a:xfrm>
            <a:off x="731520" y="3639312"/>
            <a:ext cx="10725912" cy="621792"/>
          </a:xfrm>
          <a:prstGeom prst="rect">
            <a:avLst/>
          </a:prstGeom>
          <a:solidFill>
            <a:srgbClr val="FAF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639312"/>
            <a:ext cx="2743200" cy="621792"/>
          </a:xfrm>
          <a:prstGeom prst="rect">
            <a:avLst/>
          </a:prstGeom>
          <a:noFill/>
        </p:spPr>
        <p:txBody>
          <a:bodyPr wrap="square" anchor="ctr" lIns="25400" rIns="25400" tIns="25400" bIns="25400">
            <a:spAutoFit/>
          </a:bodyPr>
          <a:lstStyle/>
          <a:p>
            <a:pPr algn="l">
              <a:lnSpc>
                <a:spcPct val="106000"/>
              </a:lnSpc>
            </a:pPr>
            <a:r>
              <a:rPr sz="1250" b="1">
                <a:solidFill>
                  <a:srgbClr val="0F172A"/>
                </a:solidFill>
                <a:latin typeface="Calibri"/>
              </a:rPr>
              <a:t>Can we free-cool right now?</a:t>
            </a:r>
          </a:p>
        </p:txBody>
      </p:sp>
      <p:sp>
        <p:nvSpPr>
          <p:cNvPr id="19" name="TextBox 18"/>
          <p:cNvSpPr txBox="1"/>
          <p:nvPr/>
        </p:nvSpPr>
        <p:spPr>
          <a:xfrm>
            <a:off x="3749040" y="3639312"/>
            <a:ext cx="4206240" cy="621792"/>
          </a:xfrm>
          <a:prstGeom prst="rect">
            <a:avLst/>
          </a:prstGeom>
          <a:noFill/>
        </p:spPr>
        <p:txBody>
          <a:bodyPr wrap="square" anchor="ctr" lIns="25400" rIns="25400" tIns="25400" bIns="25400">
            <a:spAutoFit/>
          </a:bodyPr>
          <a:lstStyle/>
          <a:p>
            <a:pPr algn="l">
              <a:lnSpc>
                <a:spcPct val="110000"/>
              </a:lnSpc>
            </a:pPr>
            <a:r>
              <a:rPr sz="1200" b="0">
                <a:solidFill>
                  <a:srgbClr val="475569"/>
                </a:solidFill>
                <a:latin typeface="Calibri"/>
              </a:rPr>
              <a:t>Usually temperature-only, so humid-but-cool and dry-but-warm hours are misjudged</a:t>
            </a:r>
          </a:p>
        </p:txBody>
      </p:sp>
      <p:sp>
        <p:nvSpPr>
          <p:cNvPr id="20" name="TextBox 19"/>
          <p:cNvSpPr txBox="1"/>
          <p:nvPr/>
        </p:nvSpPr>
        <p:spPr>
          <a:xfrm>
            <a:off x="8092440" y="3639312"/>
            <a:ext cx="3200400" cy="621792"/>
          </a:xfrm>
          <a:prstGeom prst="rect">
            <a:avLst/>
          </a:prstGeom>
          <a:noFill/>
        </p:spPr>
        <p:txBody>
          <a:bodyPr wrap="square" anchor="ctr" lIns="25400" rIns="25400" tIns="25400" bIns="25400">
            <a:spAutoFit/>
          </a:bodyPr>
          <a:lstStyle/>
          <a:p>
            <a:pPr algn="l">
              <a:lnSpc>
                <a:spcPct val="110000"/>
              </a:lnSpc>
            </a:pPr>
            <a:r>
              <a:rPr sz="1200" b="1">
                <a:solidFill>
                  <a:srgbClr val="047857"/>
                </a:solidFill>
                <a:latin typeface="Calibri"/>
              </a:rPr>
              <a:t>Decided on true energy content of the air</a:t>
            </a:r>
          </a:p>
        </p:txBody>
      </p:sp>
      <p:sp>
        <p:nvSpPr>
          <p:cNvPr id="21" name="TextBox 20"/>
          <p:cNvSpPr txBox="1"/>
          <p:nvPr/>
        </p:nvSpPr>
        <p:spPr>
          <a:xfrm>
            <a:off x="914400" y="4261104"/>
            <a:ext cx="2743200" cy="621792"/>
          </a:xfrm>
          <a:prstGeom prst="rect">
            <a:avLst/>
          </a:prstGeom>
          <a:noFill/>
        </p:spPr>
        <p:txBody>
          <a:bodyPr wrap="square" anchor="ctr" lIns="25400" rIns="25400" tIns="25400" bIns="25400">
            <a:spAutoFit/>
          </a:bodyPr>
          <a:lstStyle/>
          <a:p>
            <a:pPr algn="l">
              <a:lnSpc>
                <a:spcPct val="106000"/>
              </a:lnSpc>
            </a:pPr>
            <a:r>
              <a:rPr sz="1250" b="1">
                <a:solidFill>
                  <a:srgbClr val="0F172A"/>
                </a:solidFill>
                <a:latin typeface="Calibri"/>
              </a:rPr>
              <a:t>Humidity control</a:t>
            </a:r>
          </a:p>
        </p:txBody>
      </p:sp>
      <p:sp>
        <p:nvSpPr>
          <p:cNvPr id="22" name="TextBox 21"/>
          <p:cNvSpPr txBox="1"/>
          <p:nvPr/>
        </p:nvSpPr>
        <p:spPr>
          <a:xfrm>
            <a:off x="3749040" y="4261104"/>
            <a:ext cx="4206240" cy="621792"/>
          </a:xfrm>
          <a:prstGeom prst="rect">
            <a:avLst/>
          </a:prstGeom>
          <a:noFill/>
        </p:spPr>
        <p:txBody>
          <a:bodyPr wrap="square" anchor="ctr" lIns="25400" rIns="25400" tIns="25400" bIns="25400">
            <a:spAutoFit/>
          </a:bodyPr>
          <a:lstStyle/>
          <a:p>
            <a:pPr algn="l">
              <a:lnSpc>
                <a:spcPct val="110000"/>
              </a:lnSpc>
            </a:pPr>
            <a:r>
              <a:rPr sz="1200" b="0">
                <a:solidFill>
                  <a:srgbClr val="475569"/>
                </a:solidFill>
                <a:latin typeface="Calibri"/>
              </a:rPr>
              <a:t>A separate loop, often fighting the cooling loop</a:t>
            </a:r>
          </a:p>
        </p:txBody>
      </p:sp>
      <p:sp>
        <p:nvSpPr>
          <p:cNvPr id="23" name="TextBox 22"/>
          <p:cNvSpPr txBox="1"/>
          <p:nvPr/>
        </p:nvSpPr>
        <p:spPr>
          <a:xfrm>
            <a:off x="8092440" y="4261104"/>
            <a:ext cx="3200400" cy="621792"/>
          </a:xfrm>
          <a:prstGeom prst="rect">
            <a:avLst/>
          </a:prstGeom>
          <a:noFill/>
        </p:spPr>
        <p:txBody>
          <a:bodyPr wrap="square" anchor="ctr" lIns="25400" rIns="25400" tIns="25400" bIns="25400">
            <a:spAutoFit/>
          </a:bodyPr>
          <a:lstStyle/>
          <a:p>
            <a:pPr algn="l">
              <a:lnSpc>
                <a:spcPct val="110000"/>
              </a:lnSpc>
            </a:pPr>
            <a:r>
              <a:rPr sz="1200" b="1">
                <a:solidFill>
                  <a:srgbClr val="047857"/>
                </a:solidFill>
                <a:latin typeface="Calibri"/>
              </a:rPr>
              <a:t>Heat and moisture handled as one state</a:t>
            </a:r>
          </a:p>
        </p:txBody>
      </p:sp>
      <p:sp>
        <p:nvSpPr>
          <p:cNvPr id="24" name="Rectangle 23"/>
          <p:cNvSpPr/>
          <p:nvPr/>
        </p:nvSpPr>
        <p:spPr>
          <a:xfrm>
            <a:off x="731520" y="4882896"/>
            <a:ext cx="10725912" cy="621792"/>
          </a:xfrm>
          <a:prstGeom prst="rect">
            <a:avLst/>
          </a:prstGeom>
          <a:solidFill>
            <a:srgbClr val="FAF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82896"/>
            <a:ext cx="2743200" cy="621792"/>
          </a:xfrm>
          <a:prstGeom prst="rect">
            <a:avLst/>
          </a:prstGeom>
          <a:noFill/>
        </p:spPr>
        <p:txBody>
          <a:bodyPr wrap="square" anchor="ctr" lIns="25400" rIns="25400" tIns="25400" bIns="25400">
            <a:spAutoFit/>
          </a:bodyPr>
          <a:lstStyle/>
          <a:p>
            <a:pPr algn="l">
              <a:lnSpc>
                <a:spcPct val="106000"/>
              </a:lnSpc>
            </a:pPr>
            <a:r>
              <a:rPr sz="1250" b="1">
                <a:solidFill>
                  <a:srgbClr val="0F172A"/>
                </a:solidFill>
                <a:latin typeface="Calibri"/>
              </a:rPr>
              <a:t>Finding faults</a:t>
            </a:r>
          </a:p>
        </p:txBody>
      </p:sp>
      <p:sp>
        <p:nvSpPr>
          <p:cNvPr id="26" name="TextBox 25"/>
          <p:cNvSpPr txBox="1"/>
          <p:nvPr/>
        </p:nvSpPr>
        <p:spPr>
          <a:xfrm>
            <a:off x="3749040" y="4882896"/>
            <a:ext cx="4206240" cy="621792"/>
          </a:xfrm>
          <a:prstGeom prst="rect">
            <a:avLst/>
          </a:prstGeom>
          <a:noFill/>
        </p:spPr>
        <p:txBody>
          <a:bodyPr wrap="square" anchor="ctr" lIns="25400" rIns="25400" tIns="25400" bIns="25400">
            <a:spAutoFit/>
          </a:bodyPr>
          <a:lstStyle/>
          <a:p>
            <a:pPr algn="l">
              <a:lnSpc>
                <a:spcPct val="110000"/>
              </a:lnSpc>
            </a:pPr>
            <a:r>
              <a:rPr sz="1200" b="0">
                <a:solidFill>
                  <a:srgbClr val="475569"/>
                </a:solidFill>
                <a:latin typeface="Calibri"/>
              </a:rPr>
              <a:t>Alarm limits on individual points</a:t>
            </a:r>
          </a:p>
        </p:txBody>
      </p:sp>
      <p:sp>
        <p:nvSpPr>
          <p:cNvPr id="27" name="TextBox 26"/>
          <p:cNvSpPr txBox="1"/>
          <p:nvPr/>
        </p:nvSpPr>
        <p:spPr>
          <a:xfrm>
            <a:off x="8092440" y="4882896"/>
            <a:ext cx="3200400" cy="621792"/>
          </a:xfrm>
          <a:prstGeom prst="rect">
            <a:avLst/>
          </a:prstGeom>
          <a:noFill/>
        </p:spPr>
        <p:txBody>
          <a:bodyPr wrap="square" anchor="ctr" lIns="25400" rIns="25400" tIns="25400" bIns="25400">
            <a:spAutoFit/>
          </a:bodyPr>
          <a:lstStyle/>
          <a:p>
            <a:pPr algn="l">
              <a:lnSpc>
                <a:spcPct val="110000"/>
              </a:lnSpc>
            </a:pPr>
            <a:r>
              <a:rPr sz="1200" b="1">
                <a:solidFill>
                  <a:srgbClr val="047857"/>
                </a:solidFill>
                <a:latin typeface="Calibri"/>
              </a:rPr>
              <a:t>The shape of the process line exposes coil, damper and sensor faults</a:t>
            </a:r>
          </a:p>
        </p:txBody>
      </p:sp>
      <p:sp>
        <p:nvSpPr>
          <p:cNvPr id="28" name="TextBox 27"/>
          <p:cNvSpPr txBox="1"/>
          <p:nvPr/>
        </p:nvSpPr>
        <p:spPr>
          <a:xfrm>
            <a:off x="914400" y="5504688"/>
            <a:ext cx="2743200" cy="621792"/>
          </a:xfrm>
          <a:prstGeom prst="rect">
            <a:avLst/>
          </a:prstGeom>
          <a:noFill/>
        </p:spPr>
        <p:txBody>
          <a:bodyPr wrap="square" anchor="ctr" lIns="25400" rIns="25400" tIns="25400" bIns="25400">
            <a:spAutoFit/>
          </a:bodyPr>
          <a:lstStyle/>
          <a:p>
            <a:pPr algn="l">
              <a:lnSpc>
                <a:spcPct val="106000"/>
              </a:lnSpc>
            </a:pPr>
            <a:r>
              <a:rPr sz="1250" b="1">
                <a:solidFill>
                  <a:srgbClr val="0F172A"/>
                </a:solidFill>
                <a:latin typeface="Calibri"/>
              </a:rPr>
              <a:t>Proving the standards</a:t>
            </a:r>
          </a:p>
        </p:txBody>
      </p:sp>
      <p:sp>
        <p:nvSpPr>
          <p:cNvPr id="29" name="TextBox 28"/>
          <p:cNvSpPr txBox="1"/>
          <p:nvPr/>
        </p:nvSpPr>
        <p:spPr>
          <a:xfrm>
            <a:off x="3749040" y="5504688"/>
            <a:ext cx="4206240" cy="621792"/>
          </a:xfrm>
          <a:prstGeom prst="rect">
            <a:avLst/>
          </a:prstGeom>
          <a:noFill/>
        </p:spPr>
        <p:txBody>
          <a:bodyPr wrap="square" anchor="ctr" lIns="25400" rIns="25400" tIns="25400" bIns="25400">
            <a:spAutoFit/>
          </a:bodyPr>
          <a:lstStyle/>
          <a:p>
            <a:pPr algn="l">
              <a:lnSpc>
                <a:spcPct val="110000"/>
              </a:lnSpc>
            </a:pPr>
            <a:r>
              <a:rPr sz="1200" b="0">
                <a:solidFill>
                  <a:srgbClr val="475569"/>
                </a:solidFill>
                <a:latin typeface="Calibri"/>
              </a:rPr>
              <a:t>Checked manually, usually after the fact</a:t>
            </a:r>
          </a:p>
        </p:txBody>
      </p:sp>
      <p:sp>
        <p:nvSpPr>
          <p:cNvPr id="30" name="TextBox 29"/>
          <p:cNvSpPr txBox="1"/>
          <p:nvPr/>
        </p:nvSpPr>
        <p:spPr>
          <a:xfrm>
            <a:off x="8092440" y="5504688"/>
            <a:ext cx="3200400" cy="621792"/>
          </a:xfrm>
          <a:prstGeom prst="rect">
            <a:avLst/>
          </a:prstGeom>
          <a:noFill/>
        </p:spPr>
        <p:txBody>
          <a:bodyPr wrap="square" anchor="ctr" lIns="25400" rIns="25400" tIns="25400" bIns="25400">
            <a:spAutoFit/>
          </a:bodyPr>
          <a:lstStyle/>
          <a:p>
            <a:pPr algn="l">
              <a:lnSpc>
                <a:spcPct val="110000"/>
              </a:lnSpc>
            </a:pPr>
            <a:r>
              <a:rPr sz="1200" b="1">
                <a:solidFill>
                  <a:srgbClr val="047857"/>
                </a:solidFill>
                <a:latin typeface="Calibri"/>
              </a:rPr>
              <a:t>Comfort, ventilation and energy judged together, live</a:t>
            </a:r>
          </a:p>
        </p:txBody>
      </p:sp>
      <p:sp>
        <p:nvSpPr>
          <p:cNvPr id="31" name="TextBox 30"/>
          <p:cNvSpPr txBox="1"/>
          <p:nvPr/>
        </p:nvSpPr>
        <p:spPr>
          <a:xfrm>
            <a:off x="914400" y="5623560"/>
            <a:ext cx="10332720" cy="457200"/>
          </a:xfrm>
          <a:prstGeom prst="rect">
            <a:avLst/>
          </a:prstGeom>
          <a:noFill/>
        </p:spPr>
        <p:txBody>
          <a:bodyPr wrap="square" anchor="t" lIns="25400" rIns="25400" tIns="25400" bIns="25400">
            <a:spAutoFit/>
          </a:bodyPr>
          <a:lstStyle/>
          <a:p>
            <a:pPr algn="l">
              <a:lnSpc>
                <a:spcPct val="115000"/>
              </a:lnSpc>
            </a:pPr>
            <a:r>
              <a:rPr sz="1300" b="0">
                <a:solidFill>
                  <a:srgbClr val="64748B"/>
                </a:solidFill>
                <a:latin typeface="Calibri"/>
              </a:rPr>
              <a:t>None of this needs new field equipment beyond humidity sensing on the air streams — the difference is what the software does with readings the building is already taking.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332720" cy="1097280"/>
          </a:xfrm>
          <a:prstGeom prst="rect">
            <a:avLst/>
          </a:prstGeom>
          <a:noFill/>
        </p:spPr>
        <p:txBody>
          <a:bodyPr wrap="square" anchor="t" lIns="25400" rIns="25400" tIns="25400" bIns="25400">
            <a:spAutoFit/>
          </a:bodyPr>
          <a:lstStyle/>
          <a:p>
            <a:pPr algn="ctr">
              <a:lnSpc>
                <a:spcPct val="106000"/>
              </a:lnSpc>
            </a:pPr>
            <a:r>
              <a:rPr sz="4200" b="1">
                <a:solidFill>
                  <a:srgbClr val="FFFFFF"/>
                </a:solidFill>
                <a:latin typeface="Calibri"/>
              </a:rPr>
              <a:t>One chart. Four rulebooks.</a:t>
            </a:r>
          </a:p>
        </p:txBody>
      </p:sp>
      <p:sp>
        <p:nvSpPr>
          <p:cNvPr id="5" name="TextBox 4"/>
          <p:cNvSpPr txBox="1"/>
          <p:nvPr/>
        </p:nvSpPr>
        <p:spPr>
          <a:xfrm>
            <a:off x="1280160" y="3566160"/>
            <a:ext cx="9601200" cy="1371600"/>
          </a:xfrm>
          <a:prstGeom prst="rect">
            <a:avLst/>
          </a:prstGeom>
          <a:noFill/>
        </p:spPr>
        <p:txBody>
          <a:bodyPr wrap="square" anchor="t" lIns="25400" rIns="25400" tIns="25400" bIns="25400">
            <a:spAutoFit/>
          </a:bodyPr>
          <a:lstStyle/>
          <a:p>
            <a:pPr algn="ctr">
              <a:lnSpc>
                <a:spcPct val="130000"/>
              </a:lnSpc>
            </a:pPr>
            <a:r>
              <a:rPr sz="1800" b="0">
                <a:solidFill>
                  <a:srgbClr val="CBD5E1"/>
                </a:solidFill>
                <a:latin typeface="Calibri"/>
              </a:rPr>
              <a:t>The psychrometric chart is not a design-only artifact. Bringing it into the building's controls turns anonymous setpoints back into visible physics — and puts comfort, air quality and energy into a single picture an operator can read at a glance.</a:t>
            </a:r>
          </a:p>
        </p:txBody>
      </p:sp>
      <p:sp>
        <p:nvSpPr>
          <p:cNvPr id="6" name="TextBox 5"/>
          <p:cNvSpPr txBox="1"/>
          <p:nvPr/>
        </p:nvSpPr>
        <p:spPr>
          <a:xfrm>
            <a:off x="1828800" y="5120640"/>
            <a:ext cx="8503920" cy="914400"/>
          </a:xfrm>
          <a:prstGeom prst="rect">
            <a:avLst/>
          </a:prstGeom>
          <a:noFill/>
        </p:spPr>
        <p:txBody>
          <a:bodyPr wrap="square" anchor="t" lIns="25400" rIns="25400" tIns="25400" bIns="25400">
            <a:spAutoFit/>
          </a:bodyPr>
          <a:lstStyle/>
          <a:p>
            <a:pPr algn="ctr">
              <a:lnSpc>
                <a:spcPct val="130000"/>
              </a:lnSpc>
            </a:pPr>
            <a:r>
              <a:rPr sz="1500" b="0">
                <a:solidFill>
                  <a:srgbClr val="93C5FD"/>
                </a:solidFill>
                <a:latin typeface="Calibri"/>
              </a:rPr>
              <a:t>The computing power to draw it live has been ordinary for years. What has kept the chart out of the control room is habit and missing humidity sensors — not physics, and no longer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