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607040" cy="1371600"/>
          </a:xfrm>
          <a:prstGeom prst="rect">
            <a:avLst/>
          </a:prstGeom>
          <a:noFill/>
        </p:spPr>
        <p:txBody>
          <a:bodyPr wrap="square" anchor="t" lIns="25400" rIns="25400" tIns="25400" bIns="25400">
            <a:spAutoFit/>
          </a:bodyPr>
          <a:lstStyle/>
          <a:p>
            <a:pPr algn="l">
              <a:lnSpc>
                <a:spcPct val="106000"/>
              </a:lnSpc>
            </a:pPr>
            <a:r>
              <a:rPr sz="5600" b="1">
                <a:solidFill>
                  <a:srgbClr val="FFFFFF"/>
                </a:solidFill>
                <a:latin typeface="Calibri"/>
              </a:rPr>
              <a:t>The Psychrometric Chart</a:t>
            </a:r>
          </a:p>
        </p:txBody>
      </p:sp>
      <p:sp>
        <p:nvSpPr>
          <p:cNvPr id="5" name="TextBox 4"/>
          <p:cNvSpPr txBox="1"/>
          <p:nvPr/>
        </p:nvSpPr>
        <p:spPr>
          <a:xfrm>
            <a:off x="822960" y="3063240"/>
            <a:ext cx="10607040" cy="914400"/>
          </a:xfrm>
          <a:prstGeom prst="rect">
            <a:avLst/>
          </a:prstGeom>
          <a:noFill/>
        </p:spPr>
        <p:txBody>
          <a:bodyPr wrap="square" anchor="t" lIns="25400" rIns="25400" tIns="25400" bIns="25400">
            <a:spAutoFit/>
          </a:bodyPr>
          <a:lstStyle/>
          <a:p>
            <a:pPr algn="l">
              <a:lnSpc>
                <a:spcPct val="120000"/>
              </a:lnSpc>
            </a:pPr>
            <a:r>
              <a:rPr sz="2400" b="0">
                <a:solidFill>
                  <a:srgbClr val="93C5FD"/>
                </a:solidFill>
                <a:latin typeface="Calibri"/>
              </a:rPr>
              <a:t>HVAC's master diagram — and the missing tool in most Building Management Systems</a:t>
            </a:r>
          </a:p>
        </p:txBody>
      </p:sp>
      <p:sp>
        <p:nvSpPr>
          <p:cNvPr id="6" name="TextBox 5"/>
          <p:cNvSpPr txBox="1"/>
          <p:nvPr/>
        </p:nvSpPr>
        <p:spPr>
          <a:xfrm>
            <a:off x="822960" y="4251960"/>
            <a:ext cx="10424160" cy="1097280"/>
          </a:xfrm>
          <a:prstGeom prst="rect">
            <a:avLst/>
          </a:prstGeom>
          <a:noFill/>
        </p:spPr>
        <p:txBody>
          <a:bodyPr wrap="square" anchor="t" lIns="25400" rIns="25400" tIns="25400" bIns="25400">
            <a:spAutoFit/>
          </a:bodyPr>
          <a:lstStyle/>
          <a:p>
            <a:pPr algn="l">
              <a:lnSpc>
                <a:spcPct val="125000"/>
              </a:lnSpc>
            </a:pPr>
            <a:r>
              <a:rPr sz="1600" b="0">
                <a:solidFill>
                  <a:srgbClr val="CBD5E1"/>
                </a:solidFill>
                <a:latin typeface="Calibri"/>
              </a:rPr>
              <a:t>Why equipment designers cannot work without it, why traditional BMS never adopted it, and how this one chart answers ASHRAE 55, 62.1, 90.1 and Guideline 36 at the same time.</a:t>
            </a:r>
          </a:p>
        </p:txBody>
      </p:sp>
      <p:sp>
        <p:nvSpPr>
          <p:cNvPr id="7" name="Rounded Rectangle 6"/>
          <p:cNvSpPr/>
          <p:nvPr/>
        </p:nvSpPr>
        <p:spPr>
          <a:xfrm>
            <a:off x="822960" y="5623560"/>
            <a:ext cx="2148840" cy="457200"/>
          </a:xfrm>
          <a:prstGeom prst="roundRect">
            <a:avLst/>
          </a:prstGeom>
          <a:solidFill>
            <a:srgbClr val="1E293B"/>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5669280"/>
            <a:ext cx="2148840" cy="365760"/>
          </a:xfrm>
          <a:prstGeom prst="rect">
            <a:avLst/>
          </a:prstGeom>
          <a:noFill/>
        </p:spPr>
        <p:txBody>
          <a:bodyPr wrap="square" anchor="t" lIns="25400" rIns="25400" tIns="25400" bIns="25400">
            <a:spAutoFit/>
          </a:bodyPr>
          <a:lstStyle/>
          <a:p>
            <a:pPr algn="ctr">
              <a:lnSpc>
                <a:spcPct val="106000"/>
              </a:lnSpc>
            </a:pPr>
            <a:r>
              <a:rPr sz="1300" b="1">
                <a:solidFill>
                  <a:srgbClr val="93C5FD"/>
                </a:solidFill>
                <a:latin typeface="Calibri"/>
              </a:rPr>
              <a:t>Moist-air states</a:t>
            </a:r>
          </a:p>
        </p:txBody>
      </p:sp>
      <p:sp>
        <p:nvSpPr>
          <p:cNvPr id="9" name="Rounded Rectangle 8"/>
          <p:cNvSpPr/>
          <p:nvPr/>
        </p:nvSpPr>
        <p:spPr>
          <a:xfrm>
            <a:off x="3154679" y="5623560"/>
            <a:ext cx="2148840" cy="457200"/>
          </a:xfrm>
          <a:prstGeom prst="roundRect">
            <a:avLst/>
          </a:prstGeom>
          <a:solidFill>
            <a:srgbClr val="1E293B"/>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54679" y="5669280"/>
            <a:ext cx="2148840" cy="365760"/>
          </a:xfrm>
          <a:prstGeom prst="rect">
            <a:avLst/>
          </a:prstGeom>
          <a:noFill/>
        </p:spPr>
        <p:txBody>
          <a:bodyPr wrap="square" anchor="t" lIns="25400" rIns="25400" tIns="25400" bIns="25400">
            <a:spAutoFit/>
          </a:bodyPr>
          <a:lstStyle/>
          <a:p>
            <a:pPr algn="ctr">
              <a:lnSpc>
                <a:spcPct val="106000"/>
              </a:lnSpc>
            </a:pPr>
            <a:r>
              <a:rPr sz="1300" b="1">
                <a:solidFill>
                  <a:srgbClr val="93C5FD"/>
                </a:solidFill>
                <a:latin typeface="Calibri"/>
              </a:rPr>
              <a:t>Design tool</a:t>
            </a:r>
          </a:p>
        </p:txBody>
      </p:sp>
      <p:sp>
        <p:nvSpPr>
          <p:cNvPr id="11" name="Rounded Rectangle 10"/>
          <p:cNvSpPr/>
          <p:nvPr/>
        </p:nvSpPr>
        <p:spPr>
          <a:xfrm>
            <a:off x="5486400" y="5623560"/>
            <a:ext cx="2148840" cy="457200"/>
          </a:xfrm>
          <a:prstGeom prst="roundRect">
            <a:avLst/>
          </a:prstGeom>
          <a:solidFill>
            <a:srgbClr val="1E293B"/>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0" y="5669280"/>
            <a:ext cx="2148840" cy="365760"/>
          </a:xfrm>
          <a:prstGeom prst="rect">
            <a:avLst/>
          </a:prstGeom>
          <a:noFill/>
        </p:spPr>
        <p:txBody>
          <a:bodyPr wrap="square" anchor="t" lIns="25400" rIns="25400" tIns="25400" bIns="25400">
            <a:spAutoFit/>
          </a:bodyPr>
          <a:lstStyle/>
          <a:p>
            <a:pPr algn="ctr">
              <a:lnSpc>
                <a:spcPct val="106000"/>
              </a:lnSpc>
            </a:pPr>
            <a:r>
              <a:rPr sz="1300" b="1">
                <a:solidFill>
                  <a:srgbClr val="93C5FD"/>
                </a:solidFill>
                <a:latin typeface="Calibri"/>
              </a:rPr>
              <a:t>ASHRAE-aligned</a:t>
            </a:r>
          </a:p>
        </p:txBody>
      </p:sp>
      <p:sp>
        <p:nvSpPr>
          <p:cNvPr id="13" name="Rounded Rectangle 12"/>
          <p:cNvSpPr/>
          <p:nvPr/>
        </p:nvSpPr>
        <p:spPr>
          <a:xfrm>
            <a:off x="7818119" y="5623560"/>
            <a:ext cx="2148840" cy="457200"/>
          </a:xfrm>
          <a:prstGeom prst="roundRect">
            <a:avLst/>
          </a:prstGeom>
          <a:solidFill>
            <a:srgbClr val="1E293B"/>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18119" y="5669280"/>
            <a:ext cx="2148840" cy="365760"/>
          </a:xfrm>
          <a:prstGeom prst="rect">
            <a:avLst/>
          </a:prstGeom>
          <a:noFill/>
        </p:spPr>
        <p:txBody>
          <a:bodyPr wrap="square" anchor="t" lIns="25400" rIns="25400" tIns="25400" bIns="25400">
            <a:spAutoFit/>
          </a:bodyPr>
          <a:lstStyle/>
          <a:p>
            <a:pPr algn="ctr">
              <a:lnSpc>
                <a:spcPct val="106000"/>
              </a:lnSpc>
            </a:pPr>
            <a:r>
              <a:rPr sz="1300" b="1">
                <a:solidFill>
                  <a:srgbClr val="93C5FD"/>
                </a:solidFill>
                <a:latin typeface="Calibri"/>
              </a:rPr>
              <a:t>Live controls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START HERE</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Who uses this chart — and on what equipment</a:t>
            </a:r>
          </a:p>
        </p:txBody>
      </p:sp>
      <p:sp>
        <p:nvSpPr>
          <p:cNvPr id="6" name="TextBox 5"/>
          <p:cNvSpPr txBox="1"/>
          <p:nvPr/>
        </p:nvSpPr>
        <p:spPr>
          <a:xfrm>
            <a:off x="640080" y="1417320"/>
            <a:ext cx="10881360" cy="685800"/>
          </a:xfrm>
          <a:prstGeom prst="rect">
            <a:avLst/>
          </a:prstGeom>
          <a:noFill/>
        </p:spPr>
        <p:txBody>
          <a:bodyPr wrap="square" anchor="t" lIns="25400" rIns="25400" tIns="25400" bIns="25400">
            <a:spAutoFit/>
          </a:bodyPr>
          <a:lstStyle/>
          <a:p>
            <a:pPr algn="l">
              <a:lnSpc>
                <a:spcPct val="120000"/>
              </a:lnSpc>
            </a:pPr>
            <a:r>
              <a:rPr sz="1500" b="0">
                <a:solidFill>
                  <a:srgbClr val="475569"/>
                </a:solidFill>
                <a:latin typeface="Calibri"/>
              </a:rPr>
              <a:t>Long before a building is controlled, someone has to choose the machines that condition its air. Those people live on the psychrometric chart.</a:t>
            </a:r>
          </a:p>
        </p:txBody>
      </p:sp>
      <p:sp>
        <p:nvSpPr>
          <p:cNvPr id="7" name="Rounded Rectangle 6"/>
          <p:cNvSpPr/>
          <p:nvPr/>
        </p:nvSpPr>
        <p:spPr>
          <a:xfrm>
            <a:off x="640080" y="2194560"/>
            <a:ext cx="3566160" cy="320040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194560"/>
            <a:ext cx="128016" cy="32004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395728"/>
            <a:ext cx="3063240" cy="457200"/>
          </a:xfrm>
          <a:prstGeom prst="rect">
            <a:avLst/>
          </a:prstGeom>
          <a:noFill/>
        </p:spPr>
        <p:txBody>
          <a:bodyPr wrap="square" anchor="t" lIns="25400" rIns="25400" tIns="25400" bIns="25400">
            <a:spAutoFit/>
          </a:bodyPr>
          <a:lstStyle/>
          <a:p>
            <a:pPr algn="l">
              <a:lnSpc>
                <a:spcPct val="106000"/>
              </a:lnSpc>
            </a:pPr>
            <a:r>
              <a:rPr sz="1500" b="1">
                <a:solidFill>
                  <a:srgbClr val="1D4ED8"/>
                </a:solidFill>
                <a:latin typeface="Calibri"/>
              </a:rPr>
              <a:t>Who they are</a:t>
            </a:r>
          </a:p>
        </p:txBody>
      </p:sp>
      <p:sp>
        <p:nvSpPr>
          <p:cNvPr id="10" name="TextBox 9"/>
          <p:cNvSpPr txBox="1"/>
          <p:nvPr/>
        </p:nvSpPr>
        <p:spPr>
          <a:xfrm>
            <a:off x="950976" y="2907792"/>
            <a:ext cx="3017520" cy="548640"/>
          </a:xfrm>
          <a:prstGeom prst="rect">
            <a:avLst/>
          </a:prstGeom>
          <a:noFill/>
        </p:spPr>
        <p:txBody>
          <a:bodyPr wrap="square" anchor="t" lIns="25400" rIns="25400" tIns="25400" bIns="25400">
            <a:spAutoFit/>
          </a:bodyPr>
          <a:lstStyle/>
          <a:p>
            <a:pPr algn="l">
              <a:lnSpc>
                <a:spcPct val="115000"/>
              </a:lnSpc>
            </a:pPr>
            <a:r>
              <a:rPr sz="1250" b="0">
                <a:solidFill>
                  <a:srgbClr val="475569"/>
                </a:solidFill>
                <a:latin typeface="Calibri"/>
              </a:rPr>
              <a:t>“HVAC equipment designers” are the mechanical engineers who select and size air-conditioning equipment:</a:t>
            </a:r>
          </a:p>
        </p:txBody>
      </p:sp>
      <p:sp>
        <p:nvSpPr>
          <p:cNvPr id="11" name="TextBox 10"/>
          <p:cNvSpPr txBox="1"/>
          <p:nvPr/>
        </p:nvSpPr>
        <p:spPr>
          <a:xfrm>
            <a:off x="950976" y="3410712"/>
            <a:ext cx="3017520" cy="1847088"/>
          </a:xfrm>
          <a:prstGeom prst="rect">
            <a:avLst/>
          </a:prstGeom>
          <a:noFill/>
        </p:spPr>
        <p:txBody>
          <a:bodyPr wrap="square">
            <a:spAutoFit/>
          </a:bodyPr>
          <a:lstStyle/>
          <a:p>
            <a:pPr>
              <a:lnSpc>
                <a:spcPct val="112000"/>
              </a:lnSpc>
              <a:spcAft>
                <a:spcPts val="500"/>
              </a:spcAft>
            </a:pPr>
            <a:r>
              <a:rPr sz="1250">
                <a:solidFill>
                  <a:srgbClr val="475569"/>
                </a:solidFill>
                <a:latin typeface="Calibri"/>
              </a:rPr>
              <a:t>•  manufacturers' application engineers</a:t>
            </a:r>
          </a:p>
          <a:p>
            <a:pPr>
              <a:lnSpc>
                <a:spcPct val="112000"/>
              </a:lnSpc>
              <a:spcAft>
                <a:spcPts val="500"/>
              </a:spcAft>
            </a:pPr>
            <a:r>
              <a:rPr sz="1250">
                <a:solidFill>
                  <a:srgbClr val="475569"/>
                </a:solidFill>
                <a:latin typeface="Calibri"/>
              </a:rPr>
              <a:t>•  consulting / design engineers</a:t>
            </a:r>
          </a:p>
          <a:p>
            <a:pPr>
              <a:lnSpc>
                <a:spcPct val="112000"/>
              </a:lnSpc>
              <a:spcAft>
                <a:spcPts val="500"/>
              </a:spcAft>
            </a:pPr>
            <a:r>
              <a:rPr sz="1250">
                <a:solidFill>
                  <a:srgbClr val="475569"/>
                </a:solidFill>
                <a:latin typeface="Calibri"/>
              </a:rPr>
              <a:t>•  commissioning engineers who prove it works</a:t>
            </a:r>
          </a:p>
        </p:txBody>
      </p:sp>
      <p:sp>
        <p:nvSpPr>
          <p:cNvPr id="12" name="Rounded Rectangle 11"/>
          <p:cNvSpPr/>
          <p:nvPr/>
        </p:nvSpPr>
        <p:spPr>
          <a:xfrm>
            <a:off x="4434840" y="2194560"/>
            <a:ext cx="3566160" cy="320040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34840" y="2194560"/>
            <a:ext cx="128016" cy="32004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45736" y="2395728"/>
            <a:ext cx="3063240" cy="457200"/>
          </a:xfrm>
          <a:prstGeom prst="rect">
            <a:avLst/>
          </a:prstGeom>
          <a:noFill/>
        </p:spPr>
        <p:txBody>
          <a:bodyPr wrap="square" anchor="t" lIns="25400" rIns="25400" tIns="25400" bIns="25400">
            <a:spAutoFit/>
          </a:bodyPr>
          <a:lstStyle/>
          <a:p>
            <a:pPr algn="l">
              <a:lnSpc>
                <a:spcPct val="106000"/>
              </a:lnSpc>
            </a:pPr>
            <a:r>
              <a:rPr sz="1500" b="1">
                <a:solidFill>
                  <a:srgbClr val="047857"/>
                </a:solidFill>
                <a:latin typeface="Calibri"/>
              </a:rPr>
              <a:t>What “HVAC equipment” means</a:t>
            </a:r>
          </a:p>
        </p:txBody>
      </p:sp>
      <p:sp>
        <p:nvSpPr>
          <p:cNvPr id="15" name="TextBox 14"/>
          <p:cNvSpPr txBox="1"/>
          <p:nvPr/>
        </p:nvSpPr>
        <p:spPr>
          <a:xfrm>
            <a:off x="4745736" y="2907792"/>
            <a:ext cx="3017520" cy="548640"/>
          </a:xfrm>
          <a:prstGeom prst="rect">
            <a:avLst/>
          </a:prstGeom>
          <a:noFill/>
        </p:spPr>
        <p:txBody>
          <a:bodyPr wrap="square" anchor="t" lIns="25400" rIns="25400" tIns="25400" bIns="25400">
            <a:spAutoFit/>
          </a:bodyPr>
          <a:lstStyle/>
          <a:p>
            <a:pPr algn="l">
              <a:lnSpc>
                <a:spcPct val="115000"/>
              </a:lnSpc>
            </a:pPr>
            <a:r>
              <a:rPr sz="1250" b="0">
                <a:solidFill>
                  <a:srgbClr val="475569"/>
                </a:solidFill>
                <a:latin typeface="Calibri"/>
              </a:rPr>
              <a:t>The machines that actually change the air:</a:t>
            </a:r>
          </a:p>
        </p:txBody>
      </p:sp>
      <p:sp>
        <p:nvSpPr>
          <p:cNvPr id="16" name="TextBox 15"/>
          <p:cNvSpPr txBox="1"/>
          <p:nvPr/>
        </p:nvSpPr>
        <p:spPr>
          <a:xfrm>
            <a:off x="4745736" y="3410712"/>
            <a:ext cx="3017520" cy="1847088"/>
          </a:xfrm>
          <a:prstGeom prst="rect">
            <a:avLst/>
          </a:prstGeom>
          <a:noFill/>
        </p:spPr>
        <p:txBody>
          <a:bodyPr wrap="square">
            <a:spAutoFit/>
          </a:bodyPr>
          <a:lstStyle/>
          <a:p>
            <a:pPr>
              <a:lnSpc>
                <a:spcPct val="112000"/>
              </a:lnSpc>
              <a:spcAft>
                <a:spcPts val="500"/>
              </a:spcAft>
            </a:pPr>
            <a:r>
              <a:rPr sz="1250">
                <a:solidFill>
                  <a:srgbClr val="475569"/>
                </a:solidFill>
                <a:latin typeface="Calibri"/>
              </a:rPr>
              <a:t>•  air-handling units (AHUs) and their heating / cooling coils</a:t>
            </a:r>
          </a:p>
          <a:p>
            <a:pPr>
              <a:lnSpc>
                <a:spcPct val="112000"/>
              </a:lnSpc>
              <a:spcAft>
                <a:spcPts val="500"/>
              </a:spcAft>
            </a:pPr>
            <a:r>
              <a:rPr sz="1250">
                <a:solidFill>
                  <a:srgbClr val="475569"/>
                </a:solidFill>
                <a:latin typeface="Calibri"/>
              </a:rPr>
              <a:t>•  mixing &amp; economizer dampers</a:t>
            </a:r>
          </a:p>
          <a:p>
            <a:pPr>
              <a:lnSpc>
                <a:spcPct val="112000"/>
              </a:lnSpc>
              <a:spcAft>
                <a:spcPts val="500"/>
              </a:spcAft>
            </a:pPr>
            <a:r>
              <a:rPr sz="1250">
                <a:solidFill>
                  <a:srgbClr val="475569"/>
                </a:solidFill>
                <a:latin typeface="Calibri"/>
              </a:rPr>
              <a:t>•  humidifiers and dehumidifiers</a:t>
            </a:r>
          </a:p>
          <a:p>
            <a:pPr>
              <a:lnSpc>
                <a:spcPct val="112000"/>
              </a:lnSpc>
              <a:spcAft>
                <a:spcPts val="500"/>
              </a:spcAft>
            </a:pPr>
            <a:r>
              <a:rPr sz="1250">
                <a:solidFill>
                  <a:srgbClr val="475569"/>
                </a:solidFill>
                <a:latin typeface="Calibri"/>
              </a:rPr>
              <a:t>•  energy-recovery wheels (ERV / HRV)</a:t>
            </a:r>
          </a:p>
          <a:p>
            <a:pPr>
              <a:lnSpc>
                <a:spcPct val="112000"/>
              </a:lnSpc>
              <a:spcAft>
                <a:spcPts val="500"/>
              </a:spcAft>
            </a:pPr>
            <a:r>
              <a:rPr sz="1250">
                <a:solidFill>
                  <a:srgbClr val="475569"/>
                </a:solidFill>
                <a:latin typeface="Calibri"/>
              </a:rPr>
              <a:t>•  chillers and DX systems, fans, VAV terminals</a:t>
            </a:r>
          </a:p>
        </p:txBody>
      </p:sp>
      <p:sp>
        <p:nvSpPr>
          <p:cNvPr id="17" name="Rounded Rectangle 16"/>
          <p:cNvSpPr/>
          <p:nvPr/>
        </p:nvSpPr>
        <p:spPr>
          <a:xfrm>
            <a:off x="8229600" y="2194560"/>
            <a:ext cx="3566160" cy="320040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9600" y="2194560"/>
            <a:ext cx="128016" cy="32004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40496" y="2395728"/>
            <a:ext cx="3063240" cy="457200"/>
          </a:xfrm>
          <a:prstGeom prst="rect">
            <a:avLst/>
          </a:prstGeom>
          <a:noFill/>
        </p:spPr>
        <p:txBody>
          <a:bodyPr wrap="square" anchor="t" lIns="25400" rIns="25400" tIns="25400" bIns="25400">
            <a:spAutoFit/>
          </a:bodyPr>
          <a:lstStyle/>
          <a:p>
            <a:pPr algn="l">
              <a:lnSpc>
                <a:spcPct val="106000"/>
              </a:lnSpc>
            </a:pPr>
            <a:r>
              <a:rPr sz="1500" b="1">
                <a:solidFill>
                  <a:srgbClr val="B45309"/>
                </a:solidFill>
                <a:latin typeface="Calibri"/>
              </a:rPr>
              <a:t>What they must decide</a:t>
            </a:r>
          </a:p>
        </p:txBody>
      </p:sp>
      <p:sp>
        <p:nvSpPr>
          <p:cNvPr id="20" name="TextBox 19"/>
          <p:cNvSpPr txBox="1"/>
          <p:nvPr/>
        </p:nvSpPr>
        <p:spPr>
          <a:xfrm>
            <a:off x="8540496" y="2907792"/>
            <a:ext cx="3017520" cy="2350008"/>
          </a:xfrm>
          <a:prstGeom prst="rect">
            <a:avLst/>
          </a:prstGeom>
          <a:noFill/>
        </p:spPr>
        <p:txBody>
          <a:bodyPr wrap="square">
            <a:spAutoFit/>
          </a:bodyPr>
          <a:lstStyle/>
          <a:p>
            <a:pPr>
              <a:lnSpc>
                <a:spcPct val="112000"/>
              </a:lnSpc>
              <a:spcAft>
                <a:spcPts val="500"/>
              </a:spcAft>
            </a:pPr>
            <a:r>
              <a:rPr sz="1250">
                <a:solidFill>
                  <a:srgbClr val="475569"/>
                </a:solidFill>
                <a:latin typeface="Calibri"/>
              </a:rPr>
              <a:t>•  How much cooling or heating is needed</a:t>
            </a:r>
          </a:p>
          <a:p>
            <a:pPr>
              <a:lnSpc>
                <a:spcPct val="112000"/>
              </a:lnSpc>
              <a:spcAft>
                <a:spcPts val="500"/>
              </a:spcAft>
            </a:pPr>
            <a:r>
              <a:rPr sz="1250">
                <a:solidFill>
                  <a:srgbClr val="475569"/>
                </a:solidFill>
                <a:latin typeface="Calibri"/>
              </a:rPr>
              <a:t>•  How much of that cooling removes MOISTURE rather than heat</a:t>
            </a:r>
          </a:p>
          <a:p>
            <a:pPr>
              <a:lnSpc>
                <a:spcPct val="112000"/>
              </a:lnSpc>
              <a:spcAft>
                <a:spcPts val="500"/>
              </a:spcAft>
            </a:pPr>
            <a:r>
              <a:rPr sz="1250">
                <a:solidFill>
                  <a:srgbClr val="475569"/>
                </a:solidFill>
                <a:latin typeface="Calibri"/>
              </a:rPr>
              <a:t>•  How big the coil must be</a:t>
            </a:r>
          </a:p>
          <a:p>
            <a:pPr>
              <a:lnSpc>
                <a:spcPct val="112000"/>
              </a:lnSpc>
              <a:spcAft>
                <a:spcPts val="500"/>
              </a:spcAft>
            </a:pPr>
            <a:r>
              <a:rPr sz="1250">
                <a:solidFill>
                  <a:srgbClr val="475569"/>
                </a:solidFill>
                <a:latin typeface="Calibri"/>
              </a:rPr>
              <a:t>•  How much outside air to mix in</a:t>
            </a:r>
          </a:p>
          <a:p>
            <a:pPr>
              <a:lnSpc>
                <a:spcPct val="112000"/>
              </a:lnSpc>
              <a:spcAft>
                <a:spcPts val="500"/>
              </a:spcAft>
            </a:pPr>
            <a:r>
              <a:rPr sz="1250">
                <a:solidFill>
                  <a:srgbClr val="475569"/>
                </a:solidFill>
                <a:latin typeface="Calibri"/>
              </a:rPr>
              <a:t>•  Whether condensation or coil freezing will occur</a:t>
            </a:r>
          </a:p>
        </p:txBody>
      </p:sp>
      <p:sp>
        <p:nvSpPr>
          <p:cNvPr id="21" name="Rounded Rectangle 20"/>
          <p:cNvSpPr/>
          <p:nvPr/>
        </p:nvSpPr>
        <p:spPr>
          <a:xfrm>
            <a:off x="640080" y="5715000"/>
            <a:ext cx="10908792" cy="731520"/>
          </a:xfrm>
          <a:prstGeom prst="roundRect">
            <a:avLst/>
          </a:prstGeom>
          <a:solidFill>
            <a:srgbClr val="EFF6FF"/>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5806440"/>
            <a:ext cx="10424160" cy="548640"/>
          </a:xfrm>
          <a:prstGeom prst="rect">
            <a:avLst/>
          </a:prstGeom>
          <a:noFill/>
        </p:spPr>
        <p:txBody>
          <a:bodyPr wrap="square" anchor="ctr" lIns="25400" rIns="25400" tIns="25400" bIns="25400">
            <a:spAutoFit/>
          </a:bodyPr>
          <a:lstStyle/>
          <a:p>
            <a:pPr algn="l">
              <a:lnSpc>
                <a:spcPct val="115000"/>
              </a:lnSpc>
            </a:pPr>
            <a:r>
              <a:rPr sz="1350" b="0">
                <a:solidFill>
                  <a:srgbClr val="0F172A"/>
                </a:solidFill>
                <a:latin typeface="Calibri"/>
              </a:rPr>
              <a:t>Every one of those decisions is a point or a line on the psychrometric chart. That is why the chart — not the equipment catalogue — is where air-conditioning design actually happens.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WHY IT EXISTS</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Why designers cannot work without it</a:t>
            </a:r>
          </a:p>
        </p:txBody>
      </p:sp>
      <p:sp>
        <p:nvSpPr>
          <p:cNvPr id="6" name="TextBox 5"/>
          <p:cNvSpPr txBox="1"/>
          <p:nvPr/>
        </p:nvSpPr>
        <p:spPr>
          <a:xfrm>
            <a:off x="640080" y="1417320"/>
            <a:ext cx="10881360" cy="685800"/>
          </a:xfrm>
          <a:prstGeom prst="rect">
            <a:avLst/>
          </a:prstGeom>
          <a:noFill/>
        </p:spPr>
        <p:txBody>
          <a:bodyPr wrap="square" anchor="t" lIns="25400" rIns="25400" tIns="25400" bIns="25400">
            <a:spAutoFit/>
          </a:bodyPr>
          <a:lstStyle/>
          <a:p>
            <a:pPr algn="l">
              <a:lnSpc>
                <a:spcPct val="120000"/>
              </a:lnSpc>
            </a:pPr>
            <a:r>
              <a:rPr sz="1500" b="0">
                <a:solidFill>
                  <a:srgbClr val="475569"/>
                </a:solidFill>
                <a:latin typeface="Calibri"/>
              </a:rPr>
              <a:t>Air conditioning is not simply “making air colder”. It is moving MOIST AIR from one state to another — and the psychrometric chart is the map of every state air can be in.</a:t>
            </a:r>
          </a:p>
        </p:txBody>
      </p:sp>
      <p:sp>
        <p:nvSpPr>
          <p:cNvPr id="7" name="Rounded Rectangle 6"/>
          <p:cNvSpPr/>
          <p:nvPr/>
        </p:nvSpPr>
        <p:spPr>
          <a:xfrm>
            <a:off x="640080" y="2194560"/>
            <a:ext cx="5349240" cy="17830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194560"/>
            <a:ext cx="118872" cy="178308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395728"/>
            <a:ext cx="4846320" cy="457200"/>
          </a:xfrm>
          <a:prstGeom prst="rect">
            <a:avLst/>
          </a:prstGeom>
          <a:noFill/>
        </p:spPr>
        <p:txBody>
          <a:bodyPr wrap="square" anchor="t" lIns="25400" rIns="25400" tIns="25400" bIns="25400">
            <a:spAutoFit/>
          </a:bodyPr>
          <a:lstStyle/>
          <a:p>
            <a:pPr algn="l">
              <a:lnSpc>
                <a:spcPct val="106000"/>
              </a:lnSpc>
            </a:pPr>
            <a:r>
              <a:rPr sz="1700" b="1">
                <a:solidFill>
                  <a:srgbClr val="1D4ED8"/>
                </a:solidFill>
                <a:latin typeface="Calibri"/>
              </a:rPr>
              <a:t>Every process is a line</a:t>
            </a:r>
          </a:p>
        </p:txBody>
      </p:sp>
      <p:sp>
        <p:nvSpPr>
          <p:cNvPr id="10" name="TextBox 9"/>
          <p:cNvSpPr txBox="1"/>
          <p:nvPr/>
        </p:nvSpPr>
        <p:spPr>
          <a:xfrm>
            <a:off x="932688" y="2871216"/>
            <a:ext cx="4800600" cy="978408"/>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Cooling, heating, humidifying, dehumidifying and mixing each move the air in a characteristic direction. Draw the line and you have described the process.</a:t>
            </a:r>
          </a:p>
        </p:txBody>
      </p:sp>
      <p:sp>
        <p:nvSpPr>
          <p:cNvPr id="11" name="Rounded Rectangle 10"/>
          <p:cNvSpPr/>
          <p:nvPr/>
        </p:nvSpPr>
        <p:spPr>
          <a:xfrm>
            <a:off x="6199632" y="2194560"/>
            <a:ext cx="5349240" cy="17830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99632" y="2194560"/>
            <a:ext cx="118872" cy="17830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395728"/>
            <a:ext cx="4846320" cy="457200"/>
          </a:xfrm>
          <a:prstGeom prst="rect">
            <a:avLst/>
          </a:prstGeom>
          <a:noFill/>
        </p:spPr>
        <p:txBody>
          <a:bodyPr wrap="square" anchor="t" lIns="25400" rIns="25400" tIns="25400" bIns="25400">
            <a:spAutoFit/>
          </a:bodyPr>
          <a:lstStyle/>
          <a:p>
            <a:pPr algn="l">
              <a:lnSpc>
                <a:spcPct val="106000"/>
              </a:lnSpc>
            </a:pPr>
            <a:r>
              <a:rPr sz="1700" b="1">
                <a:solidFill>
                  <a:srgbClr val="047857"/>
                </a:solidFill>
                <a:latin typeface="Calibri"/>
              </a:rPr>
              <a:t>Capacity comes from the chart</a:t>
            </a:r>
          </a:p>
        </p:txBody>
      </p:sp>
      <p:sp>
        <p:nvSpPr>
          <p:cNvPr id="14" name="TextBox 13"/>
          <p:cNvSpPr txBox="1"/>
          <p:nvPr/>
        </p:nvSpPr>
        <p:spPr>
          <a:xfrm>
            <a:off x="6492240" y="2871216"/>
            <a:ext cx="4800600" cy="978408"/>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The energy content (enthalpy) at each end of the line, multiplied by airflow, is the kW the coil must deliver. That is how equipment gets sized.</a:t>
            </a:r>
          </a:p>
        </p:txBody>
      </p:sp>
      <p:sp>
        <p:nvSpPr>
          <p:cNvPr id="15" name="Rounded Rectangle 14"/>
          <p:cNvSpPr/>
          <p:nvPr/>
        </p:nvSpPr>
        <p:spPr>
          <a:xfrm>
            <a:off x="640080" y="4178808"/>
            <a:ext cx="5349240" cy="17830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178808"/>
            <a:ext cx="118872" cy="1783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379976"/>
            <a:ext cx="4846320" cy="457200"/>
          </a:xfrm>
          <a:prstGeom prst="rect">
            <a:avLst/>
          </a:prstGeom>
          <a:noFill/>
        </p:spPr>
        <p:txBody>
          <a:bodyPr wrap="square" anchor="t" lIns="25400" rIns="25400" tIns="25400" bIns="25400">
            <a:spAutoFit/>
          </a:bodyPr>
          <a:lstStyle/>
          <a:p>
            <a:pPr algn="l">
              <a:lnSpc>
                <a:spcPct val="106000"/>
              </a:lnSpc>
            </a:pPr>
            <a:r>
              <a:rPr sz="1700" b="1">
                <a:solidFill>
                  <a:srgbClr val="B45309"/>
                </a:solidFill>
                <a:latin typeface="Calibri"/>
              </a:rPr>
              <a:t>Sensible vs latent</a:t>
            </a:r>
          </a:p>
        </p:txBody>
      </p:sp>
      <p:sp>
        <p:nvSpPr>
          <p:cNvPr id="18" name="TextBox 17"/>
          <p:cNvSpPr txBox="1"/>
          <p:nvPr/>
        </p:nvSpPr>
        <p:spPr>
          <a:xfrm>
            <a:off x="932688" y="4855464"/>
            <a:ext cx="4800600" cy="978408"/>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The chart separates cooling that lowers temperature from cooling that removes water. The two behave differently and must be sized separately.</a:t>
            </a:r>
          </a:p>
        </p:txBody>
      </p:sp>
      <p:sp>
        <p:nvSpPr>
          <p:cNvPr id="19" name="Rounded Rectangle 18"/>
          <p:cNvSpPr/>
          <p:nvPr/>
        </p:nvSpPr>
        <p:spPr>
          <a:xfrm>
            <a:off x="6199632" y="4178808"/>
            <a:ext cx="5349240" cy="17830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178808"/>
            <a:ext cx="118872" cy="17830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4379976"/>
            <a:ext cx="4846320" cy="457200"/>
          </a:xfrm>
          <a:prstGeom prst="rect">
            <a:avLst/>
          </a:prstGeom>
          <a:noFill/>
        </p:spPr>
        <p:txBody>
          <a:bodyPr wrap="square" anchor="t" lIns="25400" rIns="25400" tIns="25400" bIns="25400">
            <a:spAutoFit/>
          </a:bodyPr>
          <a:lstStyle/>
          <a:p>
            <a:pPr algn="l">
              <a:lnSpc>
                <a:spcPct val="106000"/>
              </a:lnSpc>
            </a:pPr>
            <a:r>
              <a:rPr sz="1700" b="1">
                <a:solidFill>
                  <a:srgbClr val="0F172A"/>
                </a:solidFill>
                <a:latin typeface="Calibri"/>
              </a:rPr>
              <a:t>Physical limits are visible</a:t>
            </a:r>
          </a:p>
        </p:txBody>
      </p:sp>
      <p:sp>
        <p:nvSpPr>
          <p:cNvPr id="22" name="TextBox 21"/>
          <p:cNvSpPr txBox="1"/>
          <p:nvPr/>
        </p:nvSpPr>
        <p:spPr>
          <a:xfrm>
            <a:off x="6492240" y="4855464"/>
            <a:ext cx="4800600" cy="978408"/>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The curved boundary is 100% humidity — air cannot go beyond it. It shows where condensation begins and where a coil would freeze.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HOW TO READ IT</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One dot is the state of the air</a:t>
            </a:r>
          </a:p>
        </p:txBody>
      </p:sp>
      <p:sp>
        <p:nvSpPr>
          <p:cNvPr id="6" name="Rounded Rectangle 5"/>
          <p:cNvSpPr/>
          <p:nvPr/>
        </p:nvSpPr>
        <p:spPr>
          <a:xfrm>
            <a:off x="566928" y="1783080"/>
            <a:ext cx="5074920" cy="365760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139446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44602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97180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49758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02336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4914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68680" y="4594859"/>
            <a:ext cx="4206240" cy="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68680" y="4114800"/>
            <a:ext cx="4206240" cy="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68680" y="3634739"/>
            <a:ext cx="4206240" cy="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68680" y="3154679"/>
            <a:ext cx="4206240" cy="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68680" y="2674620"/>
            <a:ext cx="4206240" cy="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68680" y="5074920"/>
            <a:ext cx="4206240"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868680" y="2194560"/>
            <a:ext cx="0" cy="288036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172614" y="4206856"/>
            <a:ext cx="2355494" cy="864569"/>
          </a:xfrm>
          <a:prstGeom prst="line">
            <a:avLst/>
          </a:prstGeom>
          <a:ln w="11430">
            <a:solidFill>
              <a:srgbClr val="7C3AED"/>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571189" y="3064947"/>
            <a:ext cx="1503731" cy="551934"/>
          </a:xfrm>
          <a:prstGeom prst="line">
            <a:avLst/>
          </a:prstGeom>
          <a:ln w="11430">
            <a:solidFill>
              <a:srgbClr val="7C3AED"/>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645816" y="3907970"/>
            <a:ext cx="2429104" cy="891587"/>
          </a:xfrm>
          <a:prstGeom prst="line">
            <a:avLst/>
          </a:prstGeom>
          <a:ln w="17780">
            <a:solidFill>
              <a:srgbClr val="7C3AED"/>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21638" y="3711275"/>
            <a:ext cx="1371600" cy="228600"/>
          </a:xfrm>
          <a:prstGeom prst="rect">
            <a:avLst/>
          </a:prstGeom>
          <a:noFill/>
        </p:spPr>
        <p:txBody>
          <a:bodyPr wrap="square" anchor="t" lIns="25400" rIns="25400" tIns="25400" bIns="25400">
            <a:spAutoFit/>
          </a:bodyPr>
          <a:lstStyle/>
          <a:p>
            <a:pPr algn="r">
              <a:lnSpc>
                <a:spcPct val="106000"/>
              </a:lnSpc>
            </a:pPr>
            <a:r>
              <a:rPr sz="900" b="1">
                <a:solidFill>
                  <a:srgbClr val="7C3AED"/>
                </a:solidFill>
                <a:latin typeface="Calibri"/>
              </a:rPr>
              <a:t>equal energy (enthalpy)</a:t>
            </a:r>
          </a:p>
        </p:txBody>
      </p:sp>
      <p:sp>
        <p:nvSpPr>
          <p:cNvPr id="25" name="Freeform 24"/>
          <p:cNvSpPr/>
          <p:nvPr/>
        </p:nvSpPr>
        <p:spPr>
          <a:xfrm>
            <a:off x="868680" y="2194560"/>
            <a:ext cx="3312414" cy="2517914"/>
          </a:xfrm>
          <a:custGeom>
            <a:avLst/>
            <a:gdLst/>
            <a:ahLst/>
            <a:cxnLst/>
            <a:rect l="l" t="t" r="r" b="b"/>
            <a:pathLst>
              <a:path w="3312414" h="2517914">
                <a:moveTo>
                  <a:pt x="0" y="2517914"/>
                </a:moveTo>
                <a:lnTo>
                  <a:pt x="525780" y="2361703"/>
                </a:lnTo>
                <a:lnTo>
                  <a:pt x="1051560" y="2147788"/>
                </a:lnTo>
                <a:lnTo>
                  <a:pt x="1577340" y="1858120"/>
                </a:lnTo>
                <a:lnTo>
                  <a:pt x="2103120" y="1469271"/>
                </a:lnTo>
                <a:lnTo>
                  <a:pt x="2628900" y="952247"/>
                </a:lnTo>
                <a:lnTo>
                  <a:pt x="3154680" y="268641"/>
                </a:lnTo>
                <a:lnTo>
                  <a:pt x="3312414" y="0"/>
                </a:lnTo>
              </a:path>
            </a:pathLst>
          </a:custGeom>
          <a:no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33672" y="2176272"/>
            <a:ext cx="1097280" cy="457200"/>
          </a:xfrm>
          <a:prstGeom prst="rect">
            <a:avLst/>
          </a:prstGeom>
          <a:noFill/>
        </p:spPr>
        <p:txBody>
          <a:bodyPr wrap="square" anchor="t" lIns="25400" rIns="25400" tIns="25400" bIns="25400">
            <a:spAutoFit/>
          </a:bodyPr>
          <a:lstStyle/>
          <a:p>
            <a:pPr algn="l">
              <a:lnSpc>
                <a:spcPct val="106000"/>
              </a:lnSpc>
            </a:pPr>
            <a:r>
              <a:rPr sz="950" b="1">
                <a:solidFill>
                  <a:srgbClr val="1D4ED8"/>
                </a:solidFill>
                <a:latin typeface="Calibri"/>
              </a:rPr>
              <a:t>100% RH</a:t>
            </a:r>
          </a:p>
          <a:p>
            <a:pPr algn="l">
              <a:lnSpc>
                <a:spcPct val="106000"/>
              </a:lnSpc>
            </a:pPr>
            <a:r>
              <a:rPr sz="950" b="1">
                <a:solidFill>
                  <a:srgbClr val="1D4ED8"/>
                </a:solidFill>
                <a:latin typeface="Calibri"/>
              </a:rPr>
              <a:t>(saturation)</a:t>
            </a:r>
          </a:p>
        </p:txBody>
      </p:sp>
      <p:sp>
        <p:nvSpPr>
          <p:cNvPr id="27" name="Rounded Rectangle 26"/>
          <p:cNvSpPr/>
          <p:nvPr/>
        </p:nvSpPr>
        <p:spPr>
          <a:xfrm>
            <a:off x="2971800" y="3922776"/>
            <a:ext cx="630936" cy="576071"/>
          </a:xfrm>
          <a:prstGeom prst="roundRect">
            <a:avLst/>
          </a:prstGeom>
          <a:solidFill>
            <a:srgbClr val="B45309">
              <a:alpha val="16000"/>
            </a:srgbClr>
          </a:solidFill>
          <a:ln w="158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098548" y="4544568"/>
            <a:ext cx="2377440" cy="274320"/>
          </a:xfrm>
          <a:prstGeom prst="rect">
            <a:avLst/>
          </a:prstGeom>
          <a:noFill/>
        </p:spPr>
        <p:txBody>
          <a:bodyPr wrap="square" anchor="t" lIns="25400" rIns="25400" tIns="25400" bIns="25400">
            <a:spAutoFit/>
          </a:bodyPr>
          <a:lstStyle/>
          <a:p>
            <a:pPr algn="ctr">
              <a:lnSpc>
                <a:spcPct val="106000"/>
              </a:lnSpc>
            </a:pPr>
            <a:r>
              <a:rPr sz="950" b="1">
                <a:solidFill>
                  <a:srgbClr val="B45309"/>
                </a:solidFill>
                <a:latin typeface="Calibri"/>
              </a:rPr>
              <a:t>Comfort zone (ASHRAE 55)</a:t>
            </a:r>
          </a:p>
        </p:txBody>
      </p:sp>
      <p:cxnSp>
        <p:nvCxnSpPr>
          <p:cNvPr id="29" name="Connector 28"/>
          <p:cNvCxnSpPr/>
          <p:nvPr/>
        </p:nvCxnSpPr>
        <p:spPr>
          <a:xfrm flipH="1">
            <a:off x="3392424" y="3346704"/>
            <a:ext cx="946404" cy="835304"/>
          </a:xfrm>
          <a:prstGeom prst="line">
            <a:avLst/>
          </a:prstGeom>
          <a:ln w="22225">
            <a:solidFill>
              <a:srgbClr val="047857"/>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2235708" y="3931417"/>
            <a:ext cx="1440637" cy="298597"/>
          </a:xfrm>
          <a:prstGeom prst="line">
            <a:avLst/>
          </a:prstGeom>
          <a:ln w="28575">
            <a:solidFill>
              <a:srgbClr val="1D4ED8"/>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4283964" y="3291840"/>
            <a:ext cx="109728" cy="109728"/>
          </a:xfrm>
          <a:prstGeom prst="ellipse">
            <a:avLst/>
          </a:prstGeom>
          <a:solidFill>
            <a:srgbClr val="B4530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30268" y="3191256"/>
            <a:ext cx="411480" cy="228600"/>
          </a:xfrm>
          <a:prstGeom prst="rect">
            <a:avLst/>
          </a:prstGeom>
          <a:noFill/>
        </p:spPr>
        <p:txBody>
          <a:bodyPr wrap="square" anchor="t" lIns="25400" rIns="25400" tIns="25400" bIns="25400">
            <a:spAutoFit/>
          </a:bodyPr>
          <a:lstStyle/>
          <a:p>
            <a:pPr algn="l">
              <a:lnSpc>
                <a:spcPct val="106000"/>
              </a:lnSpc>
            </a:pPr>
            <a:r>
              <a:rPr sz="1050" b="1">
                <a:solidFill>
                  <a:srgbClr val="B45309"/>
                </a:solidFill>
                <a:latin typeface="Calibri"/>
              </a:rPr>
              <a:t>OA</a:t>
            </a:r>
          </a:p>
        </p:txBody>
      </p:sp>
      <p:sp>
        <p:nvSpPr>
          <p:cNvPr id="33" name="Oval 32"/>
          <p:cNvSpPr/>
          <p:nvPr/>
        </p:nvSpPr>
        <p:spPr>
          <a:xfrm>
            <a:off x="3337560" y="4127144"/>
            <a:ext cx="109728" cy="109728"/>
          </a:xfrm>
          <a:prstGeom prst="ellipse">
            <a:avLst/>
          </a:prstGeom>
          <a:solidFill>
            <a:srgbClr val="04785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74720" y="4209440"/>
            <a:ext cx="411480" cy="228600"/>
          </a:xfrm>
          <a:prstGeom prst="rect">
            <a:avLst/>
          </a:prstGeom>
          <a:noFill/>
        </p:spPr>
        <p:txBody>
          <a:bodyPr wrap="square" anchor="t" lIns="25400" rIns="25400" tIns="25400" bIns="25400">
            <a:spAutoFit/>
          </a:bodyPr>
          <a:lstStyle/>
          <a:p>
            <a:pPr algn="l">
              <a:lnSpc>
                <a:spcPct val="106000"/>
              </a:lnSpc>
            </a:pPr>
            <a:r>
              <a:rPr sz="1050" b="1">
                <a:solidFill>
                  <a:srgbClr val="047857"/>
                </a:solidFill>
                <a:latin typeface="Calibri"/>
              </a:rPr>
              <a:t>RA</a:t>
            </a:r>
          </a:p>
        </p:txBody>
      </p:sp>
      <p:sp>
        <p:nvSpPr>
          <p:cNvPr id="35" name="Oval 34"/>
          <p:cNvSpPr/>
          <p:nvPr/>
        </p:nvSpPr>
        <p:spPr>
          <a:xfrm>
            <a:off x="3621481" y="3876553"/>
            <a:ext cx="109728" cy="109728"/>
          </a:xfrm>
          <a:prstGeom prst="ellipse">
            <a:avLst/>
          </a:prstGeom>
          <a:solidFill>
            <a:srgbClr val="0F17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758641" y="3748537"/>
            <a:ext cx="411480" cy="228600"/>
          </a:xfrm>
          <a:prstGeom prst="rect">
            <a:avLst/>
          </a:prstGeom>
          <a:noFill/>
        </p:spPr>
        <p:txBody>
          <a:bodyPr wrap="square" anchor="t" lIns="25400" rIns="25400" tIns="25400" bIns="25400">
            <a:spAutoFit/>
          </a:bodyPr>
          <a:lstStyle/>
          <a:p>
            <a:pPr algn="l">
              <a:lnSpc>
                <a:spcPct val="106000"/>
              </a:lnSpc>
            </a:pPr>
            <a:r>
              <a:rPr sz="1050" b="1">
                <a:solidFill>
                  <a:srgbClr val="0F172A"/>
                </a:solidFill>
                <a:latin typeface="Calibri"/>
              </a:rPr>
              <a:t>MA</a:t>
            </a:r>
          </a:p>
        </p:txBody>
      </p:sp>
      <p:sp>
        <p:nvSpPr>
          <p:cNvPr id="37" name="Oval 36"/>
          <p:cNvSpPr/>
          <p:nvPr/>
        </p:nvSpPr>
        <p:spPr>
          <a:xfrm>
            <a:off x="2180844" y="4175150"/>
            <a:ext cx="109728" cy="109728"/>
          </a:xfrm>
          <a:prstGeom prst="ellipse">
            <a:avLst/>
          </a:prstGeom>
          <a:solidFill>
            <a:srgbClr val="1D4ED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869948" y="4047134"/>
            <a:ext cx="411480" cy="228600"/>
          </a:xfrm>
          <a:prstGeom prst="rect">
            <a:avLst/>
          </a:prstGeom>
          <a:noFill/>
        </p:spPr>
        <p:txBody>
          <a:bodyPr wrap="square" anchor="t" lIns="25400" rIns="25400" tIns="25400" bIns="25400">
            <a:spAutoFit/>
          </a:bodyPr>
          <a:lstStyle/>
          <a:p>
            <a:pPr algn="l">
              <a:lnSpc>
                <a:spcPct val="106000"/>
              </a:lnSpc>
            </a:pPr>
            <a:r>
              <a:rPr sz="1050" b="1">
                <a:solidFill>
                  <a:srgbClr val="1D4ED8"/>
                </a:solidFill>
                <a:latin typeface="Calibri"/>
              </a:rPr>
              <a:t>SA</a:t>
            </a:r>
          </a:p>
        </p:txBody>
      </p:sp>
      <p:sp>
        <p:nvSpPr>
          <p:cNvPr id="39" name="TextBox 38"/>
          <p:cNvSpPr txBox="1"/>
          <p:nvPr/>
        </p:nvSpPr>
        <p:spPr>
          <a:xfrm>
            <a:off x="868680" y="5166359"/>
            <a:ext cx="4206240" cy="256032"/>
          </a:xfrm>
          <a:prstGeom prst="rect">
            <a:avLst/>
          </a:prstGeom>
          <a:noFill/>
        </p:spPr>
        <p:txBody>
          <a:bodyPr wrap="square" anchor="t" lIns="25400" rIns="25400" tIns="25400" bIns="25400">
            <a:spAutoFit/>
          </a:bodyPr>
          <a:lstStyle/>
          <a:p>
            <a:pPr algn="ctr">
              <a:lnSpc>
                <a:spcPct val="106000"/>
              </a:lnSpc>
            </a:pPr>
            <a:r>
              <a:rPr sz="1050" b="1">
                <a:solidFill>
                  <a:srgbClr val="475569"/>
                </a:solidFill>
                <a:latin typeface="Calibri"/>
              </a:rPr>
              <a:t>Dry-bulb temperature  →</a:t>
            </a:r>
          </a:p>
        </p:txBody>
      </p:sp>
      <p:sp>
        <p:nvSpPr>
          <p:cNvPr id="40" name="TextBox 39"/>
          <p:cNvSpPr txBox="1"/>
          <p:nvPr/>
        </p:nvSpPr>
        <p:spPr>
          <a:xfrm>
            <a:off x="685800" y="1956815"/>
            <a:ext cx="2377440" cy="256032"/>
          </a:xfrm>
          <a:prstGeom prst="rect">
            <a:avLst/>
          </a:prstGeom>
          <a:noFill/>
        </p:spPr>
        <p:txBody>
          <a:bodyPr wrap="square" anchor="t" lIns="25400" rIns="25400" tIns="25400" bIns="25400">
            <a:spAutoFit/>
          </a:bodyPr>
          <a:lstStyle/>
          <a:p>
            <a:pPr algn="l">
              <a:lnSpc>
                <a:spcPct val="106000"/>
              </a:lnSpc>
            </a:pPr>
            <a:r>
              <a:rPr sz="1050" b="1">
                <a:solidFill>
                  <a:srgbClr val="475569"/>
                </a:solidFill>
                <a:latin typeface="Calibri"/>
              </a:rPr>
              <a:t>↑  Moisture in the air</a:t>
            </a:r>
          </a:p>
        </p:txBody>
      </p:sp>
      <p:sp>
        <p:nvSpPr>
          <p:cNvPr id="41" name="TextBox 40"/>
          <p:cNvSpPr txBox="1"/>
          <p:nvPr/>
        </p:nvSpPr>
        <p:spPr>
          <a:xfrm>
            <a:off x="566928" y="5504688"/>
            <a:ext cx="5120640" cy="960120"/>
          </a:xfrm>
          <a:prstGeom prst="rect">
            <a:avLst/>
          </a:prstGeom>
          <a:noFill/>
        </p:spPr>
        <p:txBody>
          <a:bodyPr wrap="square" anchor="t" lIns="25400" rIns="25400" tIns="25400" bIns="25400">
            <a:spAutoFit/>
          </a:bodyPr>
          <a:lstStyle/>
          <a:p>
            <a:pPr algn="l">
              <a:lnSpc>
                <a:spcPct val="120000"/>
              </a:lnSpc>
            </a:pPr>
            <a:r>
              <a:rPr sz="1050" b="0">
                <a:solidFill>
                  <a:srgbClr val="64748B"/>
                </a:solidFill>
                <a:latin typeface="Calibri"/>
              </a:rPr>
              <a:t>OA outside air  ·  RA return air  ·  MA the mixture entering the coil  ·  SA supply air delivered to the rooms. Dashed green = mixing; solid blue = the cooling coil. The violet diagonals are lines of equal total energy: outside air here holds 79 kJ/kg against return air's 48, so it sits well above RA's line and costs more to condition — no free cooling today.</a:t>
            </a:r>
          </a:p>
        </p:txBody>
      </p:sp>
      <p:sp>
        <p:nvSpPr>
          <p:cNvPr id="42" name="Rounded Rectangle 41"/>
          <p:cNvSpPr/>
          <p:nvPr/>
        </p:nvSpPr>
        <p:spPr>
          <a:xfrm>
            <a:off x="5806440" y="1828800"/>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971032" y="1975104"/>
            <a:ext cx="219456" cy="219456"/>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1032" y="1975104"/>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1</a:t>
            </a:r>
          </a:p>
        </p:txBody>
      </p:sp>
      <p:sp>
        <p:nvSpPr>
          <p:cNvPr id="45" name="TextBox 44"/>
          <p:cNvSpPr txBox="1"/>
          <p:nvPr/>
        </p:nvSpPr>
        <p:spPr>
          <a:xfrm>
            <a:off x="6263640" y="1965960"/>
            <a:ext cx="2130552" cy="274320"/>
          </a:xfrm>
          <a:prstGeom prst="rect">
            <a:avLst/>
          </a:prstGeom>
          <a:noFill/>
        </p:spPr>
        <p:txBody>
          <a:bodyPr wrap="square" anchor="t" lIns="25400" rIns="25400" tIns="25400" bIns="25400">
            <a:spAutoFit/>
          </a:bodyPr>
          <a:lstStyle/>
          <a:p>
            <a:pPr algn="l">
              <a:lnSpc>
                <a:spcPct val="106000"/>
              </a:lnSpc>
            </a:pPr>
            <a:r>
              <a:rPr sz="1250" b="1">
                <a:solidFill>
                  <a:srgbClr val="1D4ED8"/>
                </a:solidFill>
                <a:latin typeface="Calibri"/>
              </a:rPr>
              <a:t>Two axes fix everything</a:t>
            </a:r>
          </a:p>
        </p:txBody>
      </p:sp>
      <p:sp>
        <p:nvSpPr>
          <p:cNvPr id="46" name="TextBox 45"/>
          <p:cNvSpPr txBox="1"/>
          <p:nvPr/>
        </p:nvSpPr>
        <p:spPr>
          <a:xfrm>
            <a:off x="5989320" y="2286000"/>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Across is temperature; up is the actual weight of water the air carries. Pin both and the air's state is pinned — relative humidity, dew point, wet-bulb and energy content all follow from that one dot.</a:t>
            </a:r>
          </a:p>
        </p:txBody>
      </p:sp>
      <p:sp>
        <p:nvSpPr>
          <p:cNvPr id="47" name="Rounded Rectangle 46"/>
          <p:cNvSpPr/>
          <p:nvPr/>
        </p:nvSpPr>
        <p:spPr>
          <a:xfrm>
            <a:off x="8677656" y="1828800"/>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842248" y="1975104"/>
            <a:ext cx="219456" cy="219456"/>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42248" y="1975104"/>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2</a:t>
            </a:r>
          </a:p>
        </p:txBody>
      </p:sp>
      <p:sp>
        <p:nvSpPr>
          <p:cNvPr id="50" name="TextBox 49"/>
          <p:cNvSpPr txBox="1"/>
          <p:nvPr/>
        </p:nvSpPr>
        <p:spPr>
          <a:xfrm>
            <a:off x="9134856" y="1965960"/>
            <a:ext cx="2130552" cy="274320"/>
          </a:xfrm>
          <a:prstGeom prst="rect">
            <a:avLst/>
          </a:prstGeom>
          <a:noFill/>
        </p:spPr>
        <p:txBody>
          <a:bodyPr wrap="square" anchor="t" lIns="25400" rIns="25400" tIns="25400" bIns="25400">
            <a:spAutoFit/>
          </a:bodyPr>
          <a:lstStyle/>
          <a:p>
            <a:pPr algn="l">
              <a:lnSpc>
                <a:spcPct val="106000"/>
              </a:lnSpc>
            </a:pPr>
            <a:r>
              <a:rPr sz="1250" b="1">
                <a:solidFill>
                  <a:srgbClr val="1D4ED8"/>
                </a:solidFill>
                <a:latin typeface="Calibri"/>
              </a:rPr>
              <a:t>The curve is a hard limit</a:t>
            </a:r>
          </a:p>
        </p:txBody>
      </p:sp>
      <p:sp>
        <p:nvSpPr>
          <p:cNvPr id="51" name="TextBox 50"/>
          <p:cNvSpPr txBox="1"/>
          <p:nvPr/>
        </p:nvSpPr>
        <p:spPr>
          <a:xfrm>
            <a:off x="8860536" y="2286000"/>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It marks 100% humidity — air can never sit above it. Drive the dot onto the curve and water comes out: the dew point, a wet coil, a fogged window.</a:t>
            </a:r>
          </a:p>
        </p:txBody>
      </p:sp>
      <p:sp>
        <p:nvSpPr>
          <p:cNvPr id="52" name="Rounded Rectangle 51"/>
          <p:cNvSpPr/>
          <p:nvPr/>
        </p:nvSpPr>
        <p:spPr>
          <a:xfrm>
            <a:off x="5806440" y="3419856"/>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5971032" y="3566160"/>
            <a:ext cx="219456" cy="219456"/>
          </a:xfrm>
          <a:prstGeom prst="ellipse">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971032" y="3566160"/>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3</a:t>
            </a:r>
          </a:p>
        </p:txBody>
      </p:sp>
      <p:sp>
        <p:nvSpPr>
          <p:cNvPr id="55" name="TextBox 54"/>
          <p:cNvSpPr txBox="1"/>
          <p:nvPr/>
        </p:nvSpPr>
        <p:spPr>
          <a:xfrm>
            <a:off x="6263640" y="3557016"/>
            <a:ext cx="2130552" cy="274320"/>
          </a:xfrm>
          <a:prstGeom prst="rect">
            <a:avLst/>
          </a:prstGeom>
          <a:noFill/>
        </p:spPr>
        <p:txBody>
          <a:bodyPr wrap="square" anchor="t" lIns="25400" rIns="25400" tIns="25400" bIns="25400">
            <a:spAutoFit/>
          </a:bodyPr>
          <a:lstStyle/>
          <a:p>
            <a:pPr algn="l">
              <a:lnSpc>
                <a:spcPct val="106000"/>
              </a:lnSpc>
            </a:pPr>
            <a:r>
              <a:rPr sz="1250" b="1">
                <a:solidFill>
                  <a:srgbClr val="047857"/>
                </a:solidFill>
                <a:latin typeface="Calibri"/>
              </a:rPr>
              <a:t>Mixing is a straight line</a:t>
            </a:r>
          </a:p>
        </p:txBody>
      </p:sp>
      <p:sp>
        <p:nvSpPr>
          <p:cNvPr id="56" name="TextBox 55"/>
          <p:cNvSpPr txBox="1"/>
          <p:nvPr/>
        </p:nvSpPr>
        <p:spPr>
          <a:xfrm>
            <a:off x="5989320" y="3877056"/>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Outside and return air blend to a point on the line joining them. How far along it sits gives the proportion: a third of the way from RA means a third outside air.</a:t>
            </a:r>
          </a:p>
        </p:txBody>
      </p:sp>
      <p:sp>
        <p:nvSpPr>
          <p:cNvPr id="57" name="Rounded Rectangle 56"/>
          <p:cNvSpPr/>
          <p:nvPr/>
        </p:nvSpPr>
        <p:spPr>
          <a:xfrm>
            <a:off x="8677656" y="3419856"/>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8842248" y="3566160"/>
            <a:ext cx="219456" cy="219456"/>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842248" y="3566160"/>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4</a:t>
            </a:r>
          </a:p>
        </p:txBody>
      </p:sp>
      <p:sp>
        <p:nvSpPr>
          <p:cNvPr id="60" name="TextBox 59"/>
          <p:cNvSpPr txBox="1"/>
          <p:nvPr/>
        </p:nvSpPr>
        <p:spPr>
          <a:xfrm>
            <a:off x="9134856" y="3557016"/>
            <a:ext cx="2130552" cy="274320"/>
          </a:xfrm>
          <a:prstGeom prst="rect">
            <a:avLst/>
          </a:prstGeom>
          <a:noFill/>
        </p:spPr>
        <p:txBody>
          <a:bodyPr wrap="square" anchor="t" lIns="25400" rIns="25400" tIns="25400" bIns="25400">
            <a:spAutoFit/>
          </a:bodyPr>
          <a:lstStyle/>
          <a:p>
            <a:pPr algn="l">
              <a:lnSpc>
                <a:spcPct val="106000"/>
              </a:lnSpc>
            </a:pPr>
            <a:r>
              <a:rPr sz="1250" b="1">
                <a:solidFill>
                  <a:srgbClr val="1D4ED8"/>
                </a:solidFill>
                <a:latin typeface="Calibri"/>
              </a:rPr>
              <a:t>A coil pulls down and left</a:t>
            </a:r>
          </a:p>
        </p:txBody>
      </p:sp>
      <p:sp>
        <p:nvSpPr>
          <p:cNvPr id="61" name="TextBox 60"/>
          <p:cNvSpPr txBox="1"/>
          <p:nvPr/>
        </p:nvSpPr>
        <p:spPr>
          <a:xfrm>
            <a:off x="8860536" y="3877056"/>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Left removes temperature (sensible heat); down removes water (latent heat). The slope of MA→SA is the split — and that split is what sizing a coil actually means.</a:t>
            </a:r>
          </a:p>
        </p:txBody>
      </p:sp>
      <p:sp>
        <p:nvSpPr>
          <p:cNvPr id="62" name="Rounded Rectangle 61"/>
          <p:cNvSpPr/>
          <p:nvPr/>
        </p:nvSpPr>
        <p:spPr>
          <a:xfrm>
            <a:off x="5806440" y="5010912"/>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5971032" y="5157216"/>
            <a:ext cx="219456" cy="219456"/>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971032" y="5157216"/>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5</a:t>
            </a:r>
          </a:p>
        </p:txBody>
      </p:sp>
      <p:sp>
        <p:nvSpPr>
          <p:cNvPr id="65" name="TextBox 64"/>
          <p:cNvSpPr txBox="1"/>
          <p:nvPr/>
        </p:nvSpPr>
        <p:spPr>
          <a:xfrm>
            <a:off x="6263640" y="5148072"/>
            <a:ext cx="2130552" cy="274320"/>
          </a:xfrm>
          <a:prstGeom prst="rect">
            <a:avLst/>
          </a:prstGeom>
          <a:noFill/>
        </p:spPr>
        <p:txBody>
          <a:bodyPr wrap="square" anchor="t" lIns="25400" rIns="25400" tIns="25400" bIns="25400">
            <a:spAutoFit/>
          </a:bodyPr>
          <a:lstStyle/>
          <a:p>
            <a:pPr algn="l">
              <a:lnSpc>
                <a:spcPct val="106000"/>
              </a:lnSpc>
            </a:pPr>
            <a:r>
              <a:rPr sz="1250" b="1">
                <a:solidFill>
                  <a:srgbClr val="B45309"/>
                </a:solidFill>
                <a:latin typeface="Calibri"/>
              </a:rPr>
              <a:t>Comfort is an area</a:t>
            </a:r>
          </a:p>
        </p:txBody>
      </p:sp>
      <p:sp>
        <p:nvSpPr>
          <p:cNvPr id="66" name="TextBox 65"/>
          <p:cNvSpPr txBox="1"/>
          <p:nvPr/>
        </p:nvSpPr>
        <p:spPr>
          <a:xfrm>
            <a:off x="5989320" y="5468112"/>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The acceptable range of temperature and humidity is drawn straight onto the chart. Supply air must be chosen so the room lands inside that box, not merely at the right temperature.</a:t>
            </a:r>
          </a:p>
        </p:txBody>
      </p:sp>
      <p:sp>
        <p:nvSpPr>
          <p:cNvPr id="67" name="Rounded Rectangle 66"/>
          <p:cNvSpPr/>
          <p:nvPr/>
        </p:nvSpPr>
        <p:spPr>
          <a:xfrm>
            <a:off x="8677656" y="5010912"/>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842248" y="5157216"/>
            <a:ext cx="219456" cy="219456"/>
          </a:xfrm>
          <a:prstGeom prst="ellipse">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842248" y="5157216"/>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6</a:t>
            </a:r>
          </a:p>
        </p:txBody>
      </p:sp>
      <p:sp>
        <p:nvSpPr>
          <p:cNvPr id="70" name="TextBox 69"/>
          <p:cNvSpPr txBox="1"/>
          <p:nvPr/>
        </p:nvSpPr>
        <p:spPr>
          <a:xfrm>
            <a:off x="9134856" y="5148072"/>
            <a:ext cx="2130552" cy="274320"/>
          </a:xfrm>
          <a:prstGeom prst="rect">
            <a:avLst/>
          </a:prstGeom>
          <a:noFill/>
        </p:spPr>
        <p:txBody>
          <a:bodyPr wrap="square" anchor="t" lIns="25400" rIns="25400" tIns="25400" bIns="25400">
            <a:spAutoFit/>
          </a:bodyPr>
          <a:lstStyle/>
          <a:p>
            <a:pPr algn="l">
              <a:lnSpc>
                <a:spcPct val="106000"/>
              </a:lnSpc>
            </a:pPr>
            <a:r>
              <a:rPr sz="1250" b="1">
                <a:solidFill>
                  <a:srgbClr val="0F172A"/>
                </a:solidFill>
                <a:latin typeface="Calibri"/>
              </a:rPr>
              <a:t>Faults show as bad geometry</a:t>
            </a:r>
          </a:p>
        </p:txBody>
      </p:sp>
      <p:sp>
        <p:nvSpPr>
          <p:cNvPr id="71" name="TextBox 70"/>
          <p:cNvSpPr txBox="1"/>
          <p:nvPr/>
        </p:nvSpPr>
        <p:spPr>
          <a:xfrm>
            <a:off x="8860536" y="5468112"/>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If the mixed-air dot is not on the line between outside and return air, something is lying — a stuck damper or a drifting sensor. The picture catches what alarm limits miss.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WORKED EXAMPLE</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When is outside air free?</a:t>
            </a:r>
          </a:p>
        </p:txBody>
      </p:sp>
      <p:sp>
        <p:nvSpPr>
          <p:cNvPr id="6" name="Rounded Rectangle 5"/>
          <p:cNvSpPr/>
          <p:nvPr/>
        </p:nvSpPr>
        <p:spPr>
          <a:xfrm>
            <a:off x="566928" y="1783080"/>
            <a:ext cx="5074920" cy="36118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868680" y="3918204"/>
            <a:ext cx="2523744" cy="1110996"/>
          </a:xfrm>
          <a:custGeom>
            <a:avLst/>
            <a:gdLst/>
            <a:ahLst/>
            <a:cxnLst/>
            <a:rect l="l" t="t" r="r" b="b"/>
            <a:pathLst>
              <a:path w="2523744" h="1110996">
                <a:moveTo>
                  <a:pt x="1777136" y="0"/>
                </a:moveTo>
                <a:lnTo>
                  <a:pt x="1577340" y="137434"/>
                </a:lnTo>
                <a:lnTo>
                  <a:pt x="1051560" y="413308"/>
                </a:lnTo>
                <a:lnTo>
                  <a:pt x="525780" y="617037"/>
                </a:lnTo>
                <a:lnTo>
                  <a:pt x="0" y="765810"/>
                </a:lnTo>
                <a:lnTo>
                  <a:pt x="0" y="1110996"/>
                </a:lnTo>
                <a:lnTo>
                  <a:pt x="2523744" y="1110996"/>
                </a:lnTo>
                <a:lnTo>
                  <a:pt x="2523744" y="260604"/>
                </a:lnTo>
                <a:close/>
              </a:path>
            </a:pathLst>
          </a:custGeom>
          <a:solidFill>
            <a:srgbClr val="047857">
              <a:alpha val="1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2645816" y="3291382"/>
            <a:ext cx="746608" cy="887426"/>
          </a:xfrm>
          <a:custGeom>
            <a:avLst/>
            <a:gdLst/>
            <a:ahLst/>
            <a:cxnLst/>
            <a:rect l="l" t="t" r="r" b="b"/>
            <a:pathLst>
              <a:path w="746608" h="887426">
                <a:moveTo>
                  <a:pt x="0" y="626822"/>
                </a:moveTo>
                <a:lnTo>
                  <a:pt x="325984" y="393924"/>
                </a:lnTo>
                <a:lnTo>
                  <a:pt x="746608" y="0"/>
                </a:lnTo>
                <a:lnTo>
                  <a:pt x="746608" y="887426"/>
                </a:lnTo>
                <a:close/>
              </a:path>
            </a:pathLst>
          </a:custGeom>
          <a:solidFill>
            <a:srgbClr val="E11D48">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3392424" y="4178808"/>
            <a:ext cx="1682496" cy="850392"/>
          </a:xfrm>
          <a:custGeom>
            <a:avLst/>
            <a:gdLst/>
            <a:ahLst/>
            <a:cxnLst/>
            <a:rect l="l" t="t" r="r" b="b"/>
            <a:pathLst>
              <a:path w="1682496" h="850392">
                <a:moveTo>
                  <a:pt x="0" y="0"/>
                </a:moveTo>
                <a:lnTo>
                  <a:pt x="0" y="850392"/>
                </a:lnTo>
                <a:lnTo>
                  <a:pt x="1682496" y="850392"/>
                </a:lnTo>
                <a:lnTo>
                  <a:pt x="1682496" y="587959"/>
                </a:lnTo>
                <a:close/>
              </a:path>
            </a:pathLst>
          </a:custGeom>
          <a:solidFill>
            <a:srgbClr val="B45309">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3392424" y="2286000"/>
            <a:ext cx="1682496" cy="2480767"/>
          </a:xfrm>
          <a:custGeom>
            <a:avLst/>
            <a:gdLst/>
            <a:ahLst/>
            <a:cxnLst/>
            <a:rect l="l" t="t" r="r" b="b"/>
            <a:pathLst>
              <a:path w="1682496" h="2480767">
                <a:moveTo>
                  <a:pt x="0" y="1892808"/>
                </a:moveTo>
                <a:lnTo>
                  <a:pt x="0" y="1005382"/>
                </a:lnTo>
                <a:lnTo>
                  <a:pt x="105156" y="906901"/>
                </a:lnTo>
                <a:lnTo>
                  <a:pt x="630936" y="255849"/>
                </a:lnTo>
                <a:lnTo>
                  <a:pt x="788670" y="0"/>
                </a:lnTo>
                <a:lnTo>
                  <a:pt x="1682496" y="0"/>
                </a:lnTo>
                <a:lnTo>
                  <a:pt x="1682496" y="2480767"/>
                </a:lnTo>
                <a:close/>
              </a:path>
            </a:pathLst>
          </a:custGeom>
          <a:solidFill>
            <a:srgbClr val="64748B">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68680" y="5029200"/>
            <a:ext cx="4206240"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68680" y="2286000"/>
            <a:ext cx="0" cy="274320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392424" y="3291382"/>
            <a:ext cx="0" cy="1737818"/>
          </a:xfrm>
          <a:prstGeom prst="line">
            <a:avLst/>
          </a:prstGeom>
          <a:ln w="19050">
            <a:solidFill>
              <a:srgbClr val="334155"/>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645816" y="3918204"/>
            <a:ext cx="2429104" cy="84856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5" name="Freeform 14"/>
          <p:cNvSpPr/>
          <p:nvPr/>
        </p:nvSpPr>
        <p:spPr>
          <a:xfrm>
            <a:off x="868680" y="2286000"/>
            <a:ext cx="3312414" cy="2398014"/>
          </a:xfrm>
          <a:custGeom>
            <a:avLst/>
            <a:gdLst/>
            <a:ahLst/>
            <a:cxnLst/>
            <a:rect l="l" t="t" r="r" b="b"/>
            <a:pathLst>
              <a:path w="3312414" h="2398014">
                <a:moveTo>
                  <a:pt x="0" y="2398014"/>
                </a:moveTo>
                <a:lnTo>
                  <a:pt x="525780" y="2249241"/>
                </a:lnTo>
                <a:lnTo>
                  <a:pt x="1051560" y="2045512"/>
                </a:lnTo>
                <a:lnTo>
                  <a:pt x="1577340" y="1769638"/>
                </a:lnTo>
                <a:lnTo>
                  <a:pt x="2103120" y="1399306"/>
                </a:lnTo>
                <a:lnTo>
                  <a:pt x="2628900" y="906901"/>
                </a:lnTo>
                <a:lnTo>
                  <a:pt x="3154680" y="255849"/>
                </a:lnTo>
                <a:lnTo>
                  <a:pt x="3312414" y="0"/>
                </a:lnTo>
              </a:path>
            </a:pathLst>
          </a:custGeom>
          <a:no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328416" y="4114800"/>
            <a:ext cx="128016" cy="128016"/>
          </a:xfrm>
          <a:prstGeom prst="ellipse">
            <a:avLst/>
          </a:prstGeom>
          <a:solidFill>
            <a:srgbClr val="04785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118104" y="3597249"/>
            <a:ext cx="128016" cy="128016"/>
          </a:xfrm>
          <a:prstGeom prst="ellipse">
            <a:avLst/>
          </a:prstGeom>
          <a:solidFill>
            <a:srgbClr val="E11D4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49039" y="4752136"/>
            <a:ext cx="128016" cy="128016"/>
          </a:xfrm>
          <a:prstGeom prst="ellipse">
            <a:avLst/>
          </a:prstGeom>
          <a:solidFill>
            <a:srgbClr val="B4530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288536" y="3332988"/>
            <a:ext cx="100584" cy="100584"/>
          </a:xfrm>
          <a:prstGeom prst="ellipse">
            <a:avLst/>
          </a:prstGeom>
          <a:solidFill>
            <a:srgbClr val="64748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08426" y="4233672"/>
            <a:ext cx="822960" cy="237744"/>
          </a:xfrm>
          <a:prstGeom prst="rect">
            <a:avLst/>
          </a:prstGeom>
          <a:noFill/>
        </p:spPr>
        <p:txBody>
          <a:bodyPr wrap="square" anchor="t" lIns="25400" rIns="25400" tIns="25400" bIns="25400">
            <a:spAutoFit/>
          </a:bodyPr>
          <a:lstStyle/>
          <a:p>
            <a:pPr algn="l">
              <a:lnSpc>
                <a:spcPct val="106000"/>
              </a:lnSpc>
            </a:pPr>
            <a:r>
              <a:rPr sz="1100" b="1">
                <a:solidFill>
                  <a:srgbClr val="047857"/>
                </a:solidFill>
                <a:latin typeface="Calibri"/>
              </a:rPr>
              <a:t>RA 48</a:t>
            </a:r>
          </a:p>
        </p:txBody>
      </p:sp>
      <p:sp>
        <p:nvSpPr>
          <p:cNvPr id="21" name="TextBox 20"/>
          <p:cNvSpPr txBox="1"/>
          <p:nvPr/>
        </p:nvSpPr>
        <p:spPr>
          <a:xfrm>
            <a:off x="2756458" y="3483864"/>
            <a:ext cx="731520" cy="237744"/>
          </a:xfrm>
          <a:prstGeom prst="rect">
            <a:avLst/>
          </a:prstGeom>
          <a:noFill/>
        </p:spPr>
        <p:txBody>
          <a:bodyPr wrap="square" anchor="t" lIns="25400" rIns="25400" tIns="25400" bIns="25400">
            <a:spAutoFit/>
          </a:bodyPr>
          <a:lstStyle/>
          <a:p>
            <a:pPr algn="l">
              <a:lnSpc>
                <a:spcPct val="106000"/>
              </a:lnSpc>
            </a:pPr>
            <a:r>
              <a:rPr sz="1100" b="1">
                <a:solidFill>
                  <a:srgbClr val="E11D48"/>
                </a:solidFill>
                <a:latin typeface="Calibri"/>
              </a:rPr>
              <a:t>A 60</a:t>
            </a:r>
          </a:p>
        </p:txBody>
      </p:sp>
      <p:sp>
        <p:nvSpPr>
          <p:cNvPr id="22" name="TextBox 21"/>
          <p:cNvSpPr txBox="1"/>
          <p:nvPr/>
        </p:nvSpPr>
        <p:spPr>
          <a:xfrm>
            <a:off x="3860596" y="4736592"/>
            <a:ext cx="731520" cy="237744"/>
          </a:xfrm>
          <a:prstGeom prst="rect">
            <a:avLst/>
          </a:prstGeom>
          <a:noFill/>
        </p:spPr>
        <p:txBody>
          <a:bodyPr wrap="square" anchor="t" lIns="25400" rIns="25400" tIns="25400" bIns="25400">
            <a:spAutoFit/>
          </a:bodyPr>
          <a:lstStyle/>
          <a:p>
            <a:pPr algn="l">
              <a:lnSpc>
                <a:spcPct val="106000"/>
              </a:lnSpc>
            </a:pPr>
            <a:r>
              <a:rPr sz="1100" b="1">
                <a:solidFill>
                  <a:srgbClr val="B45309"/>
                </a:solidFill>
                <a:latin typeface="Calibri"/>
              </a:rPr>
              <a:t>B 34</a:t>
            </a:r>
          </a:p>
        </p:txBody>
      </p:sp>
      <p:sp>
        <p:nvSpPr>
          <p:cNvPr id="23" name="TextBox 22"/>
          <p:cNvSpPr txBox="1"/>
          <p:nvPr/>
        </p:nvSpPr>
        <p:spPr>
          <a:xfrm>
            <a:off x="4386376" y="3227832"/>
            <a:ext cx="822960" cy="237744"/>
          </a:xfrm>
          <a:prstGeom prst="rect">
            <a:avLst/>
          </a:prstGeom>
          <a:noFill/>
        </p:spPr>
        <p:txBody>
          <a:bodyPr wrap="square" anchor="t" lIns="25400" rIns="25400" tIns="25400" bIns="25400">
            <a:spAutoFit/>
          </a:bodyPr>
          <a:lstStyle/>
          <a:p>
            <a:pPr algn="l">
              <a:lnSpc>
                <a:spcPct val="106000"/>
              </a:lnSpc>
            </a:pPr>
            <a:r>
              <a:rPr sz="1000" b="1">
                <a:solidFill>
                  <a:srgbClr val="64748B"/>
                </a:solidFill>
                <a:latin typeface="Calibri"/>
              </a:rPr>
              <a:t>OA 79</a:t>
            </a:r>
          </a:p>
        </p:txBody>
      </p:sp>
      <p:sp>
        <p:nvSpPr>
          <p:cNvPr id="24" name="TextBox 23"/>
          <p:cNvSpPr txBox="1"/>
          <p:nvPr/>
        </p:nvSpPr>
        <p:spPr>
          <a:xfrm>
            <a:off x="1420977" y="4736592"/>
            <a:ext cx="1463040" cy="237744"/>
          </a:xfrm>
          <a:prstGeom prst="rect">
            <a:avLst/>
          </a:prstGeom>
          <a:noFill/>
        </p:spPr>
        <p:txBody>
          <a:bodyPr wrap="square" anchor="t" lIns="25400" rIns="25400" tIns="25400" bIns="25400">
            <a:spAutoFit/>
          </a:bodyPr>
          <a:lstStyle/>
          <a:p>
            <a:pPr algn="l">
              <a:lnSpc>
                <a:spcPct val="106000"/>
              </a:lnSpc>
            </a:pPr>
            <a:r>
              <a:rPr sz="1050" b="1">
                <a:solidFill>
                  <a:srgbClr val="047857"/>
                </a:solidFill>
                <a:latin typeface="Calibri"/>
              </a:rPr>
              <a:t>FREE COOLING</a:t>
            </a:r>
          </a:p>
        </p:txBody>
      </p:sp>
      <p:sp>
        <p:nvSpPr>
          <p:cNvPr id="25" name="TextBox 24"/>
          <p:cNvSpPr txBox="1"/>
          <p:nvPr/>
        </p:nvSpPr>
        <p:spPr>
          <a:xfrm>
            <a:off x="1420977" y="4860036"/>
            <a:ext cx="1554480" cy="237744"/>
          </a:xfrm>
          <a:prstGeom prst="rect">
            <a:avLst/>
          </a:prstGeom>
          <a:noFill/>
        </p:spPr>
        <p:txBody>
          <a:bodyPr wrap="square" anchor="t" lIns="25400" rIns="25400" tIns="25400" bIns="25400">
            <a:spAutoFit/>
          </a:bodyPr>
          <a:lstStyle/>
          <a:p>
            <a:pPr algn="l">
              <a:lnSpc>
                <a:spcPct val="106000"/>
              </a:lnSpc>
            </a:pPr>
            <a:r>
              <a:rPr sz="900" b="0">
                <a:solidFill>
                  <a:srgbClr val="047857"/>
                </a:solidFill>
                <a:latin typeface="Calibri"/>
              </a:rPr>
              <a:t>both methods agree</a:t>
            </a:r>
          </a:p>
        </p:txBody>
      </p:sp>
      <p:sp>
        <p:nvSpPr>
          <p:cNvPr id="26" name="TextBox 25"/>
          <p:cNvSpPr txBox="1"/>
          <p:nvPr/>
        </p:nvSpPr>
        <p:spPr>
          <a:xfrm>
            <a:off x="4134002" y="2724912"/>
            <a:ext cx="1188720" cy="237744"/>
          </a:xfrm>
          <a:prstGeom prst="rect">
            <a:avLst/>
          </a:prstGeom>
          <a:noFill/>
        </p:spPr>
        <p:txBody>
          <a:bodyPr wrap="square" anchor="t" lIns="25400" rIns="25400" tIns="25400" bIns="25400">
            <a:spAutoFit/>
          </a:bodyPr>
          <a:lstStyle/>
          <a:p>
            <a:pPr algn="l">
              <a:lnSpc>
                <a:spcPct val="106000"/>
              </a:lnSpc>
            </a:pPr>
            <a:r>
              <a:rPr sz="950" b="1">
                <a:solidFill>
                  <a:srgbClr val="64748B"/>
                </a:solidFill>
                <a:latin typeface="Calibri"/>
              </a:rPr>
              <a:t>hot &amp; humid —</a:t>
            </a:r>
          </a:p>
        </p:txBody>
      </p:sp>
      <p:sp>
        <p:nvSpPr>
          <p:cNvPr id="27" name="TextBox 26"/>
          <p:cNvSpPr txBox="1"/>
          <p:nvPr/>
        </p:nvSpPr>
        <p:spPr>
          <a:xfrm>
            <a:off x="4134002" y="2852928"/>
            <a:ext cx="1188720" cy="237744"/>
          </a:xfrm>
          <a:prstGeom prst="rect">
            <a:avLst/>
          </a:prstGeom>
          <a:noFill/>
        </p:spPr>
        <p:txBody>
          <a:bodyPr wrap="square" anchor="t" lIns="25400" rIns="25400" tIns="25400" bIns="25400">
            <a:spAutoFit/>
          </a:bodyPr>
          <a:lstStyle/>
          <a:p>
            <a:pPr algn="l">
              <a:lnSpc>
                <a:spcPct val="106000"/>
              </a:lnSpc>
            </a:pPr>
            <a:r>
              <a:rPr sz="950" b="1">
                <a:solidFill>
                  <a:srgbClr val="64748B"/>
                </a:solidFill>
                <a:latin typeface="Calibri"/>
              </a:rPr>
              <a:t>minimum OA</a:t>
            </a:r>
          </a:p>
        </p:txBody>
      </p:sp>
      <p:sp>
        <p:nvSpPr>
          <p:cNvPr id="28" name="TextBox 27"/>
          <p:cNvSpPr txBox="1"/>
          <p:nvPr/>
        </p:nvSpPr>
        <p:spPr>
          <a:xfrm>
            <a:off x="1526133" y="3703320"/>
            <a:ext cx="1463040" cy="237744"/>
          </a:xfrm>
          <a:prstGeom prst="rect">
            <a:avLst/>
          </a:prstGeom>
          <a:noFill/>
        </p:spPr>
        <p:txBody>
          <a:bodyPr wrap="square" anchor="t" lIns="25400" rIns="25400" tIns="25400" bIns="25400">
            <a:spAutoFit/>
          </a:bodyPr>
          <a:lstStyle/>
          <a:p>
            <a:pPr algn="l">
              <a:lnSpc>
                <a:spcPct val="106000"/>
              </a:lnSpc>
            </a:pPr>
            <a:r>
              <a:rPr sz="950" b="1">
                <a:solidFill>
                  <a:srgbClr val="7C3AED"/>
                </a:solidFill>
                <a:latin typeface="Calibri"/>
              </a:rPr>
              <a:t>equal energy as RA</a:t>
            </a:r>
          </a:p>
        </p:txBody>
      </p:sp>
      <p:sp>
        <p:nvSpPr>
          <p:cNvPr id="29" name="TextBox 28"/>
          <p:cNvSpPr txBox="1"/>
          <p:nvPr/>
        </p:nvSpPr>
        <p:spPr>
          <a:xfrm>
            <a:off x="3408426" y="3383280"/>
            <a:ext cx="1188720" cy="237744"/>
          </a:xfrm>
          <a:prstGeom prst="rect">
            <a:avLst/>
          </a:prstGeom>
          <a:noFill/>
        </p:spPr>
        <p:txBody>
          <a:bodyPr wrap="square" anchor="t" lIns="25400" rIns="25400" tIns="25400" bIns="25400">
            <a:spAutoFit/>
          </a:bodyPr>
          <a:lstStyle/>
          <a:p>
            <a:pPr algn="l">
              <a:lnSpc>
                <a:spcPct val="106000"/>
              </a:lnSpc>
            </a:pPr>
            <a:r>
              <a:rPr sz="950" b="1">
                <a:solidFill>
                  <a:srgbClr val="334155"/>
                </a:solidFill>
                <a:latin typeface="Calibri"/>
              </a:rPr>
              <a:t>dry-bulb only</a:t>
            </a:r>
          </a:p>
        </p:txBody>
      </p:sp>
      <p:sp>
        <p:nvSpPr>
          <p:cNvPr id="30" name="TextBox 29"/>
          <p:cNvSpPr txBox="1"/>
          <p:nvPr/>
        </p:nvSpPr>
        <p:spPr>
          <a:xfrm>
            <a:off x="566928" y="5440680"/>
            <a:ext cx="5120640" cy="457200"/>
          </a:xfrm>
          <a:prstGeom prst="rect">
            <a:avLst/>
          </a:prstGeom>
          <a:noFill/>
        </p:spPr>
        <p:txBody>
          <a:bodyPr wrap="square" anchor="t" lIns="25400" rIns="25400" tIns="25400" bIns="25400">
            <a:spAutoFit/>
          </a:bodyPr>
          <a:lstStyle/>
          <a:p>
            <a:pPr algn="l">
              <a:lnSpc>
                <a:spcPct val="120000"/>
              </a:lnSpc>
            </a:pPr>
            <a:r>
              <a:rPr sz="1000" b="0">
                <a:solidFill>
                  <a:srgbClr val="64748B"/>
                </a:solidFill>
                <a:latin typeface="Calibri"/>
              </a:rPr>
              <a:t>Numbers are total energy in kJ/kg.  RA 24 °C / 50% RH = 48  ·  A 22 °C / 90% RH = 60  ·  B 28 °C / 10% RH = 34  ·  OA 33 °C / 18 g/kg = 79 (the outside air from the previous slide).</a:t>
            </a:r>
          </a:p>
        </p:txBody>
      </p:sp>
      <p:sp>
        <p:nvSpPr>
          <p:cNvPr id="31" name="TextBox 30"/>
          <p:cNvSpPr txBox="1"/>
          <p:nvPr/>
        </p:nvSpPr>
        <p:spPr>
          <a:xfrm>
            <a:off x="5852160" y="1828800"/>
            <a:ext cx="5696712" cy="365760"/>
          </a:xfrm>
          <a:prstGeom prst="rect">
            <a:avLst/>
          </a:prstGeom>
          <a:noFill/>
        </p:spPr>
        <p:txBody>
          <a:bodyPr wrap="square" anchor="t" lIns="25400" rIns="25400" tIns="25400" bIns="25400">
            <a:spAutoFit/>
          </a:bodyPr>
          <a:lstStyle/>
          <a:p>
            <a:pPr algn="l">
              <a:lnSpc>
                <a:spcPct val="106000"/>
              </a:lnSpc>
            </a:pPr>
            <a:r>
              <a:rPr sz="1600" b="1">
                <a:solidFill>
                  <a:srgbClr val="1D4ED8"/>
                </a:solidFill>
                <a:latin typeface="Calibri"/>
              </a:rPr>
              <a:t>Two lines, four outcomes</a:t>
            </a:r>
          </a:p>
        </p:txBody>
      </p:sp>
      <p:sp>
        <p:nvSpPr>
          <p:cNvPr id="32" name="Oval 31"/>
          <p:cNvSpPr/>
          <p:nvPr/>
        </p:nvSpPr>
        <p:spPr>
          <a:xfrm>
            <a:off x="5852160" y="2286000"/>
            <a:ext cx="237744" cy="237744"/>
          </a:xfrm>
          <a:prstGeom prst="ellipse">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852160" y="2286000"/>
            <a:ext cx="237744" cy="237744"/>
          </a:xfrm>
          <a:prstGeom prst="rect">
            <a:avLst/>
          </a:prstGeom>
          <a:noFill/>
        </p:spPr>
        <p:txBody>
          <a:bodyPr wrap="square" anchor="ctr" lIns="25400" rIns="25400" tIns="25400" bIns="25400">
            <a:spAutoFit/>
          </a:bodyPr>
          <a:lstStyle/>
          <a:p>
            <a:pPr algn="ctr">
              <a:lnSpc>
                <a:spcPct val="106000"/>
              </a:lnSpc>
            </a:pPr>
            <a:r>
              <a:rPr sz="1050" b="1">
                <a:solidFill>
                  <a:srgbClr val="FFFFFF"/>
                </a:solidFill>
                <a:latin typeface="Calibri"/>
              </a:rPr>
              <a:t>1</a:t>
            </a:r>
          </a:p>
        </p:txBody>
      </p:sp>
      <p:sp>
        <p:nvSpPr>
          <p:cNvPr id="34" name="TextBox 33"/>
          <p:cNvSpPr txBox="1"/>
          <p:nvPr/>
        </p:nvSpPr>
        <p:spPr>
          <a:xfrm>
            <a:off x="6217920" y="2240280"/>
            <a:ext cx="5312664" cy="658368"/>
          </a:xfrm>
          <a:prstGeom prst="rect">
            <a:avLst/>
          </a:prstGeom>
          <a:noFill/>
        </p:spPr>
        <p:txBody>
          <a:bodyPr wrap="square" anchor="t" lIns="25400" rIns="25400" tIns="25400" bIns="25400">
            <a:spAutoFit/>
          </a:bodyPr>
          <a:lstStyle/>
          <a:p>
            <a:pPr algn="l">
              <a:lnSpc>
                <a:spcPct val="116000"/>
              </a:lnSpc>
            </a:pPr>
            <a:r>
              <a:rPr sz="1150" b="0">
                <a:solidFill>
                  <a:srgbClr val="475569"/>
                </a:solidFill>
                <a:latin typeface="Calibri"/>
              </a:rPr>
              <a:t>Below-left of the violet line — outside air holds less energy than the air coming back. Open the economizer and let mechanical cooling back off.</a:t>
            </a:r>
          </a:p>
        </p:txBody>
      </p:sp>
      <p:sp>
        <p:nvSpPr>
          <p:cNvPr id="35" name="Oval 34"/>
          <p:cNvSpPr/>
          <p:nvPr/>
        </p:nvSpPr>
        <p:spPr>
          <a:xfrm>
            <a:off x="5852160" y="2980944"/>
            <a:ext cx="237744" cy="237744"/>
          </a:xfrm>
          <a:prstGeom prst="ellips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0" y="2980944"/>
            <a:ext cx="237744" cy="237744"/>
          </a:xfrm>
          <a:prstGeom prst="rect">
            <a:avLst/>
          </a:prstGeom>
          <a:noFill/>
        </p:spPr>
        <p:txBody>
          <a:bodyPr wrap="square" anchor="ctr" lIns="25400" rIns="25400" tIns="25400" bIns="25400">
            <a:spAutoFit/>
          </a:bodyPr>
          <a:lstStyle/>
          <a:p>
            <a:pPr algn="ctr">
              <a:lnSpc>
                <a:spcPct val="106000"/>
              </a:lnSpc>
            </a:pPr>
            <a:r>
              <a:rPr sz="1050" b="1">
                <a:solidFill>
                  <a:srgbClr val="FFFFFF"/>
                </a:solidFill>
                <a:latin typeface="Calibri"/>
              </a:rPr>
              <a:t>2</a:t>
            </a:r>
          </a:p>
        </p:txBody>
      </p:sp>
      <p:sp>
        <p:nvSpPr>
          <p:cNvPr id="37" name="TextBox 36"/>
          <p:cNvSpPr txBox="1"/>
          <p:nvPr/>
        </p:nvSpPr>
        <p:spPr>
          <a:xfrm>
            <a:off x="6217920" y="2935224"/>
            <a:ext cx="5312664" cy="658368"/>
          </a:xfrm>
          <a:prstGeom prst="rect">
            <a:avLst/>
          </a:prstGeom>
          <a:noFill/>
        </p:spPr>
        <p:txBody>
          <a:bodyPr wrap="square" anchor="t" lIns="25400" rIns="25400" tIns="25400" bIns="25400">
            <a:spAutoFit/>
          </a:bodyPr>
          <a:lstStyle/>
          <a:p>
            <a:pPr algn="l">
              <a:lnSpc>
                <a:spcPct val="116000"/>
              </a:lnSpc>
            </a:pPr>
            <a:r>
              <a:rPr sz="1150" b="0">
                <a:solidFill>
                  <a:srgbClr val="475569"/>
                </a:solidFill>
                <a:latin typeface="Calibri"/>
              </a:rPr>
              <a:t>Above-right — outside air is a load, not a resource. Close to the minimum ventilation rate 62.1 demands and let the coil do the work.</a:t>
            </a:r>
          </a:p>
        </p:txBody>
      </p:sp>
      <p:sp>
        <p:nvSpPr>
          <p:cNvPr id="38" name="Oval 37"/>
          <p:cNvSpPr/>
          <p:nvPr/>
        </p:nvSpPr>
        <p:spPr>
          <a:xfrm>
            <a:off x="5852160" y="3675887"/>
            <a:ext cx="237744" cy="237744"/>
          </a:xfrm>
          <a:prstGeom prst="ellipse">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852160" y="3675887"/>
            <a:ext cx="237744" cy="237744"/>
          </a:xfrm>
          <a:prstGeom prst="rect">
            <a:avLst/>
          </a:prstGeom>
          <a:noFill/>
        </p:spPr>
        <p:txBody>
          <a:bodyPr wrap="square" anchor="ctr" lIns="25400" rIns="25400" tIns="25400" bIns="25400">
            <a:spAutoFit/>
          </a:bodyPr>
          <a:lstStyle/>
          <a:p>
            <a:pPr algn="ctr">
              <a:lnSpc>
                <a:spcPct val="106000"/>
              </a:lnSpc>
            </a:pPr>
            <a:r>
              <a:rPr sz="1050" b="1">
                <a:solidFill>
                  <a:srgbClr val="FFFFFF"/>
                </a:solidFill>
                <a:latin typeface="Calibri"/>
              </a:rPr>
              <a:t>A</a:t>
            </a:r>
          </a:p>
        </p:txBody>
      </p:sp>
      <p:sp>
        <p:nvSpPr>
          <p:cNvPr id="40" name="TextBox 39"/>
          <p:cNvSpPr txBox="1"/>
          <p:nvPr/>
        </p:nvSpPr>
        <p:spPr>
          <a:xfrm>
            <a:off x="6217920" y="3630168"/>
            <a:ext cx="5312664" cy="658368"/>
          </a:xfrm>
          <a:prstGeom prst="rect">
            <a:avLst/>
          </a:prstGeom>
          <a:noFill/>
        </p:spPr>
        <p:txBody>
          <a:bodyPr wrap="square" anchor="t" lIns="25400" rIns="25400" tIns="25400" bIns="25400">
            <a:spAutoFit/>
          </a:bodyPr>
          <a:lstStyle/>
          <a:p>
            <a:pPr algn="l">
              <a:lnSpc>
                <a:spcPct val="116000"/>
              </a:lnSpc>
            </a:pPr>
            <a:r>
              <a:rPr sz="1150" b="0">
                <a:solidFill>
                  <a:srgbClr val="475569"/>
                </a:solidFill>
                <a:latin typeface="Calibri"/>
              </a:rPr>
              <a:t>Cool but muggy. At 22 °C it is 2° cooler than the return, so a dry-bulb economizer opens — yet it carries 60 kJ/kg against 48. You have just imported latent load for the coil to wring back out.</a:t>
            </a:r>
          </a:p>
        </p:txBody>
      </p:sp>
      <p:sp>
        <p:nvSpPr>
          <p:cNvPr id="41" name="Oval 40"/>
          <p:cNvSpPr/>
          <p:nvPr/>
        </p:nvSpPr>
        <p:spPr>
          <a:xfrm>
            <a:off x="5852160" y="4370831"/>
            <a:ext cx="237744" cy="237744"/>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52160" y="4370831"/>
            <a:ext cx="237744" cy="237744"/>
          </a:xfrm>
          <a:prstGeom prst="rect">
            <a:avLst/>
          </a:prstGeom>
          <a:noFill/>
        </p:spPr>
        <p:txBody>
          <a:bodyPr wrap="square" anchor="ctr" lIns="25400" rIns="25400" tIns="25400" bIns="25400">
            <a:spAutoFit/>
          </a:bodyPr>
          <a:lstStyle/>
          <a:p>
            <a:pPr algn="ctr">
              <a:lnSpc>
                <a:spcPct val="106000"/>
              </a:lnSpc>
            </a:pPr>
            <a:r>
              <a:rPr sz="1050" b="1">
                <a:solidFill>
                  <a:srgbClr val="FFFFFF"/>
                </a:solidFill>
                <a:latin typeface="Calibri"/>
              </a:rPr>
              <a:t>B</a:t>
            </a:r>
          </a:p>
        </p:txBody>
      </p:sp>
      <p:sp>
        <p:nvSpPr>
          <p:cNvPr id="43" name="TextBox 42"/>
          <p:cNvSpPr txBox="1"/>
          <p:nvPr/>
        </p:nvSpPr>
        <p:spPr>
          <a:xfrm>
            <a:off x="6217920" y="4325112"/>
            <a:ext cx="5312664" cy="658368"/>
          </a:xfrm>
          <a:prstGeom prst="rect">
            <a:avLst/>
          </a:prstGeom>
          <a:noFill/>
        </p:spPr>
        <p:txBody>
          <a:bodyPr wrap="square" anchor="t" lIns="25400" rIns="25400" tIns="25400" bIns="25400">
            <a:spAutoFit/>
          </a:bodyPr>
          <a:lstStyle/>
          <a:p>
            <a:pPr algn="l">
              <a:lnSpc>
                <a:spcPct val="116000"/>
              </a:lnSpc>
            </a:pPr>
            <a:r>
              <a:rPr sz="1150" b="0">
                <a:solidFill>
                  <a:srgbClr val="475569"/>
                </a:solidFill>
                <a:latin typeface="Calibri"/>
              </a:rPr>
              <a:t>Warm but dry. At 28 °C dry-bulb keeps it shut, yet 34 kJ/kg is far below the return. Energy says use it — though a dry-bulb high limit still guards this corner when the load is mostly sensible.</a:t>
            </a:r>
          </a:p>
        </p:txBody>
      </p:sp>
      <p:sp>
        <p:nvSpPr>
          <p:cNvPr id="44" name="Oval 43"/>
          <p:cNvSpPr/>
          <p:nvPr/>
        </p:nvSpPr>
        <p:spPr>
          <a:xfrm>
            <a:off x="5852160" y="5065775"/>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852160" y="5065775"/>
            <a:ext cx="237744" cy="237744"/>
          </a:xfrm>
          <a:prstGeom prst="rect">
            <a:avLst/>
          </a:prstGeom>
          <a:noFill/>
        </p:spPr>
        <p:txBody>
          <a:bodyPr wrap="square" anchor="ctr" lIns="25400" rIns="25400" tIns="25400" bIns="25400">
            <a:spAutoFit/>
          </a:bodyPr>
          <a:lstStyle/>
          <a:p>
            <a:pPr algn="ctr">
              <a:lnSpc>
                <a:spcPct val="106000"/>
              </a:lnSpc>
            </a:pPr>
            <a:r>
              <a:rPr sz="1050" b="1">
                <a:solidFill>
                  <a:srgbClr val="FFFFFF"/>
                </a:solidFill>
                <a:latin typeface="Calibri"/>
              </a:rPr>
              <a:t>=</a:t>
            </a:r>
          </a:p>
        </p:txBody>
      </p:sp>
      <p:sp>
        <p:nvSpPr>
          <p:cNvPr id="46" name="TextBox 45"/>
          <p:cNvSpPr txBox="1"/>
          <p:nvPr/>
        </p:nvSpPr>
        <p:spPr>
          <a:xfrm>
            <a:off x="6217920" y="5020055"/>
            <a:ext cx="5312664" cy="658368"/>
          </a:xfrm>
          <a:prstGeom prst="rect">
            <a:avLst/>
          </a:prstGeom>
          <a:noFill/>
        </p:spPr>
        <p:txBody>
          <a:bodyPr wrap="square" anchor="t" lIns="25400" rIns="25400" tIns="25400" bIns="25400">
            <a:spAutoFit/>
          </a:bodyPr>
          <a:lstStyle/>
          <a:p>
            <a:pPr algn="l">
              <a:lnSpc>
                <a:spcPct val="116000"/>
              </a:lnSpc>
            </a:pPr>
            <a:r>
              <a:rPr sz="1150" b="0">
                <a:solidFill>
                  <a:srgbClr val="475569"/>
                </a:solidFill>
                <a:latin typeface="Calibri"/>
              </a:rPr>
              <a:t>On the line the two streams are energy-neutral, so the choice falls to humidity and fan power. Sequences add a deadband here so the dampers do not hunt.</a:t>
            </a:r>
          </a:p>
        </p:txBody>
      </p:sp>
      <p:sp>
        <p:nvSpPr>
          <p:cNvPr id="47" name="Rounded Rectangle 46"/>
          <p:cNvSpPr/>
          <p:nvPr/>
        </p:nvSpPr>
        <p:spPr>
          <a:xfrm>
            <a:off x="640080" y="5943600"/>
            <a:ext cx="10908792" cy="731520"/>
          </a:xfrm>
          <a:prstGeom prst="roundRect">
            <a:avLst/>
          </a:prstGeom>
          <a:solidFill>
            <a:srgbClr val="EFF6FF"/>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6112" y="6035040"/>
            <a:ext cx="10424160" cy="548640"/>
          </a:xfrm>
          <a:prstGeom prst="rect">
            <a:avLst/>
          </a:prstGeom>
          <a:noFill/>
        </p:spPr>
        <p:txBody>
          <a:bodyPr wrap="square" anchor="ctr" lIns="25400" rIns="25400" tIns="25400" bIns="25400">
            <a:spAutoFit/>
          </a:bodyPr>
          <a:lstStyle/>
          <a:p>
            <a:pPr algn="l">
              <a:lnSpc>
                <a:spcPct val="115000"/>
              </a:lnSpc>
            </a:pPr>
            <a:r>
              <a:rPr sz="1300" b="0">
                <a:solidFill>
                  <a:srgbClr val="0F172A"/>
                </a:solidFill>
                <a:latin typeface="Calibri"/>
              </a:rPr>
              <a:t>A dry-bulb sensor can only draw the VERTICAL line; the chart draws the DIAGONAL. The two shaded wedges are precisely where they disagree — and where energy is quietly lost.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THE GAP</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Why traditional BMS never adopted the chart</a:t>
            </a:r>
          </a:p>
        </p:txBody>
      </p:sp>
      <p:sp>
        <p:nvSpPr>
          <p:cNvPr id="6" name="Rounded Rectangle 5"/>
          <p:cNvSpPr/>
          <p:nvPr/>
        </p:nvSpPr>
        <p:spPr>
          <a:xfrm>
            <a:off x="640080" y="1828800"/>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828800"/>
            <a:ext cx="3566160" cy="9144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029968"/>
            <a:ext cx="3108960" cy="502920"/>
          </a:xfrm>
          <a:prstGeom prst="rect">
            <a:avLst/>
          </a:prstGeom>
          <a:noFill/>
        </p:spPr>
        <p:txBody>
          <a:bodyPr wrap="square" anchor="t" lIns="25400" rIns="25400" tIns="25400" bIns="25400">
            <a:spAutoFit/>
          </a:bodyPr>
          <a:lstStyle/>
          <a:p>
            <a:pPr algn="l">
              <a:lnSpc>
                <a:spcPct val="106000"/>
              </a:lnSpc>
            </a:pPr>
            <a:r>
              <a:rPr sz="1450" b="1">
                <a:solidFill>
                  <a:srgbClr val="1D4ED8"/>
                </a:solidFill>
                <a:latin typeface="Calibri"/>
              </a:rPr>
              <a:t>Controls think in single numbers</a:t>
            </a:r>
          </a:p>
        </p:txBody>
      </p:sp>
      <p:sp>
        <p:nvSpPr>
          <p:cNvPr id="9" name="TextBox 8"/>
          <p:cNvSpPr txBox="1"/>
          <p:nvPr/>
        </p:nvSpPr>
        <p:spPr>
          <a:xfrm>
            <a:off x="877824" y="2578608"/>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A BMS is assembled from loops that each watch ONE value — a temperature, a pressure. A state point needs two readings judged together; classic controls had no concept of a two-dimensional air state.</a:t>
            </a:r>
          </a:p>
        </p:txBody>
      </p:sp>
      <p:sp>
        <p:nvSpPr>
          <p:cNvPr id="10" name="Rounded Rectangle 9"/>
          <p:cNvSpPr/>
          <p:nvPr/>
        </p:nvSpPr>
        <p:spPr>
          <a:xfrm>
            <a:off x="4389120" y="1828800"/>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1828800"/>
            <a:ext cx="3566160" cy="91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26864" y="2029968"/>
            <a:ext cx="3108960" cy="502920"/>
          </a:xfrm>
          <a:prstGeom prst="rect">
            <a:avLst/>
          </a:prstGeom>
          <a:noFill/>
        </p:spPr>
        <p:txBody>
          <a:bodyPr wrap="square" anchor="t" lIns="25400" rIns="25400" tIns="25400" bIns="25400">
            <a:spAutoFit/>
          </a:bodyPr>
          <a:lstStyle/>
          <a:p>
            <a:pPr algn="l">
              <a:lnSpc>
                <a:spcPct val="106000"/>
              </a:lnSpc>
            </a:pPr>
            <a:r>
              <a:rPr sz="1450" b="1">
                <a:solidFill>
                  <a:srgbClr val="047857"/>
                </a:solidFill>
                <a:latin typeface="Calibri"/>
              </a:rPr>
              <a:t>The sensors often aren't there</a:t>
            </a:r>
          </a:p>
        </p:txBody>
      </p:sp>
      <p:sp>
        <p:nvSpPr>
          <p:cNvPr id="13" name="TextBox 12"/>
          <p:cNvSpPr txBox="1"/>
          <p:nvPr/>
        </p:nvSpPr>
        <p:spPr>
          <a:xfrm>
            <a:off x="4626864" y="2578608"/>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You need temperature AND humidity at the same place. Many units measure only dry-bulb on outside, mixed and return air — extra humidity sensors mean extra cost, wiring and calibration drift.</a:t>
            </a:r>
          </a:p>
        </p:txBody>
      </p:sp>
      <p:sp>
        <p:nvSpPr>
          <p:cNvPr id="14" name="Rounded Rectangle 13"/>
          <p:cNvSpPr/>
          <p:nvPr/>
        </p:nvSpPr>
        <p:spPr>
          <a:xfrm>
            <a:off x="8138160" y="1828800"/>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38160" y="1828800"/>
            <a:ext cx="3566160" cy="91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75904" y="2029968"/>
            <a:ext cx="3108960" cy="502920"/>
          </a:xfrm>
          <a:prstGeom prst="rect">
            <a:avLst/>
          </a:prstGeom>
          <a:noFill/>
        </p:spPr>
        <p:txBody>
          <a:bodyPr wrap="square" anchor="t" lIns="25400" rIns="25400" tIns="25400" bIns="25400">
            <a:spAutoFit/>
          </a:bodyPr>
          <a:lstStyle/>
          <a:p>
            <a:pPr algn="l">
              <a:lnSpc>
                <a:spcPct val="106000"/>
              </a:lnSpc>
            </a:pPr>
            <a:r>
              <a:rPr sz="1450" b="1">
                <a:solidFill>
                  <a:srgbClr val="B45309"/>
                </a:solidFill>
                <a:latin typeface="Calibri"/>
              </a:rPr>
              <a:t>The maths was too expensive</a:t>
            </a:r>
          </a:p>
        </p:txBody>
      </p:sp>
      <p:sp>
        <p:nvSpPr>
          <p:cNvPr id="17" name="TextBox 16"/>
          <p:cNvSpPr txBox="1"/>
          <p:nvPr/>
        </p:nvSpPr>
        <p:spPr>
          <a:xfrm>
            <a:off x="8375904" y="2578608"/>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Moisture content and energy content are non-linear and depend on barometric pressure. Older controllers had very little memory and no floating-point maths, so psychrometrics were left out.</a:t>
            </a:r>
          </a:p>
        </p:txBody>
      </p:sp>
      <p:sp>
        <p:nvSpPr>
          <p:cNvPr id="18" name="Rounded Rectangle 17"/>
          <p:cNvSpPr/>
          <p:nvPr/>
        </p:nvSpPr>
        <p:spPr>
          <a:xfrm>
            <a:off x="640080" y="3886199"/>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886199"/>
            <a:ext cx="3566160" cy="9144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 y="4087367"/>
            <a:ext cx="3108960" cy="502920"/>
          </a:xfrm>
          <a:prstGeom prst="rect">
            <a:avLst/>
          </a:prstGeom>
          <a:noFill/>
        </p:spPr>
        <p:txBody>
          <a:bodyPr wrap="square" anchor="t" lIns="25400" rIns="25400" tIns="25400" bIns="25400">
            <a:spAutoFit/>
          </a:bodyPr>
          <a:lstStyle/>
          <a:p>
            <a:pPr algn="l">
              <a:lnSpc>
                <a:spcPct val="106000"/>
              </a:lnSpc>
            </a:pPr>
            <a:r>
              <a:rPr sz="1450" b="1">
                <a:solidFill>
                  <a:srgbClr val="1D4ED8"/>
                </a:solidFill>
                <a:latin typeface="Calibri"/>
              </a:rPr>
              <a:t>Graphics couldn't draw it</a:t>
            </a:r>
          </a:p>
        </p:txBody>
      </p:sp>
      <p:sp>
        <p:nvSpPr>
          <p:cNvPr id="21" name="TextBox 20"/>
          <p:cNvSpPr txBox="1"/>
          <p:nvPr/>
        </p:nvSpPr>
        <p:spPr>
          <a:xfrm>
            <a:off x="877824" y="4636007"/>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Early front-ends drew simple equipment schematics and time-series trends. A live chart with curves and overlays needs real rendering — so the chart stayed a static page in the design binder.</a:t>
            </a:r>
          </a:p>
        </p:txBody>
      </p:sp>
      <p:sp>
        <p:nvSpPr>
          <p:cNvPr id="22" name="Rounded Rectangle 21"/>
          <p:cNvSpPr/>
          <p:nvPr/>
        </p:nvSpPr>
        <p:spPr>
          <a:xfrm>
            <a:off x="4389120" y="3886199"/>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89120" y="3886199"/>
            <a:ext cx="3566160" cy="91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26864" y="4087367"/>
            <a:ext cx="3108960" cy="502920"/>
          </a:xfrm>
          <a:prstGeom prst="rect">
            <a:avLst/>
          </a:prstGeom>
          <a:noFill/>
        </p:spPr>
        <p:txBody>
          <a:bodyPr wrap="square" anchor="t" lIns="25400" rIns="25400" tIns="25400" bIns="25400">
            <a:spAutoFit/>
          </a:bodyPr>
          <a:lstStyle/>
          <a:p>
            <a:pPr algn="l">
              <a:lnSpc>
                <a:spcPct val="106000"/>
              </a:lnSpc>
            </a:pPr>
            <a:r>
              <a:rPr sz="1450" b="1">
                <a:solidFill>
                  <a:srgbClr val="047857"/>
                </a:solidFill>
                <a:latin typeface="Calibri"/>
              </a:rPr>
              <a:t>Design and operations are separate worlds</a:t>
            </a:r>
          </a:p>
        </p:txBody>
      </p:sp>
      <p:sp>
        <p:nvSpPr>
          <p:cNvPr id="25" name="TextBox 24"/>
          <p:cNvSpPr txBox="1"/>
          <p:nvPr/>
        </p:nvSpPr>
        <p:spPr>
          <a:xfrm>
            <a:off x="4626864" y="4636007"/>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The chart is used once, offline, to select equipment. What is handed to the controls contractor is a list of setpoints — not the physics behind them. The reasoning is lost at handover.</a:t>
            </a:r>
          </a:p>
        </p:txBody>
      </p:sp>
      <p:sp>
        <p:nvSpPr>
          <p:cNvPr id="26" name="Rounded Rectangle 25"/>
          <p:cNvSpPr/>
          <p:nvPr/>
        </p:nvSpPr>
        <p:spPr>
          <a:xfrm>
            <a:off x="8138160" y="3886199"/>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38160" y="3886199"/>
            <a:ext cx="3566160" cy="91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75904" y="4087367"/>
            <a:ext cx="3108960" cy="502920"/>
          </a:xfrm>
          <a:prstGeom prst="rect">
            <a:avLst/>
          </a:prstGeom>
          <a:noFill/>
        </p:spPr>
        <p:txBody>
          <a:bodyPr wrap="square" anchor="t" lIns="25400" rIns="25400" tIns="25400" bIns="25400">
            <a:spAutoFit/>
          </a:bodyPr>
          <a:lstStyle/>
          <a:p>
            <a:pPr algn="l">
              <a:lnSpc>
                <a:spcPct val="106000"/>
              </a:lnSpc>
            </a:pPr>
            <a:r>
              <a:rPr sz="1450" b="1">
                <a:solidFill>
                  <a:srgbClr val="B45309"/>
                </a:solidFill>
                <a:latin typeface="Calibri"/>
              </a:rPr>
              <a:t>The simpler option was allowed</a:t>
            </a:r>
          </a:p>
        </p:txBody>
      </p:sp>
      <p:sp>
        <p:nvSpPr>
          <p:cNvPr id="29" name="TextBox 28"/>
          <p:cNvSpPr txBox="1"/>
          <p:nvPr/>
        </p:nvSpPr>
        <p:spPr>
          <a:xfrm>
            <a:off x="8375904" y="4636007"/>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Codes permit dry-bulb-only economizer switching, so designs avoided humidity sensing that was historically unreliable. The easier, compliant path quietly became the default.</a:t>
            </a:r>
          </a:p>
        </p:txBody>
      </p:sp>
      <p:sp>
        <p:nvSpPr>
          <p:cNvPr id="30" name="Rounded Rectangle 29"/>
          <p:cNvSpPr/>
          <p:nvPr/>
        </p:nvSpPr>
        <p:spPr>
          <a:xfrm>
            <a:off x="640080" y="5806440"/>
            <a:ext cx="10908792" cy="777240"/>
          </a:xfrm>
          <a:prstGeom prst="roundRect">
            <a:avLst/>
          </a:prstGeom>
          <a:solidFill>
            <a:srgbClr val="FFFBEB"/>
          </a:solidFill>
          <a:ln w="12700">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897880"/>
            <a:ext cx="10424160" cy="274320"/>
          </a:xfrm>
          <a:prstGeom prst="rect">
            <a:avLst/>
          </a:prstGeom>
          <a:noFill/>
        </p:spPr>
        <p:txBody>
          <a:bodyPr wrap="square" anchor="t" lIns="25400" rIns="25400" tIns="25400" bIns="25400">
            <a:spAutoFit/>
          </a:bodyPr>
          <a:lstStyle/>
          <a:p>
            <a:pPr algn="l">
              <a:lnSpc>
                <a:spcPct val="106000"/>
              </a:lnSpc>
            </a:pPr>
            <a:r>
              <a:rPr sz="1300" b="1">
                <a:solidFill>
                  <a:srgbClr val="B45309"/>
                </a:solidFill>
                <a:latin typeface="Calibri"/>
              </a:rPr>
              <a:t>The consequence</a:t>
            </a:r>
          </a:p>
        </p:txBody>
      </p:sp>
      <p:sp>
        <p:nvSpPr>
          <p:cNvPr id="32" name="TextBox 31"/>
          <p:cNvSpPr txBox="1"/>
          <p:nvPr/>
        </p:nvSpPr>
        <p:spPr>
          <a:xfrm>
            <a:off x="896112" y="6163056"/>
            <a:ext cx="10515600" cy="365760"/>
          </a:xfrm>
          <a:prstGeom prst="rect">
            <a:avLst/>
          </a:prstGeom>
          <a:noFill/>
        </p:spPr>
        <p:txBody>
          <a:bodyPr wrap="square" anchor="t" lIns="25400" rIns="25400" tIns="25400" bIns="25400">
            <a:spAutoFit/>
          </a:bodyPr>
          <a:lstStyle/>
          <a:p>
            <a:pPr algn="l">
              <a:lnSpc>
                <a:spcPct val="106000"/>
              </a:lnSpc>
            </a:pPr>
            <a:r>
              <a:rPr sz="1300" b="0">
                <a:solidFill>
                  <a:srgbClr val="0F172A"/>
                </a:solidFill>
                <a:latin typeface="Calibri"/>
              </a:rPr>
              <a:t>Operators end up diagnosing a TWO-DIMENSIONAL problem — heat AND moisture — by staring at separate one-dimensional trend lines. The information is there; the picture is not.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THE RULEBOOKS</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Four ASHRAE standards, in one line each</a:t>
            </a:r>
          </a:p>
        </p:txBody>
      </p:sp>
      <p:sp>
        <p:nvSpPr>
          <p:cNvPr id="6" name="Rounded Rectangle 5"/>
          <p:cNvSpPr/>
          <p:nvPr/>
        </p:nvSpPr>
        <p:spPr>
          <a:xfrm>
            <a:off x="640080" y="1965960"/>
            <a:ext cx="10908792" cy="932688"/>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965960"/>
            <a:ext cx="2286000" cy="932688"/>
          </a:xfrm>
          <a:prstGeom prst="round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920240" cy="932688"/>
          </a:xfrm>
          <a:prstGeom prst="rect">
            <a:avLst/>
          </a:prstGeom>
          <a:noFill/>
        </p:spPr>
        <p:txBody>
          <a:bodyPr wrap="square" anchor="ctr" lIns="25400" rIns="25400" tIns="25400" bIns="25400">
            <a:spAutoFit/>
          </a:bodyPr>
          <a:lstStyle/>
          <a:p>
            <a:pPr algn="ctr">
              <a:lnSpc>
                <a:spcPct val="106000"/>
              </a:lnSpc>
            </a:pPr>
            <a:r>
              <a:rPr sz="1800" b="1">
                <a:solidFill>
                  <a:srgbClr val="FFFFFF"/>
                </a:solidFill>
                <a:latin typeface="Calibri"/>
              </a:rPr>
              <a:t>ASHRAE 55</a:t>
            </a:r>
          </a:p>
        </p:txBody>
      </p:sp>
      <p:sp>
        <p:nvSpPr>
          <p:cNvPr id="9" name="TextBox 8"/>
          <p:cNvSpPr txBox="1"/>
          <p:nvPr/>
        </p:nvSpPr>
        <p:spPr>
          <a:xfrm>
            <a:off x="3154680" y="1965960"/>
            <a:ext cx="2011680" cy="932688"/>
          </a:xfrm>
          <a:prstGeom prst="rect">
            <a:avLst/>
          </a:prstGeom>
          <a:noFill/>
        </p:spPr>
        <p:txBody>
          <a:bodyPr wrap="square" anchor="ctr" lIns="25400" rIns="25400" tIns="25400" bIns="25400">
            <a:spAutoFit/>
          </a:bodyPr>
          <a:lstStyle/>
          <a:p>
            <a:pPr algn="l">
              <a:lnSpc>
                <a:spcPct val="106000"/>
              </a:lnSpc>
            </a:pPr>
            <a:r>
              <a:rPr sz="1600" b="1">
                <a:solidFill>
                  <a:srgbClr val="B45309"/>
                </a:solidFill>
                <a:latin typeface="Calibri"/>
              </a:rPr>
              <a:t>Comfort</a:t>
            </a:r>
          </a:p>
        </p:txBody>
      </p:sp>
      <p:sp>
        <p:nvSpPr>
          <p:cNvPr id="10" name="TextBox 9"/>
          <p:cNvSpPr txBox="1"/>
          <p:nvPr/>
        </p:nvSpPr>
        <p:spPr>
          <a:xfrm>
            <a:off x="5212080" y="1965960"/>
            <a:ext cx="6153912" cy="932688"/>
          </a:xfrm>
          <a:prstGeom prst="rect">
            <a:avLst/>
          </a:prstGeom>
          <a:noFill/>
        </p:spPr>
        <p:txBody>
          <a:bodyPr wrap="square" anchor="ctr" lIns="25400" rIns="25400" tIns="25400" bIns="25400">
            <a:spAutoFit/>
          </a:bodyPr>
          <a:lstStyle/>
          <a:p>
            <a:pPr algn="l">
              <a:lnSpc>
                <a:spcPct val="106000"/>
              </a:lnSpc>
            </a:pPr>
            <a:r>
              <a:rPr sz="1550" b="0">
                <a:solidFill>
                  <a:srgbClr val="475569"/>
                </a:solidFill>
                <a:latin typeface="Calibri"/>
              </a:rPr>
              <a:t>Will people feel comfortable?</a:t>
            </a:r>
          </a:p>
        </p:txBody>
      </p:sp>
      <p:sp>
        <p:nvSpPr>
          <p:cNvPr id="11" name="Rounded Rectangle 10"/>
          <p:cNvSpPr/>
          <p:nvPr/>
        </p:nvSpPr>
        <p:spPr>
          <a:xfrm>
            <a:off x="640080" y="3008376"/>
            <a:ext cx="10908792" cy="932688"/>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 y="3008376"/>
            <a:ext cx="2286000" cy="932688"/>
          </a:xfrm>
          <a:prstGeom prst="round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008376"/>
            <a:ext cx="1920240" cy="932688"/>
          </a:xfrm>
          <a:prstGeom prst="rect">
            <a:avLst/>
          </a:prstGeom>
          <a:noFill/>
        </p:spPr>
        <p:txBody>
          <a:bodyPr wrap="square" anchor="ctr" lIns="25400" rIns="25400" tIns="25400" bIns="25400">
            <a:spAutoFit/>
          </a:bodyPr>
          <a:lstStyle/>
          <a:p>
            <a:pPr algn="ctr">
              <a:lnSpc>
                <a:spcPct val="106000"/>
              </a:lnSpc>
            </a:pPr>
            <a:r>
              <a:rPr sz="1800" b="1">
                <a:solidFill>
                  <a:srgbClr val="FFFFFF"/>
                </a:solidFill>
                <a:latin typeface="Calibri"/>
              </a:rPr>
              <a:t>ASHRAE 62.1</a:t>
            </a:r>
          </a:p>
        </p:txBody>
      </p:sp>
      <p:sp>
        <p:nvSpPr>
          <p:cNvPr id="14" name="TextBox 13"/>
          <p:cNvSpPr txBox="1"/>
          <p:nvPr/>
        </p:nvSpPr>
        <p:spPr>
          <a:xfrm>
            <a:off x="3154680" y="3008376"/>
            <a:ext cx="2011680" cy="932688"/>
          </a:xfrm>
          <a:prstGeom prst="rect">
            <a:avLst/>
          </a:prstGeom>
          <a:noFill/>
        </p:spPr>
        <p:txBody>
          <a:bodyPr wrap="square" anchor="ctr" lIns="25400" rIns="25400" tIns="25400" bIns="25400">
            <a:spAutoFit/>
          </a:bodyPr>
          <a:lstStyle/>
          <a:p>
            <a:pPr algn="l">
              <a:lnSpc>
                <a:spcPct val="106000"/>
              </a:lnSpc>
            </a:pPr>
            <a:r>
              <a:rPr sz="1600" b="1">
                <a:solidFill>
                  <a:srgbClr val="047857"/>
                </a:solidFill>
                <a:latin typeface="Calibri"/>
              </a:rPr>
              <a:t>Fresh air</a:t>
            </a:r>
          </a:p>
        </p:txBody>
      </p:sp>
      <p:sp>
        <p:nvSpPr>
          <p:cNvPr id="15" name="TextBox 14"/>
          <p:cNvSpPr txBox="1"/>
          <p:nvPr/>
        </p:nvSpPr>
        <p:spPr>
          <a:xfrm>
            <a:off x="5212080" y="3008376"/>
            <a:ext cx="6153912" cy="932688"/>
          </a:xfrm>
          <a:prstGeom prst="rect">
            <a:avLst/>
          </a:prstGeom>
          <a:noFill/>
        </p:spPr>
        <p:txBody>
          <a:bodyPr wrap="square" anchor="ctr" lIns="25400" rIns="25400" tIns="25400" bIns="25400">
            <a:spAutoFit/>
          </a:bodyPr>
          <a:lstStyle/>
          <a:p>
            <a:pPr algn="l">
              <a:lnSpc>
                <a:spcPct val="106000"/>
              </a:lnSpc>
            </a:pPr>
            <a:r>
              <a:rPr sz="1550" b="0">
                <a:solidFill>
                  <a:srgbClr val="475569"/>
                </a:solidFill>
                <a:latin typeface="Calibri"/>
              </a:rPr>
              <a:t>Is there enough outside air to stay healthy?</a:t>
            </a:r>
          </a:p>
        </p:txBody>
      </p:sp>
      <p:sp>
        <p:nvSpPr>
          <p:cNvPr id="16" name="Rounded Rectangle 15"/>
          <p:cNvSpPr/>
          <p:nvPr/>
        </p:nvSpPr>
        <p:spPr>
          <a:xfrm>
            <a:off x="640080" y="4050792"/>
            <a:ext cx="10908792" cy="932688"/>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0080" y="4050792"/>
            <a:ext cx="2286000" cy="932688"/>
          </a:xfrm>
          <a:prstGeom prst="round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050792"/>
            <a:ext cx="1920240" cy="932688"/>
          </a:xfrm>
          <a:prstGeom prst="rect">
            <a:avLst/>
          </a:prstGeom>
          <a:noFill/>
        </p:spPr>
        <p:txBody>
          <a:bodyPr wrap="square" anchor="ctr" lIns="25400" rIns="25400" tIns="25400" bIns="25400">
            <a:spAutoFit/>
          </a:bodyPr>
          <a:lstStyle/>
          <a:p>
            <a:pPr algn="ctr">
              <a:lnSpc>
                <a:spcPct val="106000"/>
              </a:lnSpc>
            </a:pPr>
            <a:r>
              <a:rPr sz="1800" b="1">
                <a:solidFill>
                  <a:srgbClr val="FFFFFF"/>
                </a:solidFill>
                <a:latin typeface="Calibri"/>
              </a:rPr>
              <a:t>ASHRAE 90.1</a:t>
            </a:r>
          </a:p>
        </p:txBody>
      </p:sp>
      <p:sp>
        <p:nvSpPr>
          <p:cNvPr id="19" name="TextBox 18"/>
          <p:cNvSpPr txBox="1"/>
          <p:nvPr/>
        </p:nvSpPr>
        <p:spPr>
          <a:xfrm>
            <a:off x="3154680" y="4050792"/>
            <a:ext cx="2011680" cy="932688"/>
          </a:xfrm>
          <a:prstGeom prst="rect">
            <a:avLst/>
          </a:prstGeom>
          <a:noFill/>
        </p:spPr>
        <p:txBody>
          <a:bodyPr wrap="square" anchor="ctr" lIns="25400" rIns="25400" tIns="25400" bIns="25400">
            <a:spAutoFit/>
          </a:bodyPr>
          <a:lstStyle/>
          <a:p>
            <a:pPr algn="l">
              <a:lnSpc>
                <a:spcPct val="106000"/>
              </a:lnSpc>
            </a:pPr>
            <a:r>
              <a:rPr sz="1600" b="1">
                <a:solidFill>
                  <a:srgbClr val="1D4ED8"/>
                </a:solidFill>
                <a:latin typeface="Calibri"/>
              </a:rPr>
              <a:t>Energy</a:t>
            </a:r>
          </a:p>
        </p:txBody>
      </p:sp>
      <p:sp>
        <p:nvSpPr>
          <p:cNvPr id="20" name="TextBox 19"/>
          <p:cNvSpPr txBox="1"/>
          <p:nvPr/>
        </p:nvSpPr>
        <p:spPr>
          <a:xfrm>
            <a:off x="5212080" y="4050792"/>
            <a:ext cx="6153912" cy="932688"/>
          </a:xfrm>
          <a:prstGeom prst="rect">
            <a:avLst/>
          </a:prstGeom>
          <a:noFill/>
        </p:spPr>
        <p:txBody>
          <a:bodyPr wrap="square" anchor="ctr" lIns="25400" rIns="25400" tIns="25400" bIns="25400">
            <a:spAutoFit/>
          </a:bodyPr>
          <a:lstStyle/>
          <a:p>
            <a:pPr algn="l">
              <a:lnSpc>
                <a:spcPct val="106000"/>
              </a:lnSpc>
            </a:pPr>
            <a:r>
              <a:rPr sz="1550" b="0">
                <a:solidFill>
                  <a:srgbClr val="475569"/>
                </a:solidFill>
                <a:latin typeface="Calibri"/>
              </a:rPr>
              <a:t>Are we doing it without wasting energy?</a:t>
            </a:r>
          </a:p>
        </p:txBody>
      </p:sp>
      <p:sp>
        <p:nvSpPr>
          <p:cNvPr id="21" name="Rounded Rectangle 20"/>
          <p:cNvSpPr/>
          <p:nvPr/>
        </p:nvSpPr>
        <p:spPr>
          <a:xfrm>
            <a:off x="640080" y="5093208"/>
            <a:ext cx="10908792" cy="932688"/>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40080" y="5093208"/>
            <a:ext cx="2286000" cy="932688"/>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093208"/>
            <a:ext cx="1920240" cy="932688"/>
          </a:xfrm>
          <a:prstGeom prst="rect">
            <a:avLst/>
          </a:prstGeom>
          <a:noFill/>
        </p:spPr>
        <p:txBody>
          <a:bodyPr wrap="square" anchor="ctr" lIns="25400" rIns="25400" tIns="25400" bIns="25400">
            <a:spAutoFit/>
          </a:bodyPr>
          <a:lstStyle/>
          <a:p>
            <a:pPr algn="ctr">
              <a:lnSpc>
                <a:spcPct val="106000"/>
              </a:lnSpc>
            </a:pPr>
            <a:r>
              <a:rPr sz="1800" b="1">
                <a:solidFill>
                  <a:srgbClr val="FFFFFF"/>
                </a:solidFill>
                <a:latin typeface="Calibri"/>
              </a:rPr>
              <a:t>Guideline 36</a:t>
            </a:r>
          </a:p>
        </p:txBody>
      </p:sp>
      <p:sp>
        <p:nvSpPr>
          <p:cNvPr id="24" name="TextBox 23"/>
          <p:cNvSpPr txBox="1"/>
          <p:nvPr/>
        </p:nvSpPr>
        <p:spPr>
          <a:xfrm>
            <a:off x="3154680" y="5093208"/>
            <a:ext cx="2011680" cy="932688"/>
          </a:xfrm>
          <a:prstGeom prst="rect">
            <a:avLst/>
          </a:prstGeom>
          <a:noFill/>
        </p:spPr>
        <p:txBody>
          <a:bodyPr wrap="square" anchor="ctr" lIns="25400" rIns="25400" tIns="25400" bIns="25400">
            <a:spAutoFit/>
          </a:bodyPr>
          <a:lstStyle/>
          <a:p>
            <a:pPr algn="l">
              <a:lnSpc>
                <a:spcPct val="106000"/>
              </a:lnSpc>
            </a:pPr>
            <a:r>
              <a:rPr sz="1600" b="1">
                <a:solidFill>
                  <a:srgbClr val="0F172A"/>
                </a:solidFill>
                <a:latin typeface="Calibri"/>
              </a:rPr>
              <a:t>The referee</a:t>
            </a:r>
          </a:p>
        </p:txBody>
      </p:sp>
      <p:sp>
        <p:nvSpPr>
          <p:cNvPr id="25" name="TextBox 24"/>
          <p:cNvSpPr txBox="1"/>
          <p:nvPr/>
        </p:nvSpPr>
        <p:spPr>
          <a:xfrm>
            <a:off x="5212080" y="5093208"/>
            <a:ext cx="6153912" cy="932688"/>
          </a:xfrm>
          <a:prstGeom prst="rect">
            <a:avLst/>
          </a:prstGeom>
          <a:noFill/>
        </p:spPr>
        <p:txBody>
          <a:bodyPr wrap="square" anchor="ctr" lIns="25400" rIns="25400" tIns="25400" bIns="25400">
            <a:spAutoFit/>
          </a:bodyPr>
          <a:lstStyle/>
          <a:p>
            <a:pPr algn="l">
              <a:lnSpc>
                <a:spcPct val="106000"/>
              </a:lnSpc>
            </a:pPr>
            <a:r>
              <a:rPr sz="1550" b="0">
                <a:solidFill>
                  <a:srgbClr val="475569"/>
                </a:solidFill>
                <a:latin typeface="Calibri"/>
              </a:rPr>
              <a:t>How should the equipment be run to hit all three?</a:t>
            </a:r>
          </a:p>
        </p:txBody>
      </p:sp>
      <p:sp>
        <p:nvSpPr>
          <p:cNvPr id="26" name="Rounded Rectangle 25"/>
          <p:cNvSpPr/>
          <p:nvPr/>
        </p:nvSpPr>
        <p:spPr>
          <a:xfrm>
            <a:off x="640080" y="6172200"/>
            <a:ext cx="10908792" cy="548640"/>
          </a:xfrm>
          <a:prstGeom prst="roundRect">
            <a:avLst/>
          </a:prstGeom>
          <a:solidFill>
            <a:srgbClr val="FFFBEB"/>
          </a:solidFill>
          <a:ln w="12700">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6236208"/>
            <a:ext cx="10424160" cy="411480"/>
          </a:xfrm>
          <a:prstGeom prst="rect">
            <a:avLst/>
          </a:prstGeom>
          <a:noFill/>
        </p:spPr>
        <p:txBody>
          <a:bodyPr wrap="square" anchor="ctr" lIns="25400" rIns="25400" tIns="25400" bIns="25400">
            <a:spAutoFit/>
          </a:bodyPr>
          <a:lstStyle/>
          <a:p>
            <a:pPr algn="l">
              <a:lnSpc>
                <a:spcPct val="106000"/>
              </a:lnSpc>
            </a:pPr>
            <a:r>
              <a:rPr sz="1350" b="0">
                <a:solidFill>
                  <a:srgbClr val="0F172A"/>
                </a:solidFill>
                <a:latin typeface="Calibri"/>
              </a:rPr>
              <a:t>Comfort and fresh air push toward MORE conditioning; energy pushes toward LESS. Guideline 36 is the rulebook that settles the argument.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THE BIG IDEA</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One sheet — every rulebook draws on it</a:t>
            </a:r>
          </a:p>
        </p:txBody>
      </p:sp>
      <p:sp>
        <p:nvSpPr>
          <p:cNvPr id="6" name="Rounded Rectangle 5"/>
          <p:cNvSpPr/>
          <p:nvPr/>
        </p:nvSpPr>
        <p:spPr>
          <a:xfrm>
            <a:off x="4343400" y="1920240"/>
            <a:ext cx="3520440" cy="365760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34840" y="2103120"/>
            <a:ext cx="3337560" cy="320040"/>
          </a:xfrm>
          <a:prstGeom prst="rect">
            <a:avLst/>
          </a:prstGeom>
          <a:noFill/>
        </p:spPr>
        <p:txBody>
          <a:bodyPr wrap="square" anchor="t" lIns="25400" rIns="25400" tIns="25400" bIns="25400">
            <a:spAutoFit/>
          </a:bodyPr>
          <a:lstStyle/>
          <a:p>
            <a:pPr algn="ctr">
              <a:lnSpc>
                <a:spcPct val="106000"/>
              </a:lnSpc>
            </a:pPr>
            <a:r>
              <a:rPr sz="1600" b="1">
                <a:solidFill>
                  <a:srgbClr val="1D4ED8"/>
                </a:solidFill>
                <a:latin typeface="Calibri"/>
              </a:rPr>
              <a:t>The psychrometric chart</a:t>
            </a:r>
          </a:p>
        </p:txBody>
      </p:sp>
      <p:sp>
        <p:nvSpPr>
          <p:cNvPr id="8" name="TextBox 7"/>
          <p:cNvSpPr txBox="1"/>
          <p:nvPr/>
        </p:nvSpPr>
        <p:spPr>
          <a:xfrm>
            <a:off x="4434840" y="2432304"/>
            <a:ext cx="3337560" cy="274320"/>
          </a:xfrm>
          <a:prstGeom prst="rect">
            <a:avLst/>
          </a:prstGeom>
          <a:noFill/>
        </p:spPr>
        <p:txBody>
          <a:bodyPr wrap="square" anchor="t" lIns="25400" rIns="25400" tIns="25400" bIns="25400">
            <a:spAutoFit/>
          </a:bodyPr>
          <a:lstStyle/>
          <a:p>
            <a:pPr algn="ctr">
              <a:lnSpc>
                <a:spcPct val="106000"/>
              </a:lnSpc>
            </a:pPr>
            <a:r>
              <a:rPr sz="1100" b="0">
                <a:solidFill>
                  <a:srgbClr val="64748B"/>
                </a:solidFill>
                <a:latin typeface="Calibri"/>
              </a:rPr>
              <a:t>temperature × moisture — the only two axes</a:t>
            </a:r>
          </a:p>
        </p:txBody>
      </p:sp>
      <p:cxnSp>
        <p:nvCxnSpPr>
          <p:cNvPr id="9" name="Connector 8"/>
          <p:cNvCxnSpPr/>
          <p:nvPr/>
        </p:nvCxnSpPr>
        <p:spPr>
          <a:xfrm>
            <a:off x="4709160" y="4663440"/>
            <a:ext cx="2633472" cy="0"/>
          </a:xfrm>
          <a:prstGeom prst="line">
            <a:avLst/>
          </a:prstGeom>
          <a:ln w="1905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4709160" y="3072383"/>
            <a:ext cx="0" cy="1591057"/>
          </a:xfrm>
          <a:prstGeom prst="line">
            <a:avLst/>
          </a:prstGeom>
          <a:ln w="1905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525536" y="4183938"/>
            <a:ext cx="1474744" cy="477571"/>
          </a:xfrm>
          <a:prstGeom prst="line">
            <a:avLst/>
          </a:prstGeom>
          <a:ln w="11430">
            <a:solidFill>
              <a:srgbClr val="7C3AED"/>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401165" y="3553169"/>
            <a:ext cx="941467" cy="304878"/>
          </a:xfrm>
          <a:prstGeom prst="line">
            <a:avLst/>
          </a:prstGeom>
          <a:ln w="11430">
            <a:solidFill>
              <a:srgbClr val="7C3AED"/>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821801" y="4018839"/>
            <a:ext cx="1520831" cy="492496"/>
          </a:xfrm>
          <a:prstGeom prst="line">
            <a:avLst/>
          </a:prstGeom>
          <a:ln w="16510">
            <a:solidFill>
              <a:srgbClr val="7C3AED"/>
            </a:solidFill>
            <a:prstDash val="dash"/>
          </a:ln>
        </p:spPr>
        <p:style>
          <a:lnRef idx="2">
            <a:schemeClr val="accent1"/>
          </a:lnRef>
          <a:fillRef idx="0">
            <a:schemeClr val="accent1"/>
          </a:fillRef>
          <a:effectRef idx="1">
            <a:schemeClr val="accent1"/>
          </a:effectRef>
          <a:fontRef idx="minor">
            <a:schemeClr val="tx1"/>
          </a:fontRef>
        </p:style>
      </p:cxnSp>
      <p:sp>
        <p:nvSpPr>
          <p:cNvPr id="14" name="Freeform 13"/>
          <p:cNvSpPr/>
          <p:nvPr/>
        </p:nvSpPr>
        <p:spPr>
          <a:xfrm>
            <a:off x="4709160" y="3072383"/>
            <a:ext cx="2073859" cy="1390849"/>
          </a:xfrm>
          <a:custGeom>
            <a:avLst/>
            <a:gdLst/>
            <a:ahLst/>
            <a:cxnLst/>
            <a:rect l="l" t="t" r="r" b="b"/>
            <a:pathLst>
              <a:path w="2073859" h="1390849">
                <a:moveTo>
                  <a:pt x="0" y="1390849"/>
                </a:moveTo>
                <a:lnTo>
                  <a:pt x="329184" y="1304560"/>
                </a:lnTo>
                <a:lnTo>
                  <a:pt x="658368" y="1186398"/>
                </a:lnTo>
                <a:lnTo>
                  <a:pt x="987552" y="1026391"/>
                </a:lnTo>
                <a:lnTo>
                  <a:pt x="1316736" y="811598"/>
                </a:lnTo>
                <a:lnTo>
                  <a:pt x="1645920" y="526004"/>
                </a:lnTo>
                <a:lnTo>
                  <a:pt x="1975104" y="148393"/>
                </a:lnTo>
                <a:lnTo>
                  <a:pt x="2073859" y="0"/>
                </a:lnTo>
              </a:path>
            </a:pathLst>
          </a:custGeom>
          <a:no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25896" y="4027017"/>
            <a:ext cx="395020" cy="318211"/>
          </a:xfrm>
          <a:prstGeom prst="roundRect">
            <a:avLst/>
          </a:prstGeom>
          <a:solidFill>
            <a:srgbClr val="B45309">
              <a:alpha val="18000"/>
            </a:srgbClr>
          </a:solidFill>
          <a:ln w="158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flipH="1">
            <a:off x="6289243" y="3708806"/>
            <a:ext cx="592531" cy="461406"/>
          </a:xfrm>
          <a:prstGeom prst="line">
            <a:avLst/>
          </a:prstGeom>
          <a:ln w="22225">
            <a:solidFill>
              <a:srgbClr val="047857"/>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5565038" y="4031790"/>
            <a:ext cx="901964" cy="164940"/>
          </a:xfrm>
          <a:prstGeom prst="line">
            <a:avLst/>
          </a:prstGeom>
          <a:ln w="25400">
            <a:solidFill>
              <a:srgbClr val="1D4ED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6836054" y="3663086"/>
            <a:ext cx="91440" cy="91440"/>
          </a:xfrm>
          <a:prstGeom prst="ellipse">
            <a:avLst/>
          </a:prstGeom>
          <a:solidFill>
            <a:srgbClr val="B4530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43523" y="4124492"/>
            <a:ext cx="91440" cy="91440"/>
          </a:xfrm>
          <a:prstGeom prst="ellipse">
            <a:avLst/>
          </a:prstGeom>
          <a:solidFill>
            <a:srgbClr val="04785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21282" y="3986070"/>
            <a:ext cx="91440" cy="91440"/>
          </a:xfrm>
          <a:prstGeom prst="ellipse">
            <a:avLst/>
          </a:prstGeom>
          <a:solidFill>
            <a:srgbClr val="0F17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519318" y="4151010"/>
            <a:ext cx="91440" cy="91440"/>
          </a:xfrm>
          <a:prstGeom prst="ellipse">
            <a:avLst/>
          </a:prstGeom>
          <a:solidFill>
            <a:srgbClr val="1D4ED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80560" y="4864608"/>
            <a:ext cx="3246120" cy="548640"/>
          </a:xfrm>
          <a:prstGeom prst="rect">
            <a:avLst/>
          </a:prstGeom>
          <a:noFill/>
        </p:spPr>
        <p:txBody>
          <a:bodyPr wrap="square" anchor="t" lIns="25400" rIns="25400" tIns="25400" bIns="25400">
            <a:spAutoFit/>
          </a:bodyPr>
          <a:lstStyle/>
          <a:p>
            <a:pPr algn="ctr">
              <a:lnSpc>
                <a:spcPct val="120000"/>
              </a:lnSpc>
            </a:pPr>
            <a:r>
              <a:rPr sz="1150" b="0">
                <a:solidFill>
                  <a:srgbClr val="475569"/>
                </a:solidFill>
                <a:latin typeface="Calibri"/>
              </a:rPr>
              <a:t>Every requirement around it becomes a shape on THESE SAME AXES.</a:t>
            </a:r>
          </a:p>
        </p:txBody>
      </p:sp>
      <p:sp>
        <p:nvSpPr>
          <p:cNvPr id="23" name="Rounded Rectangle 22"/>
          <p:cNvSpPr/>
          <p:nvPr/>
        </p:nvSpPr>
        <p:spPr>
          <a:xfrm>
            <a:off x="640080" y="1920240"/>
            <a:ext cx="338328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1920240"/>
            <a:ext cx="3383280" cy="91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2121408"/>
            <a:ext cx="2926080" cy="292608"/>
          </a:xfrm>
          <a:prstGeom prst="rect">
            <a:avLst/>
          </a:prstGeom>
          <a:noFill/>
        </p:spPr>
        <p:txBody>
          <a:bodyPr wrap="square" anchor="t" lIns="25400" rIns="25400" tIns="25400" bIns="25400">
            <a:spAutoFit/>
          </a:bodyPr>
          <a:lstStyle/>
          <a:p>
            <a:pPr algn="l">
              <a:lnSpc>
                <a:spcPct val="106000"/>
              </a:lnSpc>
            </a:pPr>
            <a:r>
              <a:rPr sz="1350" b="1">
                <a:solidFill>
                  <a:srgbClr val="B45309"/>
                </a:solidFill>
                <a:latin typeface="Calibri"/>
              </a:rPr>
              <a:t>ASHRAE 55 draws an AREA</a:t>
            </a:r>
          </a:p>
        </p:txBody>
      </p:sp>
      <p:sp>
        <p:nvSpPr>
          <p:cNvPr id="26" name="TextBox 25"/>
          <p:cNvSpPr txBox="1"/>
          <p:nvPr/>
        </p:nvSpPr>
        <p:spPr>
          <a:xfrm>
            <a:off x="877824" y="2468880"/>
            <a:ext cx="2944368" cy="777240"/>
          </a:xfrm>
          <a:prstGeom prst="rect">
            <a:avLst/>
          </a:prstGeom>
          <a:noFill/>
        </p:spPr>
        <p:txBody>
          <a:bodyPr wrap="square" anchor="t" lIns="25400" rIns="25400" tIns="25400" bIns="25400">
            <a:spAutoFit/>
          </a:bodyPr>
          <a:lstStyle/>
          <a:p>
            <a:pPr algn="l">
              <a:lnSpc>
                <a:spcPct val="115000"/>
              </a:lnSpc>
            </a:pPr>
            <a:r>
              <a:rPr sz="1050" b="0">
                <a:solidFill>
                  <a:srgbClr val="475569"/>
                </a:solidFill>
                <a:latin typeface="Calibri"/>
              </a:rPr>
              <a:t>The comfort zone: the band of temperature and humidity occupants accept. The air-side of the standard becomes a region you must land the room inside.</a:t>
            </a:r>
          </a:p>
        </p:txBody>
      </p:sp>
      <p:sp>
        <p:nvSpPr>
          <p:cNvPr id="27" name="Rounded Rectangle 26"/>
          <p:cNvSpPr/>
          <p:nvPr/>
        </p:nvSpPr>
        <p:spPr>
          <a:xfrm>
            <a:off x="8165592" y="1920240"/>
            <a:ext cx="338328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165592" y="1920240"/>
            <a:ext cx="3383280" cy="91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3336" y="2121408"/>
            <a:ext cx="2926080" cy="292608"/>
          </a:xfrm>
          <a:prstGeom prst="rect">
            <a:avLst/>
          </a:prstGeom>
          <a:noFill/>
        </p:spPr>
        <p:txBody>
          <a:bodyPr wrap="square" anchor="t" lIns="25400" rIns="25400" tIns="25400" bIns="25400">
            <a:spAutoFit/>
          </a:bodyPr>
          <a:lstStyle/>
          <a:p>
            <a:pPr algn="l">
              <a:lnSpc>
                <a:spcPct val="106000"/>
              </a:lnSpc>
            </a:pPr>
            <a:r>
              <a:rPr sz="1350" b="1">
                <a:solidFill>
                  <a:srgbClr val="047857"/>
                </a:solidFill>
                <a:latin typeface="Calibri"/>
              </a:rPr>
              <a:t>ASHRAE 62.1 draws a POINT ON A LINE</a:t>
            </a:r>
          </a:p>
        </p:txBody>
      </p:sp>
      <p:sp>
        <p:nvSpPr>
          <p:cNvPr id="30" name="TextBox 29"/>
          <p:cNvSpPr txBox="1"/>
          <p:nvPr/>
        </p:nvSpPr>
        <p:spPr>
          <a:xfrm>
            <a:off x="8403336" y="2468880"/>
            <a:ext cx="2944368" cy="777240"/>
          </a:xfrm>
          <a:prstGeom prst="rect">
            <a:avLst/>
          </a:prstGeom>
          <a:noFill/>
        </p:spPr>
        <p:txBody>
          <a:bodyPr wrap="square" anchor="t" lIns="25400" rIns="25400" tIns="25400" bIns="25400">
            <a:spAutoFit/>
          </a:bodyPr>
          <a:lstStyle/>
          <a:p>
            <a:pPr algn="l">
              <a:lnSpc>
                <a:spcPct val="115000"/>
              </a:lnSpc>
            </a:pPr>
            <a:r>
              <a:rPr sz="1050" b="0">
                <a:solidFill>
                  <a:srgbClr val="475569"/>
                </a:solidFill>
                <a:latin typeface="Calibri"/>
              </a:rPr>
              <a:t>The required outside-air fraction fixes exactly where the mixed-air dot must sit along the line between return and outside air.</a:t>
            </a:r>
          </a:p>
        </p:txBody>
      </p:sp>
      <p:sp>
        <p:nvSpPr>
          <p:cNvPr id="31" name="Rounded Rectangle 30"/>
          <p:cNvSpPr/>
          <p:nvPr/>
        </p:nvSpPr>
        <p:spPr>
          <a:xfrm>
            <a:off x="640080" y="3840480"/>
            <a:ext cx="338328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840480"/>
            <a:ext cx="3383280" cy="9144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77824" y="4041648"/>
            <a:ext cx="2926080" cy="292608"/>
          </a:xfrm>
          <a:prstGeom prst="rect">
            <a:avLst/>
          </a:prstGeom>
          <a:noFill/>
        </p:spPr>
        <p:txBody>
          <a:bodyPr wrap="square" anchor="t" lIns="25400" rIns="25400" tIns="25400" bIns="25400">
            <a:spAutoFit/>
          </a:bodyPr>
          <a:lstStyle/>
          <a:p>
            <a:pPr algn="l">
              <a:lnSpc>
                <a:spcPct val="106000"/>
              </a:lnSpc>
            </a:pPr>
            <a:r>
              <a:rPr sz="1350" b="1">
                <a:solidFill>
                  <a:srgbClr val="1D4ED8"/>
                </a:solidFill>
                <a:latin typeface="Calibri"/>
              </a:rPr>
              <a:t>ASHRAE 90.1 draws a DIRECTION</a:t>
            </a:r>
          </a:p>
        </p:txBody>
      </p:sp>
      <p:sp>
        <p:nvSpPr>
          <p:cNvPr id="34" name="TextBox 33"/>
          <p:cNvSpPr txBox="1"/>
          <p:nvPr/>
        </p:nvSpPr>
        <p:spPr>
          <a:xfrm>
            <a:off x="877824" y="4389120"/>
            <a:ext cx="2944368" cy="777240"/>
          </a:xfrm>
          <a:prstGeom prst="rect">
            <a:avLst/>
          </a:prstGeom>
          <a:noFill/>
        </p:spPr>
        <p:txBody>
          <a:bodyPr wrap="square" anchor="t" lIns="25400" rIns="25400" tIns="25400" bIns="25400">
            <a:spAutoFit/>
          </a:bodyPr>
          <a:lstStyle/>
          <a:p>
            <a:pPr algn="l">
              <a:lnSpc>
                <a:spcPct val="115000"/>
              </a:lnSpc>
            </a:pPr>
            <a:r>
              <a:rPr sz="1050" b="0">
                <a:solidFill>
                  <a:srgbClr val="475569"/>
                </a:solidFill>
                <a:latin typeface="Calibri"/>
              </a:rPr>
              <a:t>The violet diagonals are equal-energy lines. Which side of them outside air falls on decides whether it is the cheaper source — and how far the dot may be pushed before energy is wasted.</a:t>
            </a:r>
          </a:p>
        </p:txBody>
      </p:sp>
      <p:sp>
        <p:nvSpPr>
          <p:cNvPr id="35" name="TextBox 34"/>
          <p:cNvSpPr txBox="1"/>
          <p:nvPr/>
        </p:nvSpPr>
        <p:spPr>
          <a:xfrm>
            <a:off x="877824" y="5193792"/>
            <a:ext cx="2944368" cy="320040"/>
          </a:xfrm>
          <a:prstGeom prst="rect">
            <a:avLst/>
          </a:prstGeom>
          <a:noFill/>
        </p:spPr>
        <p:txBody>
          <a:bodyPr wrap="square" anchor="t" lIns="25400" rIns="25400" tIns="25400" bIns="25400">
            <a:spAutoFit/>
          </a:bodyPr>
          <a:lstStyle/>
          <a:p>
            <a:pPr algn="l">
              <a:lnSpc>
                <a:spcPct val="110000"/>
              </a:lnSpc>
            </a:pPr>
            <a:r>
              <a:rPr sz="950" b="0">
                <a:solidFill>
                  <a:srgbClr val="64748B"/>
                </a:solidFill>
                <a:latin typeface="Calibri"/>
              </a:rPr>
              <a:t>Air-side only — fan power and chiller efficiency sit outside the chart.</a:t>
            </a:r>
          </a:p>
        </p:txBody>
      </p:sp>
      <p:sp>
        <p:nvSpPr>
          <p:cNvPr id="36" name="Rounded Rectangle 35"/>
          <p:cNvSpPr/>
          <p:nvPr/>
        </p:nvSpPr>
        <p:spPr>
          <a:xfrm>
            <a:off x="8165592" y="3840480"/>
            <a:ext cx="338328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165592" y="3840480"/>
            <a:ext cx="3383280" cy="914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03336" y="4041648"/>
            <a:ext cx="2926080" cy="292608"/>
          </a:xfrm>
          <a:prstGeom prst="rect">
            <a:avLst/>
          </a:prstGeom>
          <a:noFill/>
        </p:spPr>
        <p:txBody>
          <a:bodyPr wrap="square" anchor="t" lIns="25400" rIns="25400" tIns="25400" bIns="25400">
            <a:spAutoFit/>
          </a:bodyPr>
          <a:lstStyle/>
          <a:p>
            <a:pPr algn="l">
              <a:lnSpc>
                <a:spcPct val="106000"/>
              </a:lnSpc>
            </a:pPr>
            <a:r>
              <a:rPr sz="1350" b="1">
                <a:solidFill>
                  <a:srgbClr val="0F172A"/>
                </a:solidFill>
                <a:latin typeface="Calibri"/>
              </a:rPr>
              <a:t>Guideline 36 draws the PATH</a:t>
            </a:r>
          </a:p>
        </p:txBody>
      </p:sp>
      <p:sp>
        <p:nvSpPr>
          <p:cNvPr id="39" name="TextBox 38"/>
          <p:cNvSpPr txBox="1"/>
          <p:nvPr/>
        </p:nvSpPr>
        <p:spPr>
          <a:xfrm>
            <a:off x="8403336" y="4389120"/>
            <a:ext cx="2944368" cy="777240"/>
          </a:xfrm>
          <a:prstGeom prst="rect">
            <a:avLst/>
          </a:prstGeom>
          <a:noFill/>
        </p:spPr>
        <p:txBody>
          <a:bodyPr wrap="square" anchor="t" lIns="25400" rIns="25400" tIns="25400" bIns="25400">
            <a:spAutoFit/>
          </a:bodyPr>
          <a:lstStyle/>
          <a:p>
            <a:pPr algn="l">
              <a:lnSpc>
                <a:spcPct val="115000"/>
              </a:lnSpc>
            </a:pPr>
            <a:r>
              <a:rPr sz="1050" b="0">
                <a:solidFill>
                  <a:srgbClr val="475569"/>
                </a:solidFill>
                <a:latin typeface="Calibri"/>
              </a:rPr>
              <a:t>The sequences are the route the dot travels through the day — economizer, coil, setpoint reset — from outside air to the room.</a:t>
            </a:r>
          </a:p>
        </p:txBody>
      </p:sp>
      <p:sp>
        <p:nvSpPr>
          <p:cNvPr id="40" name="Right Arrow 39"/>
          <p:cNvSpPr/>
          <p:nvPr/>
        </p:nvSpPr>
        <p:spPr>
          <a:xfrm>
            <a:off x="4059936" y="2715768"/>
            <a:ext cx="237744" cy="146304"/>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ight Arrow 40"/>
          <p:cNvSpPr/>
          <p:nvPr/>
        </p:nvSpPr>
        <p:spPr>
          <a:xfrm>
            <a:off x="4059936" y="4636008"/>
            <a:ext cx="237744" cy="146304"/>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Left Arrow 41"/>
          <p:cNvSpPr/>
          <p:nvPr/>
        </p:nvSpPr>
        <p:spPr>
          <a:xfrm>
            <a:off x="7909560" y="2715768"/>
            <a:ext cx="237744" cy="146304"/>
          </a:xfrm>
          <a:prstGeom prst="lef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eft Arrow 42"/>
          <p:cNvSpPr/>
          <p:nvPr/>
        </p:nvSpPr>
        <p:spPr>
          <a:xfrm>
            <a:off x="7909560" y="4636008"/>
            <a:ext cx="237744" cy="146304"/>
          </a:xfrm>
          <a:prstGeom prst="lef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40080" y="5760720"/>
            <a:ext cx="10908792" cy="868680"/>
          </a:xfrm>
          <a:prstGeom prst="roundRect">
            <a:avLst/>
          </a:prstGeom>
          <a:solidFill>
            <a:srgbClr val="FFFBEB"/>
          </a:solidFill>
          <a:ln w="12700">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852160"/>
            <a:ext cx="10424160" cy="274320"/>
          </a:xfrm>
          <a:prstGeom prst="rect">
            <a:avLst/>
          </a:prstGeom>
          <a:noFill/>
        </p:spPr>
        <p:txBody>
          <a:bodyPr wrap="square" anchor="t" lIns="25400" rIns="25400" tIns="25400" bIns="25400">
            <a:spAutoFit/>
          </a:bodyPr>
          <a:lstStyle/>
          <a:p>
            <a:pPr algn="l">
              <a:lnSpc>
                <a:spcPct val="106000"/>
              </a:lnSpc>
            </a:pPr>
            <a:r>
              <a:rPr sz="1300" b="1">
                <a:solidFill>
                  <a:srgbClr val="B45309"/>
                </a:solidFill>
                <a:latin typeface="Calibri"/>
              </a:rPr>
              <a:t>Read this the right way round</a:t>
            </a:r>
          </a:p>
        </p:txBody>
      </p:sp>
      <p:sp>
        <p:nvSpPr>
          <p:cNvPr id="46" name="TextBox 45"/>
          <p:cNvSpPr txBox="1"/>
          <p:nvPr/>
        </p:nvSpPr>
        <p:spPr>
          <a:xfrm>
            <a:off x="896112" y="6117336"/>
            <a:ext cx="10515600" cy="457200"/>
          </a:xfrm>
          <a:prstGeom prst="rect">
            <a:avLst/>
          </a:prstGeom>
          <a:noFill/>
        </p:spPr>
        <p:txBody>
          <a:bodyPr wrap="square" anchor="t" lIns="25400" rIns="25400" tIns="25400" bIns="25400">
            <a:spAutoFit/>
          </a:bodyPr>
          <a:lstStyle/>
          <a:p>
            <a:pPr algn="l">
              <a:lnSpc>
                <a:spcPct val="115000"/>
              </a:lnSpc>
            </a:pPr>
            <a:r>
              <a:rPr sz="1250" b="0">
                <a:solidFill>
                  <a:srgbClr val="0F172A"/>
                </a:solidFill>
                <a:latin typeface="Calibri"/>
              </a:rPr>
              <a:t>The chart is not the small overlap left where four standards happen to agree. It is the COMMON SHEET they are all drawn on — an area, a line, a direction and a path, sharing one pair of axes. Satisfy all four and the shapes simply fit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HOW IT SATISFIES EACH</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One dot on the chart answers every question</a:t>
            </a:r>
          </a:p>
        </p:txBody>
      </p:sp>
      <p:sp>
        <p:nvSpPr>
          <p:cNvPr id="6" name="Rounded Rectangle 5"/>
          <p:cNvSpPr/>
          <p:nvPr/>
        </p:nvSpPr>
        <p:spPr>
          <a:xfrm>
            <a:off x="640080" y="1965960"/>
            <a:ext cx="534924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965960"/>
            <a:ext cx="118872" cy="17373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2148840"/>
            <a:ext cx="4846320" cy="457200"/>
          </a:xfrm>
          <a:prstGeom prst="rect">
            <a:avLst/>
          </a:prstGeom>
          <a:noFill/>
        </p:spPr>
        <p:txBody>
          <a:bodyPr wrap="square" anchor="t" lIns="25400" rIns="25400" tIns="25400" bIns="25400">
            <a:spAutoFit/>
          </a:bodyPr>
          <a:lstStyle/>
          <a:p>
            <a:pPr algn="l">
              <a:lnSpc>
                <a:spcPct val="106000"/>
              </a:lnSpc>
            </a:pPr>
            <a:r>
              <a:rPr sz="1700" b="1">
                <a:solidFill>
                  <a:srgbClr val="B45309"/>
                </a:solidFill>
                <a:latin typeface="Calibri"/>
              </a:rPr>
              <a:t>55 — Comfort</a:t>
            </a:r>
          </a:p>
        </p:txBody>
      </p:sp>
      <p:sp>
        <p:nvSpPr>
          <p:cNvPr id="9" name="TextBox 8"/>
          <p:cNvSpPr txBox="1"/>
          <p:nvPr/>
        </p:nvSpPr>
        <p:spPr>
          <a:xfrm>
            <a:off x="932688" y="2624328"/>
            <a:ext cx="4800600" cy="960120"/>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The comfort zone is drawn straight onto the chart. Is the room dot inside the acceptable temperature/humidity band — and if not, which way is it off?</a:t>
            </a:r>
          </a:p>
        </p:txBody>
      </p:sp>
      <p:sp>
        <p:nvSpPr>
          <p:cNvPr id="10" name="Rounded Rectangle 9"/>
          <p:cNvSpPr/>
          <p:nvPr/>
        </p:nvSpPr>
        <p:spPr>
          <a:xfrm>
            <a:off x="6199632" y="1965960"/>
            <a:ext cx="534924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99632" y="1965960"/>
            <a:ext cx="118872" cy="17373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148840"/>
            <a:ext cx="4846320" cy="457200"/>
          </a:xfrm>
          <a:prstGeom prst="rect">
            <a:avLst/>
          </a:prstGeom>
          <a:noFill/>
        </p:spPr>
        <p:txBody>
          <a:bodyPr wrap="square" anchor="t" lIns="25400" rIns="25400" tIns="25400" bIns="25400">
            <a:spAutoFit/>
          </a:bodyPr>
          <a:lstStyle/>
          <a:p>
            <a:pPr algn="l">
              <a:lnSpc>
                <a:spcPct val="106000"/>
              </a:lnSpc>
            </a:pPr>
            <a:r>
              <a:rPr sz="1700" b="1">
                <a:solidFill>
                  <a:srgbClr val="047857"/>
                </a:solidFill>
                <a:latin typeface="Calibri"/>
              </a:rPr>
              <a:t>62.1 — Fresh air</a:t>
            </a:r>
          </a:p>
        </p:txBody>
      </p:sp>
      <p:sp>
        <p:nvSpPr>
          <p:cNvPr id="13" name="TextBox 12"/>
          <p:cNvSpPr txBox="1"/>
          <p:nvPr/>
        </p:nvSpPr>
        <p:spPr>
          <a:xfrm>
            <a:off x="6492240" y="2624328"/>
            <a:ext cx="4800600" cy="960120"/>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The mixed-air dot must sit on the line between return and outside air. Its position along that line IS the outside-air proportion.</a:t>
            </a:r>
          </a:p>
        </p:txBody>
      </p:sp>
      <p:sp>
        <p:nvSpPr>
          <p:cNvPr id="14" name="Rounded Rectangle 13"/>
          <p:cNvSpPr/>
          <p:nvPr/>
        </p:nvSpPr>
        <p:spPr>
          <a:xfrm>
            <a:off x="640080" y="3904488"/>
            <a:ext cx="534924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3904488"/>
            <a:ext cx="118872" cy="17373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087368"/>
            <a:ext cx="4846320" cy="457200"/>
          </a:xfrm>
          <a:prstGeom prst="rect">
            <a:avLst/>
          </a:prstGeom>
          <a:noFill/>
        </p:spPr>
        <p:txBody>
          <a:bodyPr wrap="square" anchor="t" lIns="25400" rIns="25400" tIns="25400" bIns="25400">
            <a:spAutoFit/>
          </a:bodyPr>
          <a:lstStyle/>
          <a:p>
            <a:pPr algn="l">
              <a:lnSpc>
                <a:spcPct val="106000"/>
              </a:lnSpc>
            </a:pPr>
            <a:r>
              <a:rPr sz="1700" b="1">
                <a:solidFill>
                  <a:srgbClr val="1D4ED8"/>
                </a:solidFill>
                <a:latin typeface="Calibri"/>
              </a:rPr>
              <a:t>90.1 — Energy</a:t>
            </a:r>
          </a:p>
        </p:txBody>
      </p:sp>
      <p:sp>
        <p:nvSpPr>
          <p:cNvPr id="17" name="TextBox 16"/>
          <p:cNvSpPr txBox="1"/>
          <p:nvPr/>
        </p:nvSpPr>
        <p:spPr>
          <a:xfrm>
            <a:off x="932688" y="4562856"/>
            <a:ext cx="4800600" cy="960120"/>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Equal-energy lines reveal free cooling: when outside air holds less energy than return air, the economizer can meet the load with no mechanical cooling.</a:t>
            </a:r>
          </a:p>
        </p:txBody>
      </p:sp>
      <p:sp>
        <p:nvSpPr>
          <p:cNvPr id="18" name="Rounded Rectangle 17"/>
          <p:cNvSpPr/>
          <p:nvPr/>
        </p:nvSpPr>
        <p:spPr>
          <a:xfrm>
            <a:off x="6199632" y="3904488"/>
            <a:ext cx="534924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9632" y="3904488"/>
            <a:ext cx="118872" cy="17373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4087368"/>
            <a:ext cx="4846320" cy="457200"/>
          </a:xfrm>
          <a:prstGeom prst="rect">
            <a:avLst/>
          </a:prstGeom>
          <a:noFill/>
        </p:spPr>
        <p:txBody>
          <a:bodyPr wrap="square" anchor="t" lIns="25400" rIns="25400" tIns="25400" bIns="25400">
            <a:spAutoFit/>
          </a:bodyPr>
          <a:lstStyle/>
          <a:p>
            <a:pPr algn="l">
              <a:lnSpc>
                <a:spcPct val="106000"/>
              </a:lnSpc>
            </a:pPr>
            <a:r>
              <a:rPr sz="1700" b="1">
                <a:solidFill>
                  <a:srgbClr val="0F172A"/>
                </a:solidFill>
                <a:latin typeface="Calibri"/>
              </a:rPr>
              <a:t>G36 — Sequences</a:t>
            </a:r>
          </a:p>
        </p:txBody>
      </p:sp>
      <p:sp>
        <p:nvSpPr>
          <p:cNvPr id="21" name="TextBox 20"/>
          <p:cNvSpPr txBox="1"/>
          <p:nvPr/>
        </p:nvSpPr>
        <p:spPr>
          <a:xfrm>
            <a:off x="6492240" y="4562856"/>
            <a:ext cx="4800600" cy="960120"/>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Visible proof the sequences land the dot inside the comfort zone, on the correct fresh-air line, along the lowest-energy path.</a:t>
            </a:r>
          </a:p>
        </p:txBody>
      </p:sp>
      <p:sp>
        <p:nvSpPr>
          <p:cNvPr id="22" name="TextBox 21"/>
          <p:cNvSpPr txBox="1"/>
          <p:nvPr/>
        </p:nvSpPr>
        <p:spPr>
          <a:xfrm>
            <a:off x="640080" y="5989320"/>
            <a:ext cx="10881360" cy="548640"/>
          </a:xfrm>
          <a:prstGeom prst="rect">
            <a:avLst/>
          </a:prstGeom>
          <a:noFill/>
        </p:spPr>
        <p:txBody>
          <a:bodyPr wrap="square" anchor="t" lIns="25400" rIns="25400" tIns="25400" bIns="25400">
            <a:spAutoFit/>
          </a:bodyPr>
          <a:lstStyle/>
          <a:p>
            <a:pPr algn="ctr">
              <a:lnSpc>
                <a:spcPct val="106000"/>
              </a:lnSpc>
            </a:pPr>
            <a:r>
              <a:rPr sz="1400" b="1">
                <a:solidFill>
                  <a:srgbClr val="1D4ED8"/>
                </a:solidFill>
                <a:latin typeface="Calibri"/>
              </a:rPr>
              <a:t>In one sentence: plot where the air IS, see where it MUST be, how it gets there, and whether it does so at least energy.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THE DIFFERENCE</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Trend-based BMS vs a psychrometric-aware BMS</a:t>
            </a:r>
          </a:p>
        </p:txBody>
      </p:sp>
      <p:sp>
        <p:nvSpPr>
          <p:cNvPr id="6" name="Rounded Rectangle 5"/>
          <p:cNvSpPr/>
          <p:nvPr/>
        </p:nvSpPr>
        <p:spPr>
          <a:xfrm>
            <a:off x="640080" y="1874519"/>
            <a:ext cx="10908792" cy="434340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93392"/>
            <a:ext cx="2651760" cy="320040"/>
          </a:xfrm>
          <a:prstGeom prst="rect">
            <a:avLst/>
          </a:prstGeom>
          <a:noFill/>
        </p:spPr>
        <p:txBody>
          <a:bodyPr wrap="square" anchor="t" lIns="25400" rIns="25400" tIns="25400" bIns="25400">
            <a:spAutoFit/>
          </a:bodyPr>
          <a:lstStyle/>
          <a:p>
            <a:pPr algn="l">
              <a:lnSpc>
                <a:spcPct val="106000"/>
              </a:lnSpc>
            </a:pPr>
            <a:r>
              <a:rPr sz="1100" b="1">
                <a:solidFill>
                  <a:srgbClr val="64748B"/>
                </a:solidFill>
                <a:latin typeface="Calibri"/>
              </a:rPr>
              <a:t>QUESTION BEING ASKED</a:t>
            </a:r>
          </a:p>
        </p:txBody>
      </p:sp>
      <p:sp>
        <p:nvSpPr>
          <p:cNvPr id="8" name="TextBox 7"/>
          <p:cNvSpPr txBox="1"/>
          <p:nvPr/>
        </p:nvSpPr>
        <p:spPr>
          <a:xfrm>
            <a:off x="3749040" y="1993392"/>
            <a:ext cx="4114800" cy="320040"/>
          </a:xfrm>
          <a:prstGeom prst="rect">
            <a:avLst/>
          </a:prstGeom>
          <a:noFill/>
        </p:spPr>
        <p:txBody>
          <a:bodyPr wrap="square" anchor="t" lIns="25400" rIns="25400" tIns="25400" bIns="25400">
            <a:spAutoFit/>
          </a:bodyPr>
          <a:lstStyle/>
          <a:p>
            <a:pPr algn="l">
              <a:lnSpc>
                <a:spcPct val="106000"/>
              </a:lnSpc>
            </a:pPr>
            <a:r>
              <a:rPr sz="1100" b="1">
                <a:solidFill>
                  <a:srgbClr val="64748B"/>
                </a:solidFill>
                <a:latin typeface="Calibri"/>
              </a:rPr>
              <a:t>TREND-BASED BMS (TODAY)</a:t>
            </a:r>
          </a:p>
        </p:txBody>
      </p:sp>
      <p:sp>
        <p:nvSpPr>
          <p:cNvPr id="9" name="TextBox 8"/>
          <p:cNvSpPr txBox="1"/>
          <p:nvPr/>
        </p:nvSpPr>
        <p:spPr>
          <a:xfrm>
            <a:off x="8092440" y="1993392"/>
            <a:ext cx="3200400" cy="320040"/>
          </a:xfrm>
          <a:prstGeom prst="rect">
            <a:avLst/>
          </a:prstGeom>
          <a:noFill/>
        </p:spPr>
        <p:txBody>
          <a:bodyPr wrap="square" anchor="t" lIns="25400" rIns="25400" tIns="25400" bIns="25400">
            <a:spAutoFit/>
          </a:bodyPr>
          <a:lstStyle/>
          <a:p>
            <a:pPr algn="l">
              <a:lnSpc>
                <a:spcPct val="106000"/>
              </a:lnSpc>
            </a:pPr>
            <a:r>
              <a:rPr sz="1100" b="1">
                <a:solidFill>
                  <a:srgbClr val="1D4ED8"/>
                </a:solidFill>
                <a:latin typeface="Calibri"/>
              </a:rPr>
              <a:t>PSYCHROMETRIC-AWARE BMS</a:t>
            </a:r>
          </a:p>
        </p:txBody>
      </p:sp>
      <p:sp>
        <p:nvSpPr>
          <p:cNvPr id="10" name="Rectangle 9"/>
          <p:cNvSpPr/>
          <p:nvPr/>
        </p:nvSpPr>
        <p:spPr>
          <a:xfrm>
            <a:off x="731520" y="2395728"/>
            <a:ext cx="10725912" cy="621792"/>
          </a:xfrm>
          <a:prstGeom prst="rect">
            <a:avLst/>
          </a:prstGeom>
          <a:solidFill>
            <a:srgbClr val="FAF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395728"/>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What the operator sees</a:t>
            </a:r>
          </a:p>
        </p:txBody>
      </p:sp>
      <p:sp>
        <p:nvSpPr>
          <p:cNvPr id="12" name="TextBox 11"/>
          <p:cNvSpPr txBox="1"/>
          <p:nvPr/>
        </p:nvSpPr>
        <p:spPr>
          <a:xfrm>
            <a:off x="3749040" y="2395728"/>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Several separate trend lines, read one at a time</a:t>
            </a:r>
          </a:p>
        </p:txBody>
      </p:sp>
      <p:sp>
        <p:nvSpPr>
          <p:cNvPr id="13" name="TextBox 12"/>
          <p:cNvSpPr txBox="1"/>
          <p:nvPr/>
        </p:nvSpPr>
        <p:spPr>
          <a:xfrm>
            <a:off x="8092440" y="2395728"/>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One picture showing the air's actual state</a:t>
            </a:r>
          </a:p>
        </p:txBody>
      </p:sp>
      <p:sp>
        <p:nvSpPr>
          <p:cNvPr id="14" name="TextBox 13"/>
          <p:cNvSpPr txBox="1"/>
          <p:nvPr/>
        </p:nvSpPr>
        <p:spPr>
          <a:xfrm>
            <a:off x="914400" y="3017520"/>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Is the outside-air mix right?</a:t>
            </a:r>
          </a:p>
        </p:txBody>
      </p:sp>
      <p:sp>
        <p:nvSpPr>
          <p:cNvPr id="15" name="TextBox 14"/>
          <p:cNvSpPr txBox="1"/>
          <p:nvPr/>
        </p:nvSpPr>
        <p:spPr>
          <a:xfrm>
            <a:off x="3749040" y="3017520"/>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Inferred from the damper command</a:t>
            </a:r>
          </a:p>
        </p:txBody>
      </p:sp>
      <p:sp>
        <p:nvSpPr>
          <p:cNvPr id="16" name="TextBox 15"/>
          <p:cNvSpPr txBox="1"/>
          <p:nvPr/>
        </p:nvSpPr>
        <p:spPr>
          <a:xfrm>
            <a:off x="8092440" y="3017520"/>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The mixed-air dot must fall on the outside–return line</a:t>
            </a:r>
          </a:p>
        </p:txBody>
      </p:sp>
      <p:sp>
        <p:nvSpPr>
          <p:cNvPr id="17" name="Rectangle 16"/>
          <p:cNvSpPr/>
          <p:nvPr/>
        </p:nvSpPr>
        <p:spPr>
          <a:xfrm>
            <a:off x="731520" y="3639312"/>
            <a:ext cx="10725912" cy="621792"/>
          </a:xfrm>
          <a:prstGeom prst="rect">
            <a:avLst/>
          </a:prstGeom>
          <a:solidFill>
            <a:srgbClr val="FAF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639312"/>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Can we free-cool right now?</a:t>
            </a:r>
          </a:p>
        </p:txBody>
      </p:sp>
      <p:sp>
        <p:nvSpPr>
          <p:cNvPr id="19" name="TextBox 18"/>
          <p:cNvSpPr txBox="1"/>
          <p:nvPr/>
        </p:nvSpPr>
        <p:spPr>
          <a:xfrm>
            <a:off x="3749040" y="3639312"/>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Usually temperature-only, so humid-but-cool and dry-but-warm hours are misjudged</a:t>
            </a:r>
          </a:p>
        </p:txBody>
      </p:sp>
      <p:sp>
        <p:nvSpPr>
          <p:cNvPr id="20" name="TextBox 19"/>
          <p:cNvSpPr txBox="1"/>
          <p:nvPr/>
        </p:nvSpPr>
        <p:spPr>
          <a:xfrm>
            <a:off x="8092440" y="3639312"/>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Decided on true energy content of the air</a:t>
            </a:r>
          </a:p>
        </p:txBody>
      </p:sp>
      <p:sp>
        <p:nvSpPr>
          <p:cNvPr id="21" name="TextBox 20"/>
          <p:cNvSpPr txBox="1"/>
          <p:nvPr/>
        </p:nvSpPr>
        <p:spPr>
          <a:xfrm>
            <a:off x="914400" y="4261104"/>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Humidity control</a:t>
            </a:r>
          </a:p>
        </p:txBody>
      </p:sp>
      <p:sp>
        <p:nvSpPr>
          <p:cNvPr id="22" name="TextBox 21"/>
          <p:cNvSpPr txBox="1"/>
          <p:nvPr/>
        </p:nvSpPr>
        <p:spPr>
          <a:xfrm>
            <a:off x="3749040" y="4261104"/>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A separate loop, often fighting the cooling loop</a:t>
            </a:r>
          </a:p>
        </p:txBody>
      </p:sp>
      <p:sp>
        <p:nvSpPr>
          <p:cNvPr id="23" name="TextBox 22"/>
          <p:cNvSpPr txBox="1"/>
          <p:nvPr/>
        </p:nvSpPr>
        <p:spPr>
          <a:xfrm>
            <a:off x="8092440" y="4261104"/>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Heat and moisture handled as one state</a:t>
            </a:r>
          </a:p>
        </p:txBody>
      </p:sp>
      <p:sp>
        <p:nvSpPr>
          <p:cNvPr id="24" name="Rectangle 23"/>
          <p:cNvSpPr/>
          <p:nvPr/>
        </p:nvSpPr>
        <p:spPr>
          <a:xfrm>
            <a:off x="731520" y="4882896"/>
            <a:ext cx="10725912" cy="621792"/>
          </a:xfrm>
          <a:prstGeom prst="rect">
            <a:avLst/>
          </a:prstGeom>
          <a:solidFill>
            <a:srgbClr val="FAF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882896"/>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Finding faults</a:t>
            </a:r>
          </a:p>
        </p:txBody>
      </p:sp>
      <p:sp>
        <p:nvSpPr>
          <p:cNvPr id="26" name="TextBox 25"/>
          <p:cNvSpPr txBox="1"/>
          <p:nvPr/>
        </p:nvSpPr>
        <p:spPr>
          <a:xfrm>
            <a:off x="3749040" y="4882896"/>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Alarm limits on individual points</a:t>
            </a:r>
          </a:p>
        </p:txBody>
      </p:sp>
      <p:sp>
        <p:nvSpPr>
          <p:cNvPr id="27" name="TextBox 26"/>
          <p:cNvSpPr txBox="1"/>
          <p:nvPr/>
        </p:nvSpPr>
        <p:spPr>
          <a:xfrm>
            <a:off x="8092440" y="4882896"/>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The shape of the process line exposes coil, damper and sensor faults</a:t>
            </a:r>
          </a:p>
        </p:txBody>
      </p:sp>
      <p:sp>
        <p:nvSpPr>
          <p:cNvPr id="28" name="TextBox 27"/>
          <p:cNvSpPr txBox="1"/>
          <p:nvPr/>
        </p:nvSpPr>
        <p:spPr>
          <a:xfrm>
            <a:off x="914400" y="5504688"/>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Proving the standards</a:t>
            </a:r>
          </a:p>
        </p:txBody>
      </p:sp>
      <p:sp>
        <p:nvSpPr>
          <p:cNvPr id="29" name="TextBox 28"/>
          <p:cNvSpPr txBox="1"/>
          <p:nvPr/>
        </p:nvSpPr>
        <p:spPr>
          <a:xfrm>
            <a:off x="3749040" y="5504688"/>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Checked manually, usually after the fact</a:t>
            </a:r>
          </a:p>
        </p:txBody>
      </p:sp>
      <p:sp>
        <p:nvSpPr>
          <p:cNvPr id="30" name="TextBox 29"/>
          <p:cNvSpPr txBox="1"/>
          <p:nvPr/>
        </p:nvSpPr>
        <p:spPr>
          <a:xfrm>
            <a:off x="8092440" y="5504688"/>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Comfort, ventilation and energy judged together, live</a:t>
            </a:r>
          </a:p>
        </p:txBody>
      </p:sp>
      <p:sp>
        <p:nvSpPr>
          <p:cNvPr id="31" name="TextBox 30"/>
          <p:cNvSpPr txBox="1"/>
          <p:nvPr/>
        </p:nvSpPr>
        <p:spPr>
          <a:xfrm>
            <a:off x="914400" y="5623560"/>
            <a:ext cx="10332720" cy="457200"/>
          </a:xfrm>
          <a:prstGeom prst="rect">
            <a:avLst/>
          </a:prstGeom>
          <a:noFill/>
        </p:spPr>
        <p:txBody>
          <a:bodyPr wrap="square" anchor="t" lIns="25400" rIns="25400" tIns="25400" bIns="25400">
            <a:spAutoFit/>
          </a:bodyPr>
          <a:lstStyle/>
          <a:p>
            <a:pPr algn="l">
              <a:lnSpc>
                <a:spcPct val="115000"/>
              </a:lnSpc>
            </a:pPr>
            <a:r>
              <a:rPr sz="1300" b="0">
                <a:solidFill>
                  <a:srgbClr val="64748B"/>
                </a:solidFill>
                <a:latin typeface="Calibri"/>
              </a:rPr>
              <a:t>None of this needs new field equipment beyond humidity sensing on the air streams — the difference is what the software does with readings the building is already taking.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PUBLISHED EVIDENCE</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What is it worth — and whose credit is it?</a:t>
            </a:r>
          </a:p>
        </p:txBody>
      </p:sp>
      <p:sp>
        <p:nvSpPr>
          <p:cNvPr id="6" name="TextBox 5"/>
          <p:cNvSpPr txBox="1"/>
          <p:nvPr/>
        </p:nvSpPr>
        <p:spPr>
          <a:xfrm>
            <a:off x="640080" y="1700784"/>
            <a:ext cx="5349240" cy="256032"/>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What good air-side control is worth</a:t>
            </a:r>
          </a:p>
        </p:txBody>
      </p:sp>
      <p:sp>
        <p:nvSpPr>
          <p:cNvPr id="7" name="TextBox 6"/>
          <p:cNvSpPr txBox="1"/>
          <p:nvPr/>
        </p:nvSpPr>
        <p:spPr>
          <a:xfrm>
            <a:off x="640080" y="1956816"/>
            <a:ext cx="5212080" cy="347472"/>
          </a:xfrm>
          <a:prstGeom prst="rect">
            <a:avLst/>
          </a:prstGeom>
          <a:noFill/>
        </p:spPr>
        <p:txBody>
          <a:bodyPr wrap="square" anchor="t" lIns="25400" rIns="25400" tIns="25400" bIns="25400">
            <a:spAutoFit/>
          </a:bodyPr>
          <a:lstStyle/>
          <a:p>
            <a:pPr algn="l">
              <a:lnSpc>
                <a:spcPct val="115000"/>
              </a:lnSpc>
            </a:pPr>
            <a:r>
              <a:rPr sz="1000" b="0">
                <a:solidFill>
                  <a:srgbClr val="64748B"/>
                </a:solidFill>
                <a:latin typeface="Calibri"/>
              </a:rPr>
              <a:t>The prize, and it belongs to the sequences. The chart does not produce these savings — it makes them verifiable.</a:t>
            </a:r>
          </a:p>
        </p:txBody>
      </p:sp>
      <p:sp>
        <p:nvSpPr>
          <p:cNvPr id="8" name="TextBox 7"/>
          <p:cNvSpPr txBox="1"/>
          <p:nvPr/>
        </p:nvSpPr>
        <p:spPr>
          <a:xfrm>
            <a:off x="6199632" y="1700784"/>
            <a:ext cx="5349240" cy="256032"/>
          </a:xfrm>
          <a:prstGeom prst="rect">
            <a:avLst/>
          </a:prstGeom>
          <a:noFill/>
        </p:spPr>
        <p:txBody>
          <a:bodyPr wrap="square" anchor="t" lIns="25400" rIns="25400" tIns="25400" bIns="25400">
            <a:spAutoFit/>
          </a:bodyPr>
          <a:lstStyle/>
          <a:p>
            <a:pPr algn="l">
              <a:lnSpc>
                <a:spcPct val="106000"/>
              </a:lnSpc>
            </a:pPr>
            <a:r>
              <a:rPr sz="1300" b="1">
                <a:solidFill>
                  <a:srgbClr val="047857"/>
                </a:solidFill>
                <a:latin typeface="Calibri"/>
              </a:rPr>
              <a:t>What the chart itself contributes</a:t>
            </a:r>
          </a:p>
        </p:txBody>
      </p:sp>
      <p:sp>
        <p:nvSpPr>
          <p:cNvPr id="9" name="TextBox 8"/>
          <p:cNvSpPr txBox="1"/>
          <p:nvPr/>
        </p:nvSpPr>
        <p:spPr>
          <a:xfrm>
            <a:off x="6199632" y="1956816"/>
            <a:ext cx="5212080" cy="347472"/>
          </a:xfrm>
          <a:prstGeom prst="rect">
            <a:avLst/>
          </a:prstGeom>
          <a:noFill/>
        </p:spPr>
        <p:txBody>
          <a:bodyPr wrap="square" anchor="t" lIns="25400" rIns="25400" tIns="25400" bIns="25400">
            <a:spAutoFit/>
          </a:bodyPr>
          <a:lstStyle/>
          <a:p>
            <a:pPr algn="l">
              <a:lnSpc>
                <a:spcPct val="115000"/>
              </a:lnSpc>
            </a:pPr>
            <a:r>
              <a:rPr sz="1000" b="0">
                <a:solidFill>
                  <a:srgbClr val="64748B"/>
                </a:solidFill>
                <a:latin typeface="Calibri"/>
              </a:rPr>
              <a:t>Visibility: the missed hours and the broken parts that a temperature trend hides.</a:t>
            </a:r>
          </a:p>
        </p:txBody>
      </p:sp>
      <p:sp>
        <p:nvSpPr>
          <p:cNvPr id="10" name="Rounded Rectangle 9"/>
          <p:cNvSpPr/>
          <p:nvPr/>
        </p:nvSpPr>
        <p:spPr>
          <a:xfrm>
            <a:off x="640080" y="2340864"/>
            <a:ext cx="2551176" cy="17830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340864"/>
            <a:ext cx="2551176" cy="82296"/>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505456"/>
            <a:ext cx="2185416" cy="457200"/>
          </a:xfrm>
          <a:prstGeom prst="rect">
            <a:avLst/>
          </a:prstGeom>
          <a:noFill/>
        </p:spPr>
        <p:txBody>
          <a:bodyPr wrap="square" anchor="t" lIns="25400" rIns="25400" tIns="25400" bIns="25400">
            <a:spAutoFit/>
          </a:bodyPr>
          <a:lstStyle/>
          <a:p>
            <a:pPr algn="l">
              <a:lnSpc>
                <a:spcPct val="106000"/>
              </a:lnSpc>
            </a:pPr>
            <a:r>
              <a:rPr sz="2600" b="1">
                <a:solidFill>
                  <a:srgbClr val="1D4ED8"/>
                </a:solidFill>
                <a:latin typeface="Calibri"/>
              </a:rPr>
              <a:t>31%</a:t>
            </a:r>
          </a:p>
        </p:txBody>
      </p:sp>
      <p:sp>
        <p:nvSpPr>
          <p:cNvPr id="13" name="TextBox 12"/>
          <p:cNvSpPr txBox="1"/>
          <p:nvPr/>
        </p:nvSpPr>
        <p:spPr>
          <a:xfrm>
            <a:off x="822960" y="2980944"/>
            <a:ext cx="2221992" cy="457200"/>
          </a:xfrm>
          <a:prstGeom prst="rect">
            <a:avLst/>
          </a:prstGeom>
          <a:noFill/>
        </p:spPr>
        <p:txBody>
          <a:bodyPr wrap="square" anchor="t" lIns="25400" rIns="25400" tIns="25400" bIns="25400">
            <a:spAutoFit/>
          </a:bodyPr>
          <a:lstStyle/>
          <a:p>
            <a:pPr algn="l">
              <a:lnSpc>
                <a:spcPct val="112000"/>
              </a:lnSpc>
            </a:pPr>
            <a:r>
              <a:rPr sz="950" b="1">
                <a:solidFill>
                  <a:srgbClr val="0F172A"/>
                </a:solidFill>
                <a:latin typeface="Calibri"/>
              </a:rPr>
              <a:t>average HVAC saving from Guideline 36 sequences, against existing practice</a:t>
            </a:r>
          </a:p>
        </p:txBody>
      </p:sp>
      <p:sp>
        <p:nvSpPr>
          <p:cNvPr id="14" name="TextBox 13"/>
          <p:cNvSpPr txBox="1"/>
          <p:nvPr/>
        </p:nvSpPr>
        <p:spPr>
          <a:xfrm>
            <a:off x="822960" y="3401568"/>
            <a:ext cx="2221992" cy="274320"/>
          </a:xfrm>
          <a:prstGeom prst="rect">
            <a:avLst/>
          </a:prstGeom>
          <a:noFill/>
        </p:spPr>
        <p:txBody>
          <a:bodyPr wrap="square" anchor="t" lIns="25400" rIns="25400" tIns="25400" bIns="25400">
            <a:spAutoFit/>
          </a:bodyPr>
          <a:lstStyle/>
          <a:p>
            <a:pPr algn="l">
              <a:lnSpc>
                <a:spcPct val="112000"/>
              </a:lnSpc>
            </a:pPr>
            <a:r>
              <a:rPr sz="750" b="0">
                <a:solidFill>
                  <a:srgbClr val="64748B"/>
                </a:solidFill>
                <a:latin typeface="Calibri"/>
              </a:rPr>
              <a:t>Berkeley Lab, Spawn of EnergyPlus, medium office, 2022</a:t>
            </a:r>
          </a:p>
        </p:txBody>
      </p:sp>
      <p:sp>
        <p:nvSpPr>
          <p:cNvPr id="15" name="Rectangle 14"/>
          <p:cNvSpPr/>
          <p:nvPr/>
        </p:nvSpPr>
        <p:spPr>
          <a:xfrm>
            <a:off x="822960" y="3666744"/>
            <a:ext cx="18288" cy="3474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3648456"/>
            <a:ext cx="2148840" cy="384048"/>
          </a:xfrm>
          <a:prstGeom prst="rect">
            <a:avLst/>
          </a:prstGeom>
          <a:noFill/>
        </p:spPr>
        <p:txBody>
          <a:bodyPr wrap="square" anchor="t" lIns="25400" rIns="25400" tIns="25400" bIns="25400">
            <a:spAutoFit/>
          </a:bodyPr>
          <a:lstStyle/>
          <a:p>
            <a:pPr algn="l">
              <a:lnSpc>
                <a:spcPct val="112000"/>
              </a:lnSpc>
            </a:pPr>
            <a:r>
              <a:rPr sz="750" b="0">
                <a:solidFill>
                  <a:srgbClr val="475569"/>
                </a:solidFill>
                <a:latin typeface="Calibri"/>
              </a:rPr>
              <a:t>Mostly static-pressure reset, zone minimum airflow and scheduling. Only the economizer and SAT logic land on the chart.</a:t>
            </a:r>
          </a:p>
        </p:txBody>
      </p:sp>
      <p:sp>
        <p:nvSpPr>
          <p:cNvPr id="17" name="Rounded Rectangle 16"/>
          <p:cNvSpPr/>
          <p:nvPr/>
        </p:nvSpPr>
        <p:spPr>
          <a:xfrm>
            <a:off x="3438144" y="2340864"/>
            <a:ext cx="2551176" cy="17830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38144" y="2340864"/>
            <a:ext cx="2551176"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21024" y="2505456"/>
            <a:ext cx="731520" cy="292608"/>
          </a:xfrm>
          <a:prstGeom prst="rect">
            <a:avLst/>
          </a:prstGeom>
          <a:noFill/>
        </p:spPr>
        <p:txBody>
          <a:bodyPr wrap="square" anchor="t" lIns="25400" rIns="25400" tIns="25400" bIns="25400">
            <a:spAutoFit/>
          </a:bodyPr>
          <a:lstStyle/>
          <a:p>
            <a:pPr algn="l">
              <a:lnSpc>
                <a:spcPct val="106000"/>
              </a:lnSpc>
            </a:pPr>
            <a:r>
              <a:rPr sz="1900" b="1">
                <a:solidFill>
                  <a:srgbClr val="7C3AED"/>
                </a:solidFill>
                <a:latin typeface="Calibri"/>
              </a:rPr>
              <a:t>41%</a:t>
            </a:r>
          </a:p>
        </p:txBody>
      </p:sp>
      <p:sp>
        <p:nvSpPr>
          <p:cNvPr id="20" name="TextBox 19"/>
          <p:cNvSpPr txBox="1"/>
          <p:nvPr/>
        </p:nvSpPr>
        <p:spPr>
          <a:xfrm>
            <a:off x="3621024" y="2761488"/>
            <a:ext cx="777240" cy="182880"/>
          </a:xfrm>
          <a:prstGeom prst="rect">
            <a:avLst/>
          </a:prstGeom>
          <a:noFill/>
        </p:spPr>
        <p:txBody>
          <a:bodyPr wrap="square" anchor="t" lIns="25400" rIns="25400" tIns="25400" bIns="25400">
            <a:spAutoFit/>
          </a:bodyPr>
          <a:lstStyle/>
          <a:p>
            <a:pPr algn="l">
              <a:lnSpc>
                <a:spcPct val="106000"/>
              </a:lnSpc>
            </a:pPr>
            <a:r>
              <a:rPr sz="750" b="1">
                <a:solidFill>
                  <a:srgbClr val="64748B"/>
                </a:solidFill>
                <a:latin typeface="Calibri"/>
              </a:rPr>
              <a:t>HEATING</a:t>
            </a:r>
          </a:p>
        </p:txBody>
      </p:sp>
      <p:sp>
        <p:nvSpPr>
          <p:cNvPr id="21" name="TextBox 20"/>
          <p:cNvSpPr txBox="1"/>
          <p:nvPr/>
        </p:nvSpPr>
        <p:spPr>
          <a:xfrm>
            <a:off x="4398264" y="2505456"/>
            <a:ext cx="731520" cy="292608"/>
          </a:xfrm>
          <a:prstGeom prst="rect">
            <a:avLst/>
          </a:prstGeom>
          <a:noFill/>
        </p:spPr>
        <p:txBody>
          <a:bodyPr wrap="square" anchor="t" lIns="25400" rIns="25400" tIns="25400" bIns="25400">
            <a:spAutoFit/>
          </a:bodyPr>
          <a:lstStyle/>
          <a:p>
            <a:pPr algn="l">
              <a:lnSpc>
                <a:spcPct val="106000"/>
              </a:lnSpc>
            </a:pPr>
            <a:r>
              <a:rPr sz="1900" b="1">
                <a:solidFill>
                  <a:srgbClr val="7C3AED"/>
                </a:solidFill>
                <a:latin typeface="Calibri"/>
              </a:rPr>
              <a:t>20%</a:t>
            </a:r>
          </a:p>
        </p:txBody>
      </p:sp>
      <p:sp>
        <p:nvSpPr>
          <p:cNvPr id="22" name="TextBox 21"/>
          <p:cNvSpPr txBox="1"/>
          <p:nvPr/>
        </p:nvSpPr>
        <p:spPr>
          <a:xfrm>
            <a:off x="4398264" y="2761488"/>
            <a:ext cx="777240" cy="182880"/>
          </a:xfrm>
          <a:prstGeom prst="rect">
            <a:avLst/>
          </a:prstGeom>
          <a:noFill/>
        </p:spPr>
        <p:txBody>
          <a:bodyPr wrap="square" anchor="t" lIns="25400" rIns="25400" tIns="25400" bIns="25400">
            <a:spAutoFit/>
          </a:bodyPr>
          <a:lstStyle/>
          <a:p>
            <a:pPr algn="l">
              <a:lnSpc>
                <a:spcPct val="106000"/>
              </a:lnSpc>
            </a:pPr>
            <a:r>
              <a:rPr sz="750" b="1">
                <a:solidFill>
                  <a:srgbClr val="64748B"/>
                </a:solidFill>
                <a:latin typeface="Calibri"/>
              </a:rPr>
              <a:t>COOLING</a:t>
            </a:r>
          </a:p>
        </p:txBody>
      </p:sp>
      <p:sp>
        <p:nvSpPr>
          <p:cNvPr id="23" name="TextBox 22"/>
          <p:cNvSpPr txBox="1"/>
          <p:nvPr/>
        </p:nvSpPr>
        <p:spPr>
          <a:xfrm>
            <a:off x="5175504" y="2505456"/>
            <a:ext cx="731520" cy="292608"/>
          </a:xfrm>
          <a:prstGeom prst="rect">
            <a:avLst/>
          </a:prstGeom>
          <a:noFill/>
        </p:spPr>
        <p:txBody>
          <a:bodyPr wrap="square" anchor="t" lIns="25400" rIns="25400" tIns="25400" bIns="25400">
            <a:spAutoFit/>
          </a:bodyPr>
          <a:lstStyle/>
          <a:p>
            <a:pPr algn="l">
              <a:lnSpc>
                <a:spcPct val="106000"/>
              </a:lnSpc>
            </a:pPr>
            <a:r>
              <a:rPr sz="1900" b="1">
                <a:solidFill>
                  <a:srgbClr val="7C3AED"/>
                </a:solidFill>
                <a:latin typeface="Calibri"/>
              </a:rPr>
              <a:t>18%</a:t>
            </a:r>
          </a:p>
        </p:txBody>
      </p:sp>
      <p:sp>
        <p:nvSpPr>
          <p:cNvPr id="24" name="TextBox 23"/>
          <p:cNvSpPr txBox="1"/>
          <p:nvPr/>
        </p:nvSpPr>
        <p:spPr>
          <a:xfrm>
            <a:off x="5175504" y="2761488"/>
            <a:ext cx="777240" cy="182880"/>
          </a:xfrm>
          <a:prstGeom prst="rect">
            <a:avLst/>
          </a:prstGeom>
          <a:noFill/>
        </p:spPr>
        <p:txBody>
          <a:bodyPr wrap="square" anchor="t" lIns="25400" rIns="25400" tIns="25400" bIns="25400">
            <a:spAutoFit/>
          </a:bodyPr>
          <a:lstStyle/>
          <a:p>
            <a:pPr algn="l">
              <a:lnSpc>
                <a:spcPct val="106000"/>
              </a:lnSpc>
            </a:pPr>
            <a:r>
              <a:rPr sz="750" b="1">
                <a:solidFill>
                  <a:srgbClr val="64748B"/>
                </a:solidFill>
                <a:latin typeface="Calibri"/>
              </a:rPr>
              <a:t>SHOULDER</a:t>
            </a:r>
          </a:p>
        </p:txBody>
      </p:sp>
      <p:sp>
        <p:nvSpPr>
          <p:cNvPr id="25" name="TextBox 24"/>
          <p:cNvSpPr txBox="1"/>
          <p:nvPr/>
        </p:nvSpPr>
        <p:spPr>
          <a:xfrm>
            <a:off x="3621024" y="2980944"/>
            <a:ext cx="2221992" cy="457200"/>
          </a:xfrm>
          <a:prstGeom prst="rect">
            <a:avLst/>
          </a:prstGeom>
          <a:noFill/>
        </p:spPr>
        <p:txBody>
          <a:bodyPr wrap="square" anchor="t" lIns="25400" rIns="25400" tIns="25400" bIns="25400">
            <a:spAutoFit/>
          </a:bodyPr>
          <a:lstStyle/>
          <a:p>
            <a:pPr algn="l">
              <a:lnSpc>
                <a:spcPct val="112000"/>
              </a:lnSpc>
            </a:pPr>
            <a:r>
              <a:rPr sz="950" b="1">
                <a:solidFill>
                  <a:srgbClr val="0F172A"/>
                </a:solidFill>
                <a:latin typeface="Calibri"/>
              </a:rPr>
              <a:t>seasonal saving from supervisory setpoint resets</a:t>
            </a:r>
          </a:p>
        </p:txBody>
      </p:sp>
      <p:sp>
        <p:nvSpPr>
          <p:cNvPr id="26" name="TextBox 25"/>
          <p:cNvSpPr txBox="1"/>
          <p:nvPr/>
        </p:nvSpPr>
        <p:spPr>
          <a:xfrm>
            <a:off x="3621024" y="3401568"/>
            <a:ext cx="2221992" cy="274320"/>
          </a:xfrm>
          <a:prstGeom prst="rect">
            <a:avLst/>
          </a:prstGeom>
          <a:noFill/>
        </p:spPr>
        <p:txBody>
          <a:bodyPr wrap="square" anchor="t" lIns="25400" rIns="25400" tIns="25400" bIns="25400">
            <a:spAutoFit/>
          </a:bodyPr>
          <a:lstStyle/>
          <a:p>
            <a:pPr algn="l">
              <a:lnSpc>
                <a:spcPct val="112000"/>
              </a:lnSpc>
            </a:pPr>
            <a:r>
              <a:rPr sz="750" b="0">
                <a:solidFill>
                  <a:srgbClr val="64748B"/>
                </a:solidFill>
                <a:latin typeface="Calibri"/>
              </a:rPr>
              <a:t>PNNL large-office emulator, Chicago, 2024</a:t>
            </a:r>
          </a:p>
        </p:txBody>
      </p:sp>
      <p:sp>
        <p:nvSpPr>
          <p:cNvPr id="27" name="Rectangle 26"/>
          <p:cNvSpPr/>
          <p:nvPr/>
        </p:nvSpPr>
        <p:spPr>
          <a:xfrm>
            <a:off x="3621024" y="3666744"/>
            <a:ext cx="18288" cy="3474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94176" y="3648456"/>
            <a:ext cx="2148840" cy="384048"/>
          </a:xfrm>
          <a:prstGeom prst="rect">
            <a:avLst/>
          </a:prstGeom>
          <a:noFill/>
        </p:spPr>
        <p:txBody>
          <a:bodyPr wrap="square" anchor="t" lIns="25400" rIns="25400" tIns="25400" bIns="25400">
            <a:spAutoFit/>
          </a:bodyPr>
          <a:lstStyle/>
          <a:p>
            <a:pPr algn="l">
              <a:lnSpc>
                <a:spcPct val="112000"/>
              </a:lnSpc>
            </a:pPr>
            <a:r>
              <a:rPr sz="750" b="0">
                <a:solidFill>
                  <a:srgbClr val="475569"/>
                </a:solidFill>
                <a:latin typeface="Calibri"/>
              </a:rPr>
              <a:t>Airside and plant-side combined — the chilled- and hot-water resets sit off the chart entirely.</a:t>
            </a:r>
          </a:p>
        </p:txBody>
      </p:sp>
      <p:sp>
        <p:nvSpPr>
          <p:cNvPr id="29" name="Rounded Rectangle 28"/>
          <p:cNvSpPr/>
          <p:nvPr/>
        </p:nvSpPr>
        <p:spPr>
          <a:xfrm>
            <a:off x="6199632" y="2340864"/>
            <a:ext cx="2551176" cy="17830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9632" y="2340864"/>
            <a:ext cx="2551176" cy="8229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82512" y="2505456"/>
            <a:ext cx="2185416" cy="457200"/>
          </a:xfrm>
          <a:prstGeom prst="rect">
            <a:avLst/>
          </a:prstGeom>
          <a:noFill/>
        </p:spPr>
        <p:txBody>
          <a:bodyPr wrap="square" anchor="t" lIns="25400" rIns="25400" tIns="25400" bIns="25400">
            <a:spAutoFit/>
          </a:bodyPr>
          <a:lstStyle/>
          <a:p>
            <a:pPr algn="l">
              <a:lnSpc>
                <a:spcPct val="106000"/>
              </a:lnSpc>
            </a:pPr>
            <a:r>
              <a:rPr sz="2600" b="1">
                <a:solidFill>
                  <a:srgbClr val="047857"/>
                </a:solidFill>
                <a:latin typeface="Calibri"/>
              </a:rPr>
              <a:t>9%</a:t>
            </a:r>
          </a:p>
        </p:txBody>
      </p:sp>
      <p:sp>
        <p:nvSpPr>
          <p:cNvPr id="32" name="TextBox 31"/>
          <p:cNvSpPr txBox="1"/>
          <p:nvPr/>
        </p:nvSpPr>
        <p:spPr>
          <a:xfrm>
            <a:off x="6382512" y="2980944"/>
            <a:ext cx="2221992" cy="457200"/>
          </a:xfrm>
          <a:prstGeom prst="rect">
            <a:avLst/>
          </a:prstGeom>
          <a:noFill/>
        </p:spPr>
        <p:txBody>
          <a:bodyPr wrap="square" anchor="t" lIns="25400" rIns="25400" tIns="25400" bIns="25400">
            <a:spAutoFit/>
          </a:bodyPr>
          <a:lstStyle/>
          <a:p>
            <a:pPr algn="l">
              <a:lnSpc>
                <a:spcPct val="112000"/>
              </a:lnSpc>
            </a:pPr>
            <a:r>
              <a:rPr sz="950" b="1">
                <a:solidFill>
                  <a:srgbClr val="0F172A"/>
                </a:solidFill>
                <a:latin typeface="Calibri"/>
              </a:rPr>
              <a:t>median whole-building saving from fault detection, range 1–28%</a:t>
            </a:r>
          </a:p>
        </p:txBody>
      </p:sp>
      <p:sp>
        <p:nvSpPr>
          <p:cNvPr id="33" name="TextBox 32"/>
          <p:cNvSpPr txBox="1"/>
          <p:nvPr/>
        </p:nvSpPr>
        <p:spPr>
          <a:xfrm>
            <a:off x="6382512" y="3401568"/>
            <a:ext cx="2221992" cy="274320"/>
          </a:xfrm>
          <a:prstGeom prst="rect">
            <a:avLst/>
          </a:prstGeom>
          <a:noFill/>
        </p:spPr>
        <p:txBody>
          <a:bodyPr wrap="square" anchor="t" lIns="25400" rIns="25400" tIns="25400" bIns="25400">
            <a:spAutoFit/>
          </a:bodyPr>
          <a:lstStyle/>
          <a:p>
            <a:pPr algn="l">
              <a:lnSpc>
                <a:spcPct val="112000"/>
              </a:lnSpc>
            </a:pPr>
            <a:r>
              <a:rPr sz="750" b="0">
                <a:solidFill>
                  <a:srgbClr val="64748B"/>
                </a:solidFill>
                <a:latin typeface="Calibri"/>
              </a:rPr>
              <a:t>Berkeley Lab Smart Energy Analytics Campaign, 6,500 buildings</a:t>
            </a:r>
          </a:p>
        </p:txBody>
      </p:sp>
      <p:sp>
        <p:nvSpPr>
          <p:cNvPr id="34" name="Rectangle 33"/>
          <p:cNvSpPr/>
          <p:nvPr/>
        </p:nvSpPr>
        <p:spPr>
          <a:xfrm>
            <a:off x="6382512" y="3666744"/>
            <a:ext cx="18288" cy="3474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55664" y="3648456"/>
            <a:ext cx="2148840" cy="384048"/>
          </a:xfrm>
          <a:prstGeom prst="rect">
            <a:avLst/>
          </a:prstGeom>
          <a:noFill/>
        </p:spPr>
        <p:txBody>
          <a:bodyPr wrap="square" anchor="t" lIns="25400" rIns="25400" tIns="25400" bIns="25400">
            <a:spAutoFit/>
          </a:bodyPr>
          <a:lstStyle/>
          <a:p>
            <a:pPr algn="l">
              <a:lnSpc>
                <a:spcPct val="112000"/>
              </a:lnSpc>
            </a:pPr>
            <a:r>
              <a:rPr sz="750" b="0">
                <a:solidFill>
                  <a:srgbClr val="475569"/>
                </a:solidFill>
                <a:latin typeface="Calibri"/>
              </a:rPr>
              <a:t>The standard AHU rule set (NIST APAR, 28 mass- and energy-balance tests) is this chart's geometry in algebra. Covers all FDD, so read it as an upper bound.</a:t>
            </a:r>
          </a:p>
        </p:txBody>
      </p:sp>
      <p:sp>
        <p:nvSpPr>
          <p:cNvPr id="36" name="Rounded Rectangle 35"/>
          <p:cNvSpPr/>
          <p:nvPr/>
        </p:nvSpPr>
        <p:spPr>
          <a:xfrm>
            <a:off x="8997696" y="2340864"/>
            <a:ext cx="2551176" cy="17830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97696" y="2340864"/>
            <a:ext cx="2551176" cy="822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0576" y="2505456"/>
            <a:ext cx="2185416" cy="457200"/>
          </a:xfrm>
          <a:prstGeom prst="rect">
            <a:avLst/>
          </a:prstGeom>
          <a:noFill/>
        </p:spPr>
        <p:txBody>
          <a:bodyPr wrap="square" anchor="t" lIns="25400" rIns="25400" tIns="25400" bIns="25400">
            <a:spAutoFit/>
          </a:bodyPr>
          <a:lstStyle/>
          <a:p>
            <a:pPr algn="l">
              <a:lnSpc>
                <a:spcPct val="106000"/>
              </a:lnSpc>
            </a:pPr>
            <a:r>
              <a:rPr sz="2600" b="1">
                <a:solidFill>
                  <a:srgbClr val="B45309"/>
                </a:solidFill>
                <a:latin typeface="Calibri"/>
              </a:rPr>
              <a:t>64%</a:t>
            </a:r>
          </a:p>
        </p:txBody>
      </p:sp>
      <p:sp>
        <p:nvSpPr>
          <p:cNvPr id="39" name="TextBox 38"/>
          <p:cNvSpPr txBox="1"/>
          <p:nvPr/>
        </p:nvSpPr>
        <p:spPr>
          <a:xfrm>
            <a:off x="9180576" y="2980944"/>
            <a:ext cx="2221992" cy="457200"/>
          </a:xfrm>
          <a:prstGeom prst="rect">
            <a:avLst/>
          </a:prstGeom>
          <a:noFill/>
        </p:spPr>
        <p:txBody>
          <a:bodyPr wrap="square" anchor="t" lIns="25400" rIns="25400" tIns="25400" bIns="25400">
            <a:spAutoFit/>
          </a:bodyPr>
          <a:lstStyle/>
          <a:p>
            <a:pPr algn="l">
              <a:lnSpc>
                <a:spcPct val="112000"/>
              </a:lnSpc>
            </a:pPr>
            <a:r>
              <a:rPr sz="950" b="1">
                <a:solidFill>
                  <a:srgbClr val="0F172A"/>
                </a:solidFill>
                <a:latin typeface="Calibri"/>
              </a:rPr>
              <a:t>of economizers found faulty in the field</a:t>
            </a:r>
          </a:p>
        </p:txBody>
      </p:sp>
      <p:sp>
        <p:nvSpPr>
          <p:cNvPr id="40" name="TextBox 39"/>
          <p:cNvSpPr txBox="1"/>
          <p:nvPr/>
        </p:nvSpPr>
        <p:spPr>
          <a:xfrm>
            <a:off x="9180576" y="3401568"/>
            <a:ext cx="2221992" cy="274320"/>
          </a:xfrm>
          <a:prstGeom prst="rect">
            <a:avLst/>
          </a:prstGeom>
          <a:noFill/>
        </p:spPr>
        <p:txBody>
          <a:bodyPr wrap="square" anchor="t" lIns="25400" rIns="25400" tIns="25400" bIns="25400">
            <a:spAutoFit/>
          </a:bodyPr>
          <a:lstStyle/>
          <a:p>
            <a:pPr algn="l">
              <a:lnSpc>
                <a:spcPct val="112000"/>
              </a:lnSpc>
            </a:pPr>
            <a:r>
              <a:rPr sz="750" b="0">
                <a:solidFill>
                  <a:srgbClr val="64748B"/>
                </a:solidFill>
                <a:latin typeface="Calibri"/>
              </a:rPr>
              <a:t>New Buildings Institute; wider surveys average 58%</a:t>
            </a:r>
          </a:p>
        </p:txBody>
      </p:sp>
      <p:sp>
        <p:nvSpPr>
          <p:cNvPr id="41" name="Rectangle 40"/>
          <p:cNvSpPr/>
          <p:nvPr/>
        </p:nvSpPr>
        <p:spPr>
          <a:xfrm>
            <a:off x="9180576" y="3666744"/>
            <a:ext cx="18288" cy="3474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253728" y="3648456"/>
            <a:ext cx="2148840" cy="384048"/>
          </a:xfrm>
          <a:prstGeom prst="rect">
            <a:avLst/>
          </a:prstGeom>
          <a:noFill/>
        </p:spPr>
        <p:txBody>
          <a:bodyPr wrap="square" anchor="t" lIns="25400" rIns="25400" tIns="25400" bIns="25400">
            <a:spAutoFit/>
          </a:bodyPr>
          <a:lstStyle/>
          <a:p>
            <a:pPr algn="l">
              <a:lnSpc>
                <a:spcPct val="112000"/>
              </a:lnSpc>
            </a:pPr>
            <a:r>
              <a:rPr sz="750" b="0">
                <a:solidFill>
                  <a:srgbClr val="475569"/>
                </a:solidFill>
                <a:latin typeface="Calibri"/>
              </a:rPr>
              <a:t>Opportunity size, not a return: how often the free-cooling asset is already broken. The chart is how you notice.</a:t>
            </a:r>
          </a:p>
        </p:txBody>
      </p:sp>
      <p:sp>
        <p:nvSpPr>
          <p:cNvPr id="43" name="Rounded Rectangle 42"/>
          <p:cNvSpPr/>
          <p:nvPr/>
        </p:nvSpPr>
        <p:spPr>
          <a:xfrm>
            <a:off x="10652759" y="2505456"/>
            <a:ext cx="731520" cy="182880"/>
          </a:xfrm>
          <a:prstGeom prst="roundRect">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652759" y="2519172"/>
            <a:ext cx="731520" cy="164592"/>
          </a:xfrm>
          <a:prstGeom prst="rect">
            <a:avLst/>
          </a:prstGeom>
          <a:noFill/>
        </p:spPr>
        <p:txBody>
          <a:bodyPr wrap="square" anchor="t" lIns="25400" rIns="25400" tIns="25400" bIns="25400">
            <a:spAutoFit/>
          </a:bodyPr>
          <a:lstStyle/>
          <a:p>
            <a:pPr algn="ctr">
              <a:lnSpc>
                <a:spcPct val="106000"/>
              </a:lnSpc>
            </a:pPr>
            <a:r>
              <a:rPr sz="650" b="1">
                <a:solidFill>
                  <a:srgbClr val="92400E"/>
                </a:solidFill>
                <a:latin typeface="Calibri"/>
              </a:rPr>
              <a:t>NOT A SAVING</a:t>
            </a:r>
          </a:p>
        </p:txBody>
      </p:sp>
      <p:sp>
        <p:nvSpPr>
          <p:cNvPr id="45" name="Rounded Rectangle 44"/>
          <p:cNvSpPr/>
          <p:nvPr/>
        </p:nvSpPr>
        <p:spPr>
          <a:xfrm>
            <a:off x="640080" y="4206240"/>
            <a:ext cx="5349240" cy="1719072"/>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315968"/>
            <a:ext cx="4846320" cy="274320"/>
          </a:xfrm>
          <a:prstGeom prst="rect">
            <a:avLst/>
          </a:prstGeom>
          <a:noFill/>
        </p:spPr>
        <p:txBody>
          <a:bodyPr wrap="square" anchor="t" lIns="25400" rIns="25400" tIns="25400" bIns="25400">
            <a:spAutoFit/>
          </a:bodyPr>
          <a:lstStyle/>
          <a:p>
            <a:pPr algn="l">
              <a:lnSpc>
                <a:spcPct val="106000"/>
              </a:lnSpc>
            </a:pPr>
            <a:r>
              <a:rPr sz="1300" b="1">
                <a:solidFill>
                  <a:srgbClr val="047857"/>
                </a:solidFill>
                <a:latin typeface="Calibri"/>
              </a:rPr>
              <a:t>Where the saving actually comes from</a:t>
            </a:r>
          </a:p>
        </p:txBody>
      </p:sp>
      <p:sp>
        <p:nvSpPr>
          <p:cNvPr id="47" name="TextBox 46"/>
          <p:cNvSpPr txBox="1"/>
          <p:nvPr/>
        </p:nvSpPr>
        <p:spPr>
          <a:xfrm>
            <a:off x="896112" y="4636008"/>
            <a:ext cx="4892040" cy="1170432"/>
          </a:xfrm>
          <a:prstGeom prst="rect">
            <a:avLst/>
          </a:prstGeom>
          <a:noFill/>
        </p:spPr>
        <p:txBody>
          <a:bodyPr wrap="square" anchor="t" lIns="25400" rIns="25400" tIns="25400" bIns="25400">
            <a:spAutoFit/>
          </a:bodyPr>
          <a:lstStyle/>
          <a:p>
            <a:pPr algn="l">
              <a:lnSpc>
                <a:spcPct val="118000"/>
              </a:lnSpc>
            </a:pPr>
            <a:r>
              <a:rPr sz="950" b="0">
                <a:solidFill>
                  <a:srgbClr val="475569"/>
                </a:solidFill>
                <a:latin typeface="Calibri"/>
              </a:rPr>
              <a:t>•  Free-cooling hours TAKEN rather than missed, because the decision is made on energy rather than temperature alone.</a:t>
            </a:r>
          </a:p>
          <a:p>
            <a:pPr algn="l">
              <a:lnSpc>
                <a:spcPct val="118000"/>
              </a:lnSpc>
            </a:pPr>
            <a:r>
              <a:rPr sz="950" b="0">
                <a:solidFill>
                  <a:srgbClr val="475569"/>
                </a:solidFill>
                <a:latin typeface="Calibri"/>
              </a:rPr>
              <a:t>•  Outside air delivered at the rate 62.1 requires — not quietly at double it.</a:t>
            </a:r>
          </a:p>
          <a:p>
            <a:pPr algn="l">
              <a:lnSpc>
                <a:spcPct val="118000"/>
              </a:lnSpc>
            </a:pPr>
            <a:r>
              <a:rPr sz="950" b="0">
                <a:solidFill>
                  <a:srgbClr val="475569"/>
                </a:solidFill>
                <a:latin typeface="Calibri"/>
              </a:rPr>
              <a:t>•  Supply air reset to follow the load instead of one fixed setpoint all year.</a:t>
            </a:r>
          </a:p>
          <a:p>
            <a:pPr algn="l">
              <a:lnSpc>
                <a:spcPct val="118000"/>
              </a:lnSpc>
            </a:pPr>
            <a:r>
              <a:rPr sz="950" b="0">
                <a:solidFill>
                  <a:srgbClr val="475569"/>
                </a:solidFill>
                <a:latin typeface="Calibri"/>
              </a:rPr>
              <a:t>•  Coil, damper and sensor faults caught in days rather than at the next seasonal complaint.</a:t>
            </a:r>
          </a:p>
        </p:txBody>
      </p:sp>
      <p:sp>
        <p:nvSpPr>
          <p:cNvPr id="48" name="Rounded Rectangle 47"/>
          <p:cNvSpPr/>
          <p:nvPr/>
        </p:nvSpPr>
        <p:spPr>
          <a:xfrm>
            <a:off x="6199632" y="4206240"/>
            <a:ext cx="5349240" cy="1719072"/>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55664" y="4315968"/>
            <a:ext cx="4846320" cy="274320"/>
          </a:xfrm>
          <a:prstGeom prst="rect">
            <a:avLst/>
          </a:prstGeom>
          <a:noFill/>
        </p:spPr>
        <p:txBody>
          <a:bodyPr wrap="square" anchor="t" lIns="25400" rIns="25400" tIns="25400" bIns="25400">
            <a:spAutoFit/>
          </a:bodyPr>
          <a:lstStyle/>
          <a:p>
            <a:pPr algn="l">
              <a:lnSpc>
                <a:spcPct val="106000"/>
              </a:lnSpc>
            </a:pPr>
            <a:r>
              <a:rPr sz="1300" b="1">
                <a:solidFill>
                  <a:srgbClr val="B45309"/>
                </a:solidFill>
                <a:latin typeface="Calibri"/>
              </a:rPr>
              <a:t>Read these numbers honestly</a:t>
            </a:r>
          </a:p>
        </p:txBody>
      </p:sp>
      <p:sp>
        <p:nvSpPr>
          <p:cNvPr id="50" name="TextBox 49"/>
          <p:cNvSpPr txBox="1"/>
          <p:nvPr/>
        </p:nvSpPr>
        <p:spPr>
          <a:xfrm>
            <a:off x="6455664" y="4636008"/>
            <a:ext cx="4892040" cy="1170432"/>
          </a:xfrm>
          <a:prstGeom prst="rect">
            <a:avLst/>
          </a:prstGeom>
          <a:noFill/>
        </p:spPr>
        <p:txBody>
          <a:bodyPr wrap="square" anchor="t" lIns="25400" rIns="25400" tIns="25400" bIns="25400">
            <a:spAutoFit/>
          </a:bodyPr>
          <a:lstStyle/>
          <a:p>
            <a:pPr algn="l">
              <a:lnSpc>
                <a:spcPct val="118000"/>
              </a:lnSpc>
            </a:pPr>
            <a:r>
              <a:rPr sz="950" b="0">
                <a:solidFill>
                  <a:srgbClr val="475569"/>
                </a:solidFill>
                <a:latin typeface="Calibri"/>
              </a:rPr>
              <a:t>•  Measure-level results from simulation and field studies — not a guarantee for any one building.</a:t>
            </a:r>
          </a:p>
          <a:p>
            <a:pPr algn="l">
              <a:lnSpc>
                <a:spcPct val="118000"/>
              </a:lnSpc>
            </a:pPr>
            <a:r>
              <a:rPr sz="950" b="0">
                <a:solidFill>
                  <a:srgbClr val="475569"/>
                </a:solidFill>
                <a:latin typeface="Calibri"/>
              </a:rPr>
              <a:t>•  They overlap and are not additive; the left pair and the right pair count much of the same energy twice.</a:t>
            </a:r>
          </a:p>
          <a:p>
            <a:pPr algn="l">
              <a:lnSpc>
                <a:spcPct val="118000"/>
              </a:lnSpc>
            </a:pPr>
            <a:r>
              <a:rPr sz="950" b="0">
                <a:solidFill>
                  <a:srgbClr val="475569"/>
                </a:solidFill>
                <a:latin typeface="Calibri"/>
              </a:rPr>
              <a:t>•  The largest savings come from the worst starting points.</a:t>
            </a:r>
          </a:p>
          <a:p>
            <a:pPr algn="l">
              <a:lnSpc>
                <a:spcPct val="118000"/>
              </a:lnSpc>
            </a:pPr>
            <a:r>
              <a:rPr sz="950" b="0">
                <a:solidFill>
                  <a:srgbClr val="475569"/>
                </a:solidFill>
                <a:latin typeface="Calibri"/>
              </a:rPr>
              <a:t>•  Enthalpy switching is NOT automatically better — Taylor &amp; Cheng (2010) found fixed dry-bulb often wins once humidity sensors drift, hence 90.1-2013's accuracy limits.</a:t>
            </a:r>
          </a:p>
        </p:txBody>
      </p:sp>
      <p:sp>
        <p:nvSpPr>
          <p:cNvPr id="51" name="TextBox 50"/>
          <p:cNvSpPr txBox="1"/>
          <p:nvPr/>
        </p:nvSpPr>
        <p:spPr>
          <a:xfrm>
            <a:off x="640080" y="6016752"/>
            <a:ext cx="10908792" cy="548640"/>
          </a:xfrm>
          <a:prstGeom prst="rect">
            <a:avLst/>
          </a:prstGeom>
          <a:noFill/>
        </p:spPr>
        <p:txBody>
          <a:bodyPr wrap="square" anchor="t" lIns="25400" rIns="25400" tIns="25400" bIns="25400">
            <a:spAutoFit/>
          </a:bodyPr>
          <a:lstStyle/>
          <a:p>
            <a:pPr algn="ctr">
              <a:lnSpc>
                <a:spcPct val="120000"/>
              </a:lnSpc>
            </a:pPr>
            <a:r>
              <a:rPr sz="1300" b="1">
                <a:solidFill>
                  <a:srgbClr val="1D4ED8"/>
                </a:solidFill>
                <a:latin typeface="Calibri"/>
              </a:rPr>
              <a:t>The chart itself saves nothing. It makes the opportunity visible and the fault obvious — the saving is booked by the sequence that acts on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94560"/>
            <a:ext cx="10332720" cy="1097280"/>
          </a:xfrm>
          <a:prstGeom prst="rect">
            <a:avLst/>
          </a:prstGeom>
          <a:noFill/>
        </p:spPr>
        <p:txBody>
          <a:bodyPr wrap="square" anchor="t" lIns="25400" rIns="25400" tIns="25400" bIns="25400">
            <a:spAutoFit/>
          </a:bodyPr>
          <a:lstStyle/>
          <a:p>
            <a:pPr algn="ctr">
              <a:lnSpc>
                <a:spcPct val="106000"/>
              </a:lnSpc>
            </a:pPr>
            <a:r>
              <a:rPr sz="4200" b="1">
                <a:solidFill>
                  <a:srgbClr val="FFFFFF"/>
                </a:solidFill>
                <a:latin typeface="Calibri"/>
              </a:rPr>
              <a:t>One chart. Four rulebooks.</a:t>
            </a:r>
          </a:p>
        </p:txBody>
      </p:sp>
      <p:sp>
        <p:nvSpPr>
          <p:cNvPr id="5" name="TextBox 4"/>
          <p:cNvSpPr txBox="1"/>
          <p:nvPr/>
        </p:nvSpPr>
        <p:spPr>
          <a:xfrm>
            <a:off x="1280160" y="3566160"/>
            <a:ext cx="9601200" cy="1371600"/>
          </a:xfrm>
          <a:prstGeom prst="rect">
            <a:avLst/>
          </a:prstGeom>
          <a:noFill/>
        </p:spPr>
        <p:txBody>
          <a:bodyPr wrap="square" anchor="t" lIns="25400" rIns="25400" tIns="25400" bIns="25400">
            <a:spAutoFit/>
          </a:bodyPr>
          <a:lstStyle/>
          <a:p>
            <a:pPr algn="ctr">
              <a:lnSpc>
                <a:spcPct val="130000"/>
              </a:lnSpc>
            </a:pPr>
            <a:r>
              <a:rPr sz="1800" b="0">
                <a:solidFill>
                  <a:srgbClr val="CBD5E1"/>
                </a:solidFill>
                <a:latin typeface="Calibri"/>
              </a:rPr>
              <a:t>The psychrometric chart is not a design-only artifact. Bringing it into the building's controls turns anonymous setpoints back into visible physics — and puts comfort, air quality and energy into a single picture an operator can read at a glance.</a:t>
            </a:r>
          </a:p>
        </p:txBody>
      </p:sp>
      <p:sp>
        <p:nvSpPr>
          <p:cNvPr id="6" name="TextBox 5"/>
          <p:cNvSpPr txBox="1"/>
          <p:nvPr/>
        </p:nvSpPr>
        <p:spPr>
          <a:xfrm>
            <a:off x="1828800" y="5120640"/>
            <a:ext cx="8503920" cy="914400"/>
          </a:xfrm>
          <a:prstGeom prst="rect">
            <a:avLst/>
          </a:prstGeom>
          <a:noFill/>
        </p:spPr>
        <p:txBody>
          <a:bodyPr wrap="square" anchor="t" lIns="25400" rIns="25400" tIns="25400" bIns="25400">
            <a:spAutoFit/>
          </a:bodyPr>
          <a:lstStyle/>
          <a:p>
            <a:pPr algn="ctr">
              <a:lnSpc>
                <a:spcPct val="130000"/>
              </a:lnSpc>
            </a:pPr>
            <a:r>
              <a:rPr sz="1500" b="0">
                <a:solidFill>
                  <a:srgbClr val="93C5FD"/>
                </a:solidFill>
                <a:latin typeface="Calibri"/>
              </a:rPr>
              <a:t>The computing power to draw it live has been ordinary for years. What has kept the chart out of the control room is habit and missing humidity sensors — not physics, and no longer technology.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