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Red5-AHU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0">
                <a:solidFill>
                  <a:srgbClr val="93C5FD"/>
                </a:solidFill>
                <a:latin typeface="Calibri"/>
              </a:rPr>
              <a:t>One chart to keep buildings comfortable, healthy, and energy-smart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0704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A plain-language look at how a smart air-handler tool meets every major ASHRAE standard — and why every Building Management System needs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965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Edge-native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5394960"/>
            <a:ext cx="1965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No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5394960"/>
            <a:ext cx="1965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BACnet-native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5349240"/>
            <a:ext cx="196596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5394960"/>
            <a:ext cx="1965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93C5FD"/>
                </a:solidFill>
                <a:latin typeface="Calibri"/>
              </a:rPr>
              <a:t>ASHRAE-aligned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Three things every building must do — at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28016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3017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B45309"/>
                </a:solidFill>
                <a:latin typeface="Calibri"/>
              </a:rPr>
              <a:t>Feel comfortable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3017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Not too hot, not too cold, not too humid.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128016" cy="2286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3017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047857"/>
                </a:solidFill>
                <a:latin typeface="Calibri"/>
              </a:rPr>
              <a:t>Stay healthy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3017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Enough fresh outside air so the air is safe to breathe.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965960"/>
            <a:ext cx="128016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0"/>
            <a:ext cx="30175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1D4ED8"/>
                </a:solidFill>
                <a:latin typeface="Calibri"/>
              </a:rPr>
              <a:t>Save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26080"/>
            <a:ext cx="3017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Do both of the above without wasting power or money.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63440"/>
            <a:ext cx="10908792" cy="12801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B45309"/>
                </a:solidFill>
                <a:latin typeface="Calibri"/>
              </a:rPr>
              <a:t>The catch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30368"/>
            <a:ext cx="104241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These goals fight each other. More comfort and more fresh air usually cost more energy. Getting all three right, all day, in every season — is hard.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RULEBOOKS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Four ASHRAE standards, in one line 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90879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286000" cy="93268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92024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ASHRAE 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65960"/>
            <a:ext cx="201168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Comfort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65960"/>
            <a:ext cx="6153912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475569"/>
                </a:solidFill>
                <a:latin typeface="Calibri"/>
              </a:rPr>
              <a:t>Will people feel comfortable?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08376"/>
            <a:ext cx="1090879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008376"/>
            <a:ext cx="2286000" cy="932688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08376"/>
            <a:ext cx="192024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ASHRAE 62.1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08376"/>
            <a:ext cx="201168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47857"/>
                </a:solidFill>
                <a:latin typeface="Calibri"/>
              </a:rPr>
              <a:t>Fresh 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008376"/>
            <a:ext cx="6153912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475569"/>
                </a:solidFill>
                <a:latin typeface="Calibri"/>
              </a:rPr>
              <a:t>Is there enough outside air to stay healthy?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50792"/>
            <a:ext cx="1090879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2"/>
            <a:ext cx="2286000" cy="932688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050792"/>
            <a:ext cx="192024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ASHRAE 90.1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050792"/>
            <a:ext cx="201168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050792"/>
            <a:ext cx="6153912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475569"/>
                </a:solidFill>
                <a:latin typeface="Calibri"/>
              </a:rPr>
              <a:t>Are we doing it without wasting energy?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93208"/>
            <a:ext cx="1090879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5093208"/>
            <a:ext cx="2286000" cy="932688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93208"/>
            <a:ext cx="192024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Guideline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093208"/>
            <a:ext cx="2011680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The referee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093208"/>
            <a:ext cx="6153912" cy="9326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0">
                <a:solidFill>
                  <a:srgbClr val="475569"/>
                </a:solidFill>
                <a:latin typeface="Calibri"/>
              </a:rPr>
              <a:t>How do we run the equipment to hit all three?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One picture where all four rulebooks meet</a:t>
            </a:r>
          </a:p>
        </p:txBody>
      </p:sp>
      <p:sp>
        <p:nvSpPr>
          <p:cNvPr id="6" name="Oval 5"/>
          <p:cNvSpPr/>
          <p:nvPr/>
        </p:nvSpPr>
        <p:spPr>
          <a:xfrm>
            <a:off x="1696211" y="2153412"/>
            <a:ext cx="2697480" cy="2697480"/>
          </a:xfrm>
          <a:prstGeom prst="ellipse">
            <a:avLst/>
          </a:prstGeom>
          <a:solidFill>
            <a:srgbClr val="B45309">
              <a:alpha val="40000"/>
            </a:srgbClr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561587" y="2153412"/>
            <a:ext cx="2697480" cy="2697480"/>
          </a:xfrm>
          <a:prstGeom prst="ellipse">
            <a:avLst/>
          </a:prstGeom>
          <a:solidFill>
            <a:srgbClr val="047857">
              <a:alpha val="40000"/>
            </a:srgbClr>
          </a:solidFill>
          <a:ln w="1905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628899" y="3287268"/>
            <a:ext cx="2697480" cy="2697480"/>
          </a:xfrm>
          <a:prstGeom prst="ellipse">
            <a:avLst/>
          </a:prstGeom>
          <a:solidFill>
            <a:srgbClr val="1D4ED8">
              <a:alpha val="40000"/>
            </a:srgbClr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600200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1300" b="1">
                <a:solidFill>
                  <a:srgbClr val="B45309"/>
                </a:solidFill>
                <a:latin typeface="Calibri"/>
              </a:rPr>
              <a:t>COMFORT</a:t>
            </a:r>
          </a:p>
          <a:p>
            <a:pPr algn="r">
              <a:lnSpc>
                <a:spcPct val="106000"/>
              </a:lnSpc>
            </a:pPr>
            <a:r>
              <a:rPr sz="1300" b="1">
                <a:solidFill>
                  <a:srgbClr val="B45309"/>
                </a:solidFill>
                <a:latin typeface="Calibri"/>
              </a:rPr>
              <a:t>ASHRAE 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31720"/>
            <a:ext cx="1737360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47857"/>
                </a:solidFill>
                <a:latin typeface="Calibri"/>
              </a:rPr>
              <a:t>FRESH AIR</a:t>
            </a:r>
          </a:p>
          <a:p>
            <a:pPr algn="l">
              <a:lnSpc>
                <a:spcPct val="106000"/>
              </a:lnSpc>
            </a:pPr>
            <a:r>
              <a:rPr sz="1300" b="1">
                <a:solidFill>
                  <a:srgbClr val="047857"/>
                </a:solidFill>
                <a:latin typeface="Calibri"/>
              </a:rPr>
              <a:t>ASHRAE 62.1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58978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ENERGY · ASHRAE 90.1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3611880"/>
            <a:ext cx="21031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Psychrometric</a:t>
            </a:r>
          </a:p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3063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2011680"/>
            <a:ext cx="26060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Why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514600"/>
            <a:ext cx="260604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All four standards live on the SAME chart — temperature across the bottom, humidity up the side.</a:t>
            </a:r>
          </a:p>
          <a:p>
            <a:pPr algn="l">
              <a:lnSpc>
                <a:spcPct val="106000"/>
              </a:lnSpc>
            </a:pPr>
            <a:endParaRPr sz="135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Plot one dot for the air and you can instantly see comfort, fresh-air mix, and energy — all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5074920"/>
            <a:ext cx="306324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5193792"/>
            <a:ext cx="26060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047857"/>
                </a:solidFill>
                <a:latin typeface="Calibri"/>
              </a:rPr>
              <a:t>Guideline 36 is the referee — the control logic that keeps the dot in the sweet spot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HOW IT SATISFIES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One dot on the chart answers every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18872" cy="17373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4884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B45309"/>
                </a:solidFill>
                <a:latin typeface="Calibri"/>
              </a:rPr>
              <a:t>55 — Comfort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24328"/>
            <a:ext cx="480060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The comfort zone is drawn on the chart. Is the dot inside the good T/humidity band? If not, which way is it off?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6596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965960"/>
            <a:ext cx="118872" cy="173736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047857"/>
                </a:solidFill>
                <a:latin typeface="Calibri"/>
              </a:rPr>
              <a:t>62.1 — Fresh 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480060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The mixed-air dot sits on the line between return and outside air — its position shows the fresh-air share at a glance.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04488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904488"/>
            <a:ext cx="118872" cy="1737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087368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D4ED8"/>
                </a:solidFill>
                <a:latin typeface="Calibri"/>
              </a:rPr>
              <a:t>90.1 —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62856"/>
            <a:ext cx="480060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Enthalpy lines reveal free cooling: when outside air is cooler, the economizer meets the load with no mechanical cooling.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904488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3904488"/>
            <a:ext cx="118872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087368"/>
            <a:ext cx="48463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G36 — Sequences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62856"/>
            <a:ext cx="4800600" cy="960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Visual proof the automatic sequences land the dot in the comfort zone, on the fresh-air line, at the lowest energy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400" b="1">
                <a:solidFill>
                  <a:srgbClr val="1D4ED8"/>
                </a:solidFill>
                <a:latin typeface="Calibri"/>
              </a:rPr>
              <a:t>In one sentence: plot where the air IS, see where it MUST be, how it gets there, and whether it does so at minimum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Red5-AHU vs a traditional 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86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Supply-air energy (lower is better)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Fixed setpoint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331720"/>
            <a:ext cx="5212080" cy="566928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502920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Red5-AHU (B1–B10)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3063240"/>
            <a:ext cx="0" cy="566928"/>
          </a:xfrm>
          <a:prstGeom prst="round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3063240"/>
            <a:ext cx="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5486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≈ 70–75% less supply-air energy than a fixed year-round setpoint (internal estimate, temperate climate).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8308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901952"/>
            <a:ext cx="17373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39" y="1901952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>
                <a:solidFill>
                  <a:srgbClr val="64748B"/>
                </a:solidFill>
                <a:latin typeface="Calibri"/>
              </a:rPr>
              <a:t>Traditional BMS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1901952"/>
            <a:ext cx="1554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>
                <a:solidFill>
                  <a:srgbClr val="1D4ED8"/>
                </a:solidFill>
                <a:latin typeface="Calibri"/>
              </a:rPr>
              <a:t>Red5-AHU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2331720"/>
            <a:ext cx="4974336" cy="713232"/>
          </a:xfrm>
          <a:prstGeom prst="round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331720"/>
            <a:ext cx="1691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Where it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331720"/>
            <a:ext cx="1600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Cloud / head-end 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2331720"/>
            <a:ext cx="1572768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On the controller (edge)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081528"/>
            <a:ext cx="1691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Standards built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081528"/>
            <a:ext cx="1600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Add-on /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3081528"/>
            <a:ext cx="1572768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ASHRAE 55 · 62.1 · 90.1 · G36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9672" y="3831336"/>
            <a:ext cx="4974336" cy="713232"/>
          </a:xfrm>
          <a:prstGeom prst="round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831336"/>
            <a:ext cx="1691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Diagnose an AHU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831336"/>
            <a:ext cx="1600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Dig through trends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3831336"/>
            <a:ext cx="1572768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One glance at the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581144"/>
            <a:ext cx="1691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Vendor lock-in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4581144"/>
            <a:ext cx="1600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Usually 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4581144"/>
            <a:ext cx="1572768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Open — MQTT/Modbus/BACnet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5330952"/>
            <a:ext cx="4974336" cy="713232"/>
          </a:xfrm>
          <a:prstGeom prst="round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5330952"/>
            <a:ext cx="169164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Languages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5330952"/>
            <a:ext cx="1600200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Often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5330952"/>
            <a:ext cx="1572768" cy="71323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047857"/>
                </a:solidFill>
                <a:latin typeface="Calibri"/>
              </a:rPr>
              <a:t>Five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SEEING 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The control follows the seasons</a:t>
            </a:r>
          </a:p>
        </p:txBody>
      </p:sp>
      <p:pic>
        <p:nvPicPr>
          <p:cNvPr id="6" name="Picture 5" descr="band_monthly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46558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2057400"/>
            <a:ext cx="566928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What you're looking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606040"/>
            <a:ext cx="5715000" cy="3291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Instead of one fixed target all year, Red5-AHU sets the supply-air target to match the season (climate bands B1–B10).</a:t>
            </a:r>
          </a:p>
          <a:p>
            <a:pPr algn="l">
              <a:lnSpc>
                <a:spcPct val="106000"/>
              </a:lnSpc>
            </a:pPr>
            <a:endParaRPr sz="150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In mild months it leans on free outside-air cooling; in harsh months it does only as much conditioning as needed.</a:t>
            </a:r>
          </a:p>
          <a:p>
            <a:pPr algn="l">
              <a:lnSpc>
                <a:spcPct val="106000"/>
              </a:lnSpc>
            </a:pPr>
            <a:endParaRPr sz="150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The result: month after month the air handler uses far less energy than a fixed setpoint — automatically, with no operator effort.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1D4ED8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Why it's an essential BMS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56616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Sees everything at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3063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Comfort, fresh air, and energy on one live picture — no guesswork, no digging through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2024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1920240"/>
            <a:ext cx="3566160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2176272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47857"/>
                </a:solidFill>
                <a:latin typeface="Calibri"/>
              </a:rPr>
              <a:t>Saves real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697480"/>
            <a:ext cx="3063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Automatic free-cooling and climate-adaptive supply air cut supply-air energy ~70%.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92024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920240"/>
            <a:ext cx="356616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176272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Runs on the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97480"/>
            <a:ext cx="3063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No cloud, no extra server. Fewer parts to fail, keeps working if the network drops.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04488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904488"/>
            <a:ext cx="3566160" cy="91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16052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1D4ED8"/>
                </a:solidFill>
                <a:latin typeface="Calibri"/>
              </a:rPr>
              <a:t>Speaks BMS natively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681728"/>
            <a:ext cx="3063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BACnet-native and open (MQTT/Modbus) — no vendor lock-in, integrates with what you have.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904488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16552" y="3904488"/>
            <a:ext cx="3566160" cy="91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2584" y="416052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047857"/>
                </a:solidFill>
                <a:latin typeface="Calibri"/>
              </a:rPr>
              <a:t>Meets the standards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681728"/>
            <a:ext cx="3063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Aligned to ASHRAE 55 / 62.1 / 90.1 and Guideline 36 out of the box.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3904488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93024" y="3904488"/>
            <a:ext cx="356616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49056" y="416052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B45309"/>
                </a:solidFill>
                <a:latin typeface="Calibri"/>
              </a:rPr>
              <a:t>Easy to roll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681728"/>
            <a:ext cx="3063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Diagnose at a glance, clone the setup to the next unit, in five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Four rulebooks. One chart. Zero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840480"/>
            <a:ext cx="960120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0">
                <a:solidFill>
                  <a:srgbClr val="CBD5E1"/>
                </a:solidFill>
                <a:latin typeface="Calibri"/>
              </a:rPr>
              <a:t>Red5-AHU turns every air handler into a self-diagnosing, self-optimizing asset that satisfies ASHRAE 55, 62.1, 90.1 and Guideline 36 — right on the controller.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775</Words>
  <Application>Microsoft Macintosh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 Kim</cp:lastModifiedBy>
  <cp:revision>2</cp:revision>
  <dcterms:created xsi:type="dcterms:W3CDTF">2013-01-27T09:14:16Z</dcterms:created>
  <dcterms:modified xsi:type="dcterms:W3CDTF">2026-08-04T15:01:56Z</dcterms:modified>
  <cp:category/>
</cp:coreProperties>
</file>